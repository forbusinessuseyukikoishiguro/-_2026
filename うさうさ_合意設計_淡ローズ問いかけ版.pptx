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image" Target="../media/image-13-15.png"/><Relationship Id="rId16" Type="http://schemas.openxmlformats.org/officeDocument/2006/relationships/image" Target="../media/image-13-16.png"/><Relationship Id="rId17" Type="http://schemas.openxmlformats.org/officeDocument/2006/relationships/image" Target="../media/image-13-17.png"/><Relationship Id="rId18" Type="http://schemas.openxmlformats.org/officeDocument/2006/relationships/image" Target="../media/image-13-18.png"/><Relationship Id="rId19" Type="http://schemas.openxmlformats.org/officeDocument/2006/relationships/image" Target="../media/image-13-19.png"/><Relationship Id="rId20" Type="http://schemas.openxmlformats.org/officeDocument/2006/relationships/slideLayout" Target="../slideLayouts/slideLayout1.xml"/><Relationship Id="rId2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EDF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0000"/>
          </a:blip>
          <a:stretch>
            <a:fillRect/>
          </a:stretch>
        </p:blipFill>
        <p:spPr>
          <a:xfrm rot="1200000">
            <a:off x="10332720" y="548640"/>
            <a:ext cx="1005840" cy="1005840"/>
          </a:xfrm>
          <a:prstGeom prst="rect">
            <a:avLst/>
          </a:prstGeom>
        </p:spPr>
      </p:pic>
      <p:pic>
        <p:nvPicPr>
          <p:cNvPr id="3" name="Image 1" descr="preencoded.png">    </p:cNvPr>
          <p:cNvPicPr>
            <a:picLocks noChangeAspect="1"/>
          </p:cNvPicPr>
          <p:nvPr/>
        </p:nvPicPr>
        <p:blipFill>
          <a:blip r:embed="rId2">
            <a:alphaModFix amt="55000"/>
          </a:blip>
          <a:stretch>
            <a:fillRect/>
          </a:stretch>
        </p:blipFill>
        <p:spPr>
          <a:xfrm rot="4200000">
            <a:off x="11155680" y="2194560"/>
            <a:ext cx="640080" cy="640080"/>
          </a:xfrm>
          <a:prstGeom prst="rect">
            <a:avLst/>
          </a:prstGeom>
        </p:spPr>
      </p:pic>
      <p:pic>
        <p:nvPicPr>
          <p:cNvPr id="4" name="Image 2" descr="preencoded.png">    </p:cNvPr>
          <p:cNvPicPr>
            <a:picLocks noChangeAspect="1"/>
          </p:cNvPicPr>
          <p:nvPr/>
        </p:nvPicPr>
        <p:blipFill>
          <a:blip r:embed="rId3">
            <a:alphaModFix amt="60000"/>
          </a:blip>
          <a:stretch>
            <a:fillRect/>
          </a:stretch>
        </p:blipFill>
        <p:spPr>
          <a:xfrm rot="8400000">
            <a:off x="9692640" y="4937760"/>
            <a:ext cx="822960" cy="822960"/>
          </a:xfrm>
          <a:prstGeom prst="rect">
            <a:avLst/>
          </a:prstGeom>
        </p:spPr>
      </p:pic>
      <p:pic>
        <p:nvPicPr>
          <p:cNvPr id="5" name="Image 3" descr="preencoded.png">    </p:cNvPr>
          <p:cNvPicPr>
            <a:picLocks noChangeAspect="1"/>
          </p:cNvPicPr>
          <p:nvPr/>
        </p:nvPicPr>
        <p:blipFill>
          <a:blip r:embed="rId4">
            <a:alphaModFix amt="45000"/>
          </a:blip>
          <a:stretch>
            <a:fillRect/>
          </a:stretch>
        </p:blipFill>
        <p:spPr>
          <a:xfrm rot="12000000">
            <a:off x="548640" y="5303520"/>
            <a:ext cx="731520" cy="731520"/>
          </a:xfrm>
          <a:prstGeom prst="rect">
            <a:avLst/>
          </a:prstGeom>
        </p:spPr>
      </p:pic>
      <p:pic>
        <p:nvPicPr>
          <p:cNvPr id="6" name="Image 4" descr="preencoded.png">    </p:cNvPr>
          <p:cNvPicPr>
            <a:picLocks noChangeAspect="1"/>
          </p:cNvPicPr>
          <p:nvPr/>
        </p:nvPicPr>
        <p:blipFill>
          <a:blip r:embed="rId5">
            <a:alphaModFix amt="45000"/>
          </a:blip>
          <a:stretch>
            <a:fillRect/>
          </a:stretch>
        </p:blipFill>
        <p:spPr>
          <a:xfrm rot="18000000">
            <a:off x="914400" y="640080"/>
            <a:ext cx="548640" cy="548640"/>
          </a:xfrm>
          <a:prstGeom prst="rect">
            <a:avLst/>
          </a:prstGeom>
        </p:spPr>
      </p:pic>
      <p:sp>
        <p:nvSpPr>
          <p:cNvPr id="7" name="Shape 0"/>
          <p:cNvSpPr/>
          <p:nvPr/>
        </p:nvSpPr>
        <p:spPr>
          <a:xfrm>
            <a:off x="822960" y="1143000"/>
            <a:ext cx="1051560" cy="1051560"/>
          </a:xfrm>
          <a:prstGeom prst="ellipse">
            <a:avLst/>
          </a:prstGeom>
          <a:solidFill>
            <a:srgbClr val="B4587A"/>
          </a:solidFill>
          <a:ln/>
        </p:spPr>
      </p:sp>
      <p:pic>
        <p:nvPicPr>
          <p:cNvPr id="8" name="Image 5" descr="preencoded.png">    </p:cNvPr>
          <p:cNvPicPr>
            <a:picLocks noChangeAspect="1"/>
          </p:cNvPicPr>
          <p:nvPr/>
        </p:nvPicPr>
        <p:blipFill>
          <a:blip r:embed="rId6"/>
          <a:stretch>
            <a:fillRect/>
          </a:stretch>
        </p:blipFill>
        <p:spPr>
          <a:xfrm>
            <a:off x="1106881" y="1426921"/>
            <a:ext cx="483718" cy="483718"/>
          </a:xfrm>
          <a:prstGeom prst="rect">
            <a:avLst/>
          </a:prstGeom>
        </p:spPr>
      </p:pic>
      <p:sp>
        <p:nvSpPr>
          <p:cNvPr id="9" name="Text 1"/>
          <p:cNvSpPr/>
          <p:nvPr/>
        </p:nvSpPr>
        <p:spPr>
          <a:xfrm>
            <a:off x="2103120" y="1234440"/>
            <a:ext cx="8229600" cy="457200"/>
          </a:xfrm>
          <a:prstGeom prst="rect">
            <a:avLst/>
          </a:prstGeom>
          <a:noFill/>
          <a:ln/>
        </p:spPr>
        <p:txBody>
          <a:bodyPr wrap="square" lIns="0" tIns="0" rIns="0" bIns="0" rtlCol="0" anchor="ctr"/>
          <a:lstStyle/>
          <a:p>
            <a:pPr indent="0" marL="0">
              <a:buNone/>
            </a:pPr>
            <a:r>
              <a:rPr lang="en-US" sz="1500" spc="100" kern="0" dirty="0">
                <a:solidFill>
                  <a:srgbClr val="B4587A"/>
                </a:solidFill>
                <a:latin typeface="Noto Sans CJK JP" pitchFamily="34" charset="0"/>
                <a:ea typeface="Noto Sans CJK JP" pitchFamily="34" charset="-122"/>
                <a:cs typeface="Noto Sans CJK JP" pitchFamily="34" charset="-120"/>
              </a:rPr>
              <a:t>PoC ・ 受託 ・ 研修現場のための</a:t>
            </a:r>
            <a:endParaRPr lang="en-US" sz="1500" dirty="0"/>
          </a:p>
        </p:txBody>
      </p:sp>
      <p:sp>
        <p:nvSpPr>
          <p:cNvPr id="10" name="Text 2"/>
          <p:cNvSpPr/>
          <p:nvPr/>
        </p:nvSpPr>
        <p:spPr>
          <a:xfrm>
            <a:off x="822960" y="2194560"/>
            <a:ext cx="10058400" cy="1737360"/>
          </a:xfrm>
          <a:prstGeom prst="rect">
            <a:avLst/>
          </a:prstGeom>
          <a:noFill/>
          <a:ln/>
        </p:spPr>
        <p:txBody>
          <a:bodyPr wrap="square" lIns="0" tIns="0" rIns="0" bIns="0" rtlCol="0" anchor="ctr"/>
          <a:lstStyle/>
          <a:p>
            <a:pPr indent="0" marL="0">
              <a:lnSpc>
                <a:spcPct val="105000"/>
              </a:lnSpc>
              <a:buNone/>
            </a:pPr>
            <a:r>
              <a:rPr lang="en-US" sz="4000" b="1" dirty="0">
                <a:solidFill>
                  <a:srgbClr val="8E3556"/>
                </a:solidFill>
                <a:latin typeface="Noto Sans CJK JP" pitchFamily="34" charset="0"/>
                <a:ea typeface="Noto Sans CJK JP" pitchFamily="34" charset="-122"/>
                <a:cs typeface="Noto Sans CJK JP" pitchFamily="34" charset="-120"/>
              </a:rPr>
              <a:t>「どこまでやるか」問題を</a:t>
            </a:r>
            <a:endParaRPr lang="en-US" sz="4000" dirty="0"/>
          </a:p>
          <a:p>
            <a:pPr indent="0" marL="0">
              <a:lnSpc>
                <a:spcPct val="105000"/>
              </a:lnSpc>
              <a:buNone/>
            </a:pPr>
            <a:r>
              <a:rPr lang="en-US" sz="4000" b="1" dirty="0">
                <a:solidFill>
                  <a:srgbClr val="8E3556"/>
                </a:solidFill>
                <a:latin typeface="Noto Sans CJK JP" pitchFamily="34" charset="0"/>
                <a:ea typeface="Noto Sans CJK JP" pitchFamily="34" charset="-122"/>
                <a:cs typeface="Noto Sans CJK JP" pitchFamily="34" charset="-120"/>
              </a:rPr>
              <a:t>仕組みで解く</a:t>
            </a:r>
            <a:endParaRPr lang="en-US" sz="4000" dirty="0"/>
          </a:p>
        </p:txBody>
      </p:sp>
      <p:sp>
        <p:nvSpPr>
          <p:cNvPr id="11" name="Text 3"/>
          <p:cNvSpPr/>
          <p:nvPr/>
        </p:nvSpPr>
        <p:spPr>
          <a:xfrm>
            <a:off x="841248" y="4069080"/>
            <a:ext cx="10058400" cy="457200"/>
          </a:xfrm>
          <a:prstGeom prst="rect">
            <a:avLst/>
          </a:prstGeom>
          <a:noFill/>
          <a:ln/>
        </p:spPr>
        <p:txBody>
          <a:bodyPr wrap="square" lIns="0" tIns="0" rIns="0" bIns="0" rtlCol="0" anchor="ctr"/>
          <a:lstStyle/>
          <a:p>
            <a:pPr indent="0" marL="0">
              <a:buNone/>
            </a:pPr>
            <a:r>
              <a:rPr lang="en-US" sz="1600" dirty="0">
                <a:solidFill>
                  <a:srgbClr val="3A2C31"/>
                </a:solidFill>
                <a:latin typeface="Noto Sans CJK JP" pitchFamily="34" charset="0"/>
                <a:ea typeface="Noto Sans CJK JP" pitchFamily="34" charset="-122"/>
                <a:cs typeface="Noto Sans CJK JP" pitchFamily="34" charset="-120"/>
              </a:rPr>
              <a:t>判断軸と“やり直し回数”を、お客さんに負担をかけず先に合意する技術</a:t>
            </a:r>
            <a:endParaRPr lang="en-US" sz="1600" dirty="0"/>
          </a:p>
        </p:txBody>
      </p:sp>
      <p:sp>
        <p:nvSpPr>
          <p:cNvPr id="12" name="Shape 4"/>
          <p:cNvSpPr/>
          <p:nvPr/>
        </p:nvSpPr>
        <p:spPr>
          <a:xfrm>
            <a:off x="841248" y="4800600"/>
            <a:ext cx="2212848" cy="457200"/>
          </a:xfrm>
          <a:prstGeom prst="roundRect">
            <a:avLst>
              <a:gd name="adj" fmla="val 50000"/>
            </a:avLst>
          </a:prstGeom>
          <a:solidFill>
            <a:srgbClr val="FFFFFF"/>
          </a:solidFill>
          <a:ln w="12700">
            <a:solidFill>
              <a:srgbClr val="EBB4C4"/>
            </a:solidFill>
            <a:prstDash val="solid"/>
          </a:ln>
        </p:spPr>
      </p:sp>
      <p:sp>
        <p:nvSpPr>
          <p:cNvPr id="13" name="Text 5"/>
          <p:cNvSpPr/>
          <p:nvPr/>
        </p:nvSpPr>
        <p:spPr>
          <a:xfrm>
            <a:off x="841248" y="4800600"/>
            <a:ext cx="2212848" cy="457200"/>
          </a:xfrm>
          <a:prstGeom prst="rect">
            <a:avLst/>
          </a:prstGeom>
          <a:noFill/>
          <a:ln/>
        </p:spPr>
        <p:txBody>
          <a:bodyPr wrap="square" lIns="0" tIns="0" rIns="0" bIns="0" rtlCol="0" anchor="ctr"/>
          <a:lstStyle/>
          <a:p>
            <a:pPr algn="ctr" indent="0" marL="0">
              <a:buNone/>
            </a:pPr>
            <a:r>
              <a:rPr lang="en-US" sz="1200" dirty="0">
                <a:solidFill>
                  <a:srgbClr val="8E3556"/>
                </a:solidFill>
                <a:latin typeface="Noto Sans CJK JP" pitchFamily="34" charset="0"/>
                <a:ea typeface="Noto Sans CJK JP" pitchFamily="34" charset="-122"/>
                <a:cs typeface="Noto Sans CJK JP" pitchFamily="34" charset="-120"/>
              </a:rPr>
              <a:t>判断軸を先に握る</a:t>
            </a:r>
            <a:endParaRPr lang="en-US" sz="1200" dirty="0"/>
          </a:p>
        </p:txBody>
      </p:sp>
      <p:sp>
        <p:nvSpPr>
          <p:cNvPr id="14" name="Shape 6"/>
          <p:cNvSpPr/>
          <p:nvPr/>
        </p:nvSpPr>
        <p:spPr>
          <a:xfrm>
            <a:off x="3255264" y="4800600"/>
            <a:ext cx="2212848" cy="457200"/>
          </a:xfrm>
          <a:prstGeom prst="roundRect">
            <a:avLst>
              <a:gd name="adj" fmla="val 50000"/>
            </a:avLst>
          </a:prstGeom>
          <a:solidFill>
            <a:srgbClr val="FFFFFF"/>
          </a:solidFill>
          <a:ln w="12700">
            <a:solidFill>
              <a:srgbClr val="EBB4C4"/>
            </a:solidFill>
            <a:prstDash val="solid"/>
          </a:ln>
        </p:spPr>
      </p:sp>
      <p:sp>
        <p:nvSpPr>
          <p:cNvPr id="15" name="Text 7"/>
          <p:cNvSpPr/>
          <p:nvPr/>
        </p:nvSpPr>
        <p:spPr>
          <a:xfrm>
            <a:off x="3255264" y="4800600"/>
            <a:ext cx="2212848" cy="457200"/>
          </a:xfrm>
          <a:prstGeom prst="rect">
            <a:avLst/>
          </a:prstGeom>
          <a:noFill/>
          <a:ln/>
        </p:spPr>
        <p:txBody>
          <a:bodyPr wrap="square" lIns="0" tIns="0" rIns="0" bIns="0" rtlCol="0" anchor="ctr"/>
          <a:lstStyle/>
          <a:p>
            <a:pPr algn="ctr" indent="0" marL="0">
              <a:buNone/>
            </a:pPr>
            <a:r>
              <a:rPr lang="en-US" sz="1200" dirty="0">
                <a:solidFill>
                  <a:srgbClr val="8E3556"/>
                </a:solidFill>
                <a:latin typeface="Noto Sans CJK JP" pitchFamily="34" charset="0"/>
                <a:ea typeface="Noto Sans CJK JP" pitchFamily="34" charset="-122"/>
                <a:cs typeface="Noto Sans CJK JP" pitchFamily="34" charset="-120"/>
              </a:rPr>
              <a:t>誰が・いつ・何を</a:t>
            </a:r>
            <a:endParaRPr lang="en-US" sz="1200" dirty="0"/>
          </a:p>
        </p:txBody>
      </p:sp>
      <p:sp>
        <p:nvSpPr>
          <p:cNvPr id="16" name="Shape 8"/>
          <p:cNvSpPr/>
          <p:nvPr/>
        </p:nvSpPr>
        <p:spPr>
          <a:xfrm>
            <a:off x="5669280" y="4800600"/>
            <a:ext cx="2441448" cy="457200"/>
          </a:xfrm>
          <a:prstGeom prst="roundRect">
            <a:avLst>
              <a:gd name="adj" fmla="val 50000"/>
            </a:avLst>
          </a:prstGeom>
          <a:solidFill>
            <a:srgbClr val="FFFFFF"/>
          </a:solidFill>
          <a:ln w="12700">
            <a:solidFill>
              <a:srgbClr val="EBB4C4"/>
            </a:solidFill>
            <a:prstDash val="solid"/>
          </a:ln>
        </p:spPr>
      </p:sp>
      <p:sp>
        <p:nvSpPr>
          <p:cNvPr id="17" name="Text 9"/>
          <p:cNvSpPr/>
          <p:nvPr/>
        </p:nvSpPr>
        <p:spPr>
          <a:xfrm>
            <a:off x="5669280" y="4800600"/>
            <a:ext cx="2441448" cy="457200"/>
          </a:xfrm>
          <a:prstGeom prst="rect">
            <a:avLst/>
          </a:prstGeom>
          <a:noFill/>
          <a:ln/>
        </p:spPr>
        <p:txBody>
          <a:bodyPr wrap="square" lIns="0" tIns="0" rIns="0" bIns="0" rtlCol="0" anchor="ctr"/>
          <a:lstStyle/>
          <a:p>
            <a:pPr algn="ctr" indent="0" marL="0">
              <a:buNone/>
            </a:pPr>
            <a:r>
              <a:rPr lang="en-US" sz="1200" dirty="0">
                <a:solidFill>
                  <a:srgbClr val="8E3556"/>
                </a:solidFill>
                <a:latin typeface="Noto Sans CJK JP" pitchFamily="34" charset="0"/>
                <a:ea typeface="Noto Sans CJK JP" pitchFamily="34" charset="-122"/>
                <a:cs typeface="Noto Sans CJK JP" pitchFamily="34" charset="-120"/>
              </a:rPr>
              <a:t>やり直しN回ルール</a:t>
            </a:r>
            <a:endParaRPr lang="en-US" sz="1200" dirty="0"/>
          </a:p>
        </p:txBody>
      </p:sp>
      <p:sp>
        <p:nvSpPr>
          <p:cNvPr id="18" name="Shape 10"/>
          <p:cNvSpPr/>
          <p:nvPr/>
        </p:nvSpPr>
        <p:spPr>
          <a:xfrm>
            <a:off x="8311896" y="4800600"/>
            <a:ext cx="1984248" cy="457200"/>
          </a:xfrm>
          <a:prstGeom prst="roundRect">
            <a:avLst>
              <a:gd name="adj" fmla="val 50000"/>
            </a:avLst>
          </a:prstGeom>
          <a:solidFill>
            <a:srgbClr val="FFFFFF"/>
          </a:solidFill>
          <a:ln w="12700">
            <a:solidFill>
              <a:srgbClr val="EBB4C4"/>
            </a:solidFill>
            <a:prstDash val="solid"/>
          </a:ln>
        </p:spPr>
      </p:sp>
      <p:sp>
        <p:nvSpPr>
          <p:cNvPr id="19" name="Text 11"/>
          <p:cNvSpPr/>
          <p:nvPr/>
        </p:nvSpPr>
        <p:spPr>
          <a:xfrm>
            <a:off x="8311896" y="4800600"/>
            <a:ext cx="1984248" cy="457200"/>
          </a:xfrm>
          <a:prstGeom prst="rect">
            <a:avLst/>
          </a:prstGeom>
          <a:noFill/>
          <a:ln/>
        </p:spPr>
        <p:txBody>
          <a:bodyPr wrap="square" lIns="0" tIns="0" rIns="0" bIns="0" rtlCol="0" anchor="ctr"/>
          <a:lstStyle/>
          <a:p>
            <a:pPr algn="ctr" indent="0" marL="0">
              <a:buNone/>
            </a:pPr>
            <a:r>
              <a:rPr lang="en-US" sz="1200" dirty="0">
                <a:solidFill>
                  <a:srgbClr val="8E3556"/>
                </a:solidFill>
                <a:latin typeface="Noto Sans CJK JP" pitchFamily="34" charset="0"/>
                <a:ea typeface="Noto Sans CJK JP" pitchFamily="34" charset="-122"/>
                <a:cs typeface="Noto Sans CJK JP" pitchFamily="34" charset="-120"/>
              </a:rPr>
              <a:t>暗黙知→形式知</a:t>
            </a:r>
            <a:endParaRPr lang="en-US" sz="1200" dirty="0"/>
          </a:p>
        </p:txBody>
      </p:sp>
      <p:sp>
        <p:nvSpPr>
          <p:cNvPr id="20" name="Shape 12"/>
          <p:cNvSpPr/>
          <p:nvPr/>
        </p:nvSpPr>
        <p:spPr>
          <a:xfrm>
            <a:off x="0" y="6547104"/>
            <a:ext cx="12161520" cy="310896"/>
          </a:xfrm>
          <a:prstGeom prst="rect">
            <a:avLst/>
          </a:prstGeom>
          <a:solidFill>
            <a:srgbClr val="574039"/>
          </a:solidFill>
          <a:ln/>
        </p:spPr>
      </p:sp>
      <p:pic>
        <p:nvPicPr>
          <p:cNvPr id="21" name="Image 6" descr="preencoded.png">    </p:cNvPr>
          <p:cNvPicPr>
            <a:picLocks noChangeAspect="1"/>
          </p:cNvPicPr>
          <p:nvPr/>
        </p:nvPicPr>
        <p:blipFill>
          <a:blip r:embed="rId7"/>
          <a:stretch>
            <a:fillRect/>
          </a:stretch>
        </p:blipFill>
        <p:spPr>
          <a:xfrm>
            <a:off x="457200" y="6601968"/>
            <a:ext cx="201168" cy="201168"/>
          </a:xfrm>
          <a:prstGeom prst="rect">
            <a:avLst/>
          </a:prstGeom>
        </p:spPr>
      </p:pic>
      <p:sp>
        <p:nvSpPr>
          <p:cNvPr id="22" name="Text 13"/>
          <p:cNvSpPr/>
          <p:nvPr/>
        </p:nvSpPr>
        <p:spPr>
          <a:xfrm>
            <a:off x="731520" y="6547104"/>
            <a:ext cx="10972800" cy="310896"/>
          </a:xfrm>
          <a:prstGeom prst="rect">
            <a:avLst/>
          </a:prstGeom>
          <a:noFill/>
          <a:ln/>
        </p:spPr>
        <p:txBody>
          <a:bodyPr wrap="square" lIns="0" tIns="0" rIns="0" bIns="0" rtlCol="0" anchor="ctr"/>
          <a:lstStyle/>
          <a:p>
            <a:pPr indent="0" marL="0">
              <a:buNone/>
            </a:pPr>
            <a:r>
              <a:rPr lang="en-US" sz="1000" dirty="0">
                <a:solidFill>
                  <a:srgbClr val="F4E9E2"/>
                </a:solidFill>
                <a:latin typeface="Noto Sans CJK JP" pitchFamily="34" charset="0"/>
                <a:ea typeface="Noto Sans CJK JP" pitchFamily="34" charset="-122"/>
                <a:cs typeface="Noto Sans CJK JP" pitchFamily="34" charset="-120"/>
              </a:rPr>
              <a:t>うさうさ先生🐰 / うさうさ研修工房　2026-06-22 ・ v3.0（淡ローズ・問いかけ版）</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EDF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65000"/>
          </a:blip>
          <a:stretch>
            <a:fillRect/>
          </a:stretch>
        </p:blipFill>
        <p:spPr>
          <a:xfrm rot="1800000">
            <a:off x="10607040" y="822960"/>
            <a:ext cx="914400" cy="914400"/>
          </a:xfrm>
          <a:prstGeom prst="rect">
            <a:avLst/>
          </a:prstGeom>
        </p:spPr>
      </p:pic>
      <p:pic>
        <p:nvPicPr>
          <p:cNvPr id="3" name="Image 1" descr="preencoded.png">    </p:cNvPr>
          <p:cNvPicPr>
            <a:picLocks noChangeAspect="1"/>
          </p:cNvPicPr>
          <p:nvPr/>
        </p:nvPicPr>
        <p:blipFill>
          <a:blip r:embed="rId2">
            <a:alphaModFix amt="55000"/>
          </a:blip>
          <a:stretch>
            <a:fillRect/>
          </a:stretch>
        </p:blipFill>
        <p:spPr>
          <a:xfrm rot="7200000">
            <a:off x="11247120" y="3931920"/>
            <a:ext cx="640080" cy="640080"/>
          </a:xfrm>
          <a:prstGeom prst="rect">
            <a:avLst/>
          </a:prstGeom>
        </p:spPr>
      </p:pic>
      <p:pic>
        <p:nvPicPr>
          <p:cNvPr id="4" name="Image 2" descr="preencoded.png">    </p:cNvPr>
          <p:cNvPicPr>
            <a:picLocks noChangeAspect="1"/>
          </p:cNvPicPr>
          <p:nvPr/>
        </p:nvPicPr>
        <p:blipFill>
          <a:blip r:embed="rId3">
            <a:alphaModFix amt="55000"/>
          </a:blip>
          <a:stretch>
            <a:fillRect/>
          </a:stretch>
        </p:blipFill>
        <p:spPr>
          <a:xfrm rot="12600000">
            <a:off x="640080" y="4937760"/>
            <a:ext cx="822960" cy="822960"/>
          </a:xfrm>
          <a:prstGeom prst="rect">
            <a:avLst/>
          </a:prstGeom>
        </p:spPr>
      </p:pic>
      <p:pic>
        <p:nvPicPr>
          <p:cNvPr id="5" name="Image 3" descr="preencoded.png">    </p:cNvPr>
          <p:cNvPicPr>
            <a:picLocks noChangeAspect="1"/>
          </p:cNvPicPr>
          <p:nvPr/>
        </p:nvPicPr>
        <p:blipFill>
          <a:blip r:embed="rId4">
            <a:alphaModFix amt="45000"/>
          </a:blip>
          <a:stretch>
            <a:fillRect/>
          </a:stretch>
        </p:blipFill>
        <p:spPr>
          <a:xfrm rot="19800000">
            <a:off x="731520" y="1005840"/>
            <a:ext cx="548640" cy="548640"/>
          </a:xfrm>
          <a:prstGeom prst="rect">
            <a:avLst/>
          </a:prstGeom>
        </p:spPr>
      </p:pic>
      <p:sp>
        <p:nvSpPr>
          <p:cNvPr id="6" name="Shape 0"/>
          <p:cNvSpPr/>
          <p:nvPr/>
        </p:nvSpPr>
        <p:spPr>
          <a:xfrm>
            <a:off x="0" y="0"/>
            <a:ext cx="12161520" cy="310896"/>
          </a:xfrm>
          <a:prstGeom prst="rect">
            <a:avLst/>
          </a:prstGeom>
          <a:solidFill>
            <a:srgbClr val="574039"/>
          </a:solidFill>
          <a:ln/>
        </p:spPr>
      </p:sp>
      <p:sp>
        <p:nvSpPr>
          <p:cNvPr id="7" name="Text 1"/>
          <p:cNvSpPr/>
          <p:nvPr/>
        </p:nvSpPr>
        <p:spPr>
          <a:xfrm>
            <a:off x="822960" y="1005840"/>
            <a:ext cx="5486400" cy="548640"/>
          </a:xfrm>
          <a:prstGeom prst="rect">
            <a:avLst/>
          </a:prstGeom>
          <a:noFill/>
          <a:ln/>
        </p:spPr>
        <p:txBody>
          <a:bodyPr wrap="square" lIns="0" tIns="0" rIns="0" bIns="0" rtlCol="0" anchor="ctr"/>
          <a:lstStyle/>
          <a:p>
            <a:pPr indent="0" marL="0">
              <a:buNone/>
            </a:pPr>
            <a:r>
              <a:rPr lang="en-US" sz="2000" b="1" dirty="0">
                <a:solidFill>
                  <a:srgbClr val="B4587A"/>
                </a:solidFill>
                <a:latin typeface="Noto Sans CJK JP" pitchFamily="34" charset="0"/>
                <a:ea typeface="Noto Sans CJK JP" pitchFamily="34" charset="-122"/>
                <a:cs typeface="Noto Sans CJK JP" pitchFamily="34" charset="-120"/>
              </a:rPr>
              <a:t>🌸 問い ①</a:t>
            </a:r>
            <a:endParaRPr lang="en-US" sz="2000" dirty="0"/>
          </a:p>
        </p:txBody>
      </p:sp>
      <p:sp>
        <p:nvSpPr>
          <p:cNvPr id="8" name="Text 2"/>
          <p:cNvSpPr/>
          <p:nvPr/>
        </p:nvSpPr>
        <p:spPr>
          <a:xfrm>
            <a:off x="822960" y="1691640"/>
            <a:ext cx="10424160" cy="2011680"/>
          </a:xfrm>
          <a:prstGeom prst="rect">
            <a:avLst/>
          </a:prstGeom>
          <a:noFill/>
          <a:ln/>
        </p:spPr>
        <p:txBody>
          <a:bodyPr wrap="square" lIns="0" tIns="0" rIns="0" bIns="0" rtlCol="0" anchor="ctr"/>
          <a:lstStyle/>
          <a:p>
            <a:pPr indent="0" marL="0">
              <a:lnSpc>
                <a:spcPct val="108000"/>
              </a:lnSpc>
              <a:buNone/>
            </a:pPr>
            <a:r>
              <a:rPr lang="en-US" sz="3800" b="1" dirty="0">
                <a:solidFill>
                  <a:srgbClr val="8E3556"/>
                </a:solidFill>
                <a:latin typeface="Noto Sans CJK JP" pitchFamily="34" charset="0"/>
                <a:ea typeface="Noto Sans CJK JP" pitchFamily="34" charset="-122"/>
                <a:cs typeface="Noto Sans CJK JP" pitchFamily="34" charset="-120"/>
              </a:rPr>
              <a:t>そもそも、なぜ</a:t>
            </a:r>
            <a:endParaRPr lang="en-US" sz="3800" dirty="0"/>
          </a:p>
          <a:p>
            <a:pPr indent="0" marL="0">
              <a:lnSpc>
                <a:spcPct val="108000"/>
              </a:lnSpc>
              <a:buNone/>
            </a:pPr>
            <a:r>
              <a:rPr lang="en-US" sz="3800" b="1" dirty="0">
                <a:solidFill>
                  <a:srgbClr val="8E3556"/>
                </a:solidFill>
                <a:latin typeface="Noto Sans CJK JP" pitchFamily="34" charset="0"/>
                <a:ea typeface="Noto Sans CJK JP" pitchFamily="34" charset="-122"/>
                <a:cs typeface="Noto Sans CJK JP" pitchFamily="34" charset="-120"/>
              </a:rPr>
              <a:t>毎回モメるんだと思いますか？</a:t>
            </a:r>
            <a:endParaRPr lang="en-US" sz="3800" dirty="0"/>
          </a:p>
        </p:txBody>
      </p:sp>
      <p:sp>
        <p:nvSpPr>
          <p:cNvPr id="9" name="Text 3"/>
          <p:cNvSpPr/>
          <p:nvPr/>
        </p:nvSpPr>
        <p:spPr>
          <a:xfrm>
            <a:off x="841248" y="4114800"/>
            <a:ext cx="10058400" cy="1097280"/>
          </a:xfrm>
          <a:prstGeom prst="rect">
            <a:avLst/>
          </a:prstGeom>
          <a:noFill/>
          <a:ln/>
        </p:spPr>
        <p:txBody>
          <a:bodyPr wrap="square" lIns="0" tIns="0" rIns="0" bIns="0" rtlCol="0" anchor="ctr"/>
          <a:lstStyle/>
          <a:p>
            <a:pPr indent="0" marL="0">
              <a:lnSpc>
                <a:spcPct val="135000"/>
              </a:lnSpc>
              <a:buNone/>
            </a:pPr>
            <a:r>
              <a:rPr lang="en-US" sz="1600" dirty="0">
                <a:solidFill>
                  <a:srgbClr val="3A2C31"/>
                </a:solidFill>
                <a:latin typeface="Noto Sans CJK JP" pitchFamily="34" charset="0"/>
                <a:ea typeface="Noto Sans CJK JP" pitchFamily="34" charset="-122"/>
                <a:cs typeface="Noto Sans CJK JP" pitchFamily="34" charset="-120"/>
              </a:rPr>
              <a:t>「気合い不足」でしょうか。「相手が雑」でしょうか。</a:t>
            </a:r>
            <a:endParaRPr lang="en-US" sz="1600" dirty="0"/>
          </a:p>
          <a:p>
            <a:pPr indent="0" marL="0">
              <a:lnSpc>
                <a:spcPct val="135000"/>
              </a:lnSpc>
              <a:buNone/>
            </a:pPr>
            <a:r>
              <a:rPr lang="en-US" sz="1600" dirty="0">
                <a:solidFill>
                  <a:srgbClr val="3A2C31"/>
                </a:solidFill>
                <a:latin typeface="Noto Sans CJK JP" pitchFamily="34" charset="0"/>
                <a:ea typeface="Noto Sans CJK JP" pitchFamily="34" charset="-122"/>
                <a:cs typeface="Noto Sans CJK JP" pitchFamily="34" charset="-120"/>
              </a:rPr>
              <a:t>──答えを言う前に、ご自分の直近の案件を、少しだけ思い浮かべてみてください。</a:t>
            </a:r>
            <a:endParaRPr lang="en-US" sz="1600" dirty="0"/>
          </a:p>
        </p:txBody>
      </p:sp>
      <p:sp>
        <p:nvSpPr>
          <p:cNvPr id="10" name="Shape 4"/>
          <p:cNvSpPr/>
          <p:nvPr/>
        </p:nvSpPr>
        <p:spPr>
          <a:xfrm>
            <a:off x="10241280" y="4937760"/>
            <a:ext cx="1005840" cy="1005840"/>
          </a:xfrm>
          <a:prstGeom prst="ellipse">
            <a:avLst/>
          </a:prstGeom>
          <a:solidFill>
            <a:srgbClr val="B4587A"/>
          </a:solidFill>
          <a:ln/>
        </p:spPr>
      </p:sp>
      <p:pic>
        <p:nvPicPr>
          <p:cNvPr id="11" name="Image 4" descr="preencoded.png">    </p:cNvPr>
          <p:cNvPicPr>
            <a:picLocks noChangeAspect="1"/>
          </p:cNvPicPr>
          <p:nvPr/>
        </p:nvPicPr>
        <p:blipFill>
          <a:blip r:embed="rId5"/>
          <a:stretch>
            <a:fillRect/>
          </a:stretch>
        </p:blipFill>
        <p:spPr>
          <a:xfrm>
            <a:off x="10512857" y="5209337"/>
            <a:ext cx="462686" cy="462686"/>
          </a:xfrm>
          <a:prstGeom prst="rect">
            <a:avLst/>
          </a:prstGeom>
        </p:spPr>
      </p:pic>
      <p:sp>
        <p:nvSpPr>
          <p:cNvPr id="12" name="Shape 5"/>
          <p:cNvSpPr/>
          <p:nvPr/>
        </p:nvSpPr>
        <p:spPr>
          <a:xfrm>
            <a:off x="0" y="6547104"/>
            <a:ext cx="12161520" cy="310896"/>
          </a:xfrm>
          <a:prstGeom prst="rect">
            <a:avLst/>
          </a:prstGeom>
          <a:solidFill>
            <a:srgbClr val="574039"/>
          </a:solidFill>
          <a:ln/>
        </p:spPr>
      </p:sp>
      <p:sp>
        <p:nvSpPr>
          <p:cNvPr id="13" name="Text 6"/>
          <p:cNvSpPr/>
          <p:nvPr/>
        </p:nvSpPr>
        <p:spPr>
          <a:xfrm>
            <a:off x="11247120" y="6547104"/>
            <a:ext cx="4572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10896"/>
          </a:xfrm>
          <a:prstGeom prst="rect">
            <a:avLst/>
          </a:prstGeom>
          <a:solidFill>
            <a:srgbClr val="574039"/>
          </a:solidFill>
          <a:ln/>
        </p:spPr>
      </p:sp>
      <p:pic>
        <p:nvPicPr>
          <p:cNvPr id="3" name="Image 0" descr="preencoded.png">    </p:cNvPr>
          <p:cNvPicPr>
            <a:picLocks noChangeAspect="1"/>
          </p:cNvPicPr>
          <p:nvPr/>
        </p:nvPicPr>
        <p:blipFill>
          <a:blip r:embed="rId1"/>
          <a:stretch>
            <a:fillRect/>
          </a:stretch>
        </p:blipFill>
        <p:spPr>
          <a:xfrm>
            <a:off x="457200" y="54864"/>
            <a:ext cx="201168" cy="201168"/>
          </a:xfrm>
          <a:prstGeom prst="rect">
            <a:avLst/>
          </a:prstGeom>
        </p:spPr>
      </p:pic>
      <p:sp>
        <p:nvSpPr>
          <p:cNvPr id="4" name="Text 1"/>
          <p:cNvSpPr/>
          <p:nvPr/>
        </p:nvSpPr>
        <p:spPr>
          <a:xfrm>
            <a:off x="731520" y="0"/>
            <a:ext cx="4572000" cy="310896"/>
          </a:xfrm>
          <a:prstGeom prst="rect">
            <a:avLst/>
          </a:prstGeom>
          <a:noFill/>
          <a:ln/>
        </p:spPr>
        <p:txBody>
          <a:bodyPr wrap="square" lIns="0" tIns="0" rIns="0" bIns="0" rtlCol="0" anchor="ctr"/>
          <a:lstStyle/>
          <a:p>
            <a:pPr indent="0" marL="0">
              <a:buNone/>
            </a:pPr>
            <a:r>
              <a:rPr lang="en-US" sz="1000" dirty="0">
                <a:solidFill>
                  <a:srgbClr val="F4E9E2"/>
                </a:solidFill>
                <a:latin typeface="Noto Sans CJK JP" pitchFamily="34" charset="0"/>
                <a:ea typeface="Noto Sans CJK JP" pitchFamily="34" charset="-122"/>
                <a:cs typeface="Noto Sans CJK JP" pitchFamily="34" charset="-120"/>
              </a:rPr>
              <a:t>うさうさ研修工房</a:t>
            </a:r>
            <a:endParaRPr lang="en-US" sz="1000" dirty="0"/>
          </a:p>
        </p:txBody>
      </p:sp>
      <p:sp>
        <p:nvSpPr>
          <p:cNvPr id="5" name="Text 2"/>
          <p:cNvSpPr/>
          <p:nvPr/>
        </p:nvSpPr>
        <p:spPr>
          <a:xfrm>
            <a:off x="7132320" y="0"/>
            <a:ext cx="45720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合意設計 ・ 考えさせる編</a:t>
            </a:r>
            <a:endParaRPr lang="en-US" sz="1000" dirty="0"/>
          </a:p>
        </p:txBody>
      </p:sp>
      <p:sp>
        <p:nvSpPr>
          <p:cNvPr id="6" name="Shape 3"/>
          <p:cNvSpPr/>
          <p:nvPr/>
        </p:nvSpPr>
        <p:spPr>
          <a:xfrm>
            <a:off x="0" y="6547104"/>
            <a:ext cx="12161520" cy="310896"/>
          </a:xfrm>
          <a:prstGeom prst="rect">
            <a:avLst/>
          </a:prstGeom>
          <a:solidFill>
            <a:srgbClr val="574039"/>
          </a:solidFill>
          <a:ln/>
        </p:spPr>
      </p:sp>
      <p:pic>
        <p:nvPicPr>
          <p:cNvPr id="7" name="Image 1" descr="preencoded.png">    </p:cNvPr>
          <p:cNvPicPr>
            <a:picLocks noChangeAspect="1"/>
          </p:cNvPicPr>
          <p:nvPr/>
        </p:nvPicPr>
        <p:blipFill>
          <a:blip r:embed="rId2"/>
          <a:stretch>
            <a:fillRect/>
          </a:stretch>
        </p:blipFill>
        <p:spPr>
          <a:xfrm>
            <a:off x="457200" y="6601968"/>
            <a:ext cx="201168" cy="201168"/>
          </a:xfrm>
          <a:prstGeom prst="rect">
            <a:avLst/>
          </a:prstGeom>
        </p:spPr>
      </p:pic>
      <p:sp>
        <p:nvSpPr>
          <p:cNvPr id="8" name="Text 4"/>
          <p:cNvSpPr/>
          <p:nvPr/>
        </p:nvSpPr>
        <p:spPr>
          <a:xfrm>
            <a:off x="731520" y="6547104"/>
            <a:ext cx="5486400" cy="310896"/>
          </a:xfrm>
          <a:prstGeom prst="rect">
            <a:avLst/>
          </a:prstGeom>
          <a:noFill/>
          <a:ln/>
        </p:spPr>
        <p:txBody>
          <a:bodyPr wrap="square" lIns="0" tIns="0" rIns="0" bIns="0" rtlCol="0" anchor="ctr"/>
          <a:lstStyle/>
          <a:p>
            <a:pPr indent="0" marL="0">
              <a:buNone/>
            </a:pPr>
            <a:r>
              <a:rPr lang="en-US" sz="950" dirty="0">
                <a:solidFill>
                  <a:srgbClr val="F4E9E2"/>
                </a:solidFill>
                <a:latin typeface="Noto Sans CJK JP" pitchFamily="34" charset="0"/>
                <a:ea typeface="Noto Sans CJK JP" pitchFamily="34" charset="-122"/>
                <a:cs typeface="Noto Sans CJK JP" pitchFamily="34" charset="-120"/>
              </a:rPr>
              <a:t>面白きこともなき世を面白く 🐰</a:t>
            </a:r>
            <a:endParaRPr lang="en-US" sz="950" dirty="0"/>
          </a:p>
        </p:txBody>
      </p:sp>
      <p:sp>
        <p:nvSpPr>
          <p:cNvPr id="9" name="Text 5"/>
          <p:cNvSpPr/>
          <p:nvPr/>
        </p:nvSpPr>
        <p:spPr>
          <a:xfrm>
            <a:off x="11247120" y="6547104"/>
            <a:ext cx="4572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3</a:t>
            </a:r>
            <a:endParaRPr lang="en-US" sz="1000" dirty="0"/>
          </a:p>
        </p:txBody>
      </p:sp>
      <p:sp>
        <p:nvSpPr>
          <p:cNvPr id="10" name="Text 6"/>
          <p:cNvSpPr/>
          <p:nvPr/>
        </p:nvSpPr>
        <p:spPr>
          <a:xfrm>
            <a:off x="502920" y="457200"/>
            <a:ext cx="10972800" cy="594360"/>
          </a:xfrm>
          <a:prstGeom prst="rect">
            <a:avLst/>
          </a:prstGeom>
          <a:noFill/>
          <a:ln/>
        </p:spPr>
        <p:txBody>
          <a:bodyPr wrap="square" lIns="0" tIns="0" rIns="0" bIns="0" rtlCol="0" anchor="ctr"/>
          <a:lstStyle/>
          <a:p>
            <a:pPr indent="0" marL="0">
              <a:buNone/>
            </a:pPr>
            <a:r>
              <a:rPr lang="en-US" sz="2800" b="1" dirty="0">
                <a:solidFill>
                  <a:srgbClr val="8E3556"/>
                </a:solidFill>
                <a:latin typeface="Noto Sans CJK JP" pitchFamily="34" charset="0"/>
                <a:ea typeface="Noto Sans CJK JP" pitchFamily="34" charset="-122"/>
                <a:cs typeface="Noto Sans CJK JP" pitchFamily="34" charset="-120"/>
              </a:rPr>
              <a:t>「うっ…」の悪循環 ── あなたは今どこ？</a:t>
            </a:r>
            <a:endParaRPr lang="en-US" sz="2800" dirty="0"/>
          </a:p>
        </p:txBody>
      </p:sp>
      <p:sp>
        <p:nvSpPr>
          <p:cNvPr id="11" name="Text 7"/>
          <p:cNvSpPr/>
          <p:nvPr/>
        </p:nvSpPr>
        <p:spPr>
          <a:xfrm>
            <a:off x="521208" y="1078992"/>
            <a:ext cx="10972800" cy="320040"/>
          </a:xfrm>
          <a:prstGeom prst="rect">
            <a:avLst/>
          </a:prstGeom>
          <a:noFill/>
          <a:ln/>
        </p:spPr>
        <p:txBody>
          <a:bodyPr wrap="square" lIns="0" tIns="0" rIns="0" bIns="0" rtlCol="0" anchor="ctr"/>
          <a:lstStyle/>
          <a:p>
            <a:pPr indent="0" marL="0">
              <a:buNone/>
            </a:pPr>
            <a:r>
              <a:rPr lang="en-US" sz="1350" dirty="0">
                <a:solidFill>
                  <a:srgbClr val="9A8890"/>
                </a:solidFill>
                <a:latin typeface="Noto Sans CJK JP" pitchFamily="34" charset="0"/>
                <a:ea typeface="Noto Sans CJK JP" pitchFamily="34" charset="-122"/>
                <a:cs typeface="Noto Sans CJK JP" pitchFamily="34" charset="-120"/>
              </a:rPr>
              <a:t>誠実な人・がんばる人ほどハマる。これは個人ではなく“循環”の問題です。</a:t>
            </a:r>
            <a:endParaRPr lang="en-US" sz="1350" dirty="0"/>
          </a:p>
        </p:txBody>
      </p:sp>
      <p:sp>
        <p:nvSpPr>
          <p:cNvPr id="12" name="Shape 8"/>
          <p:cNvSpPr/>
          <p:nvPr/>
        </p:nvSpPr>
        <p:spPr>
          <a:xfrm>
            <a:off x="1005840" y="1783080"/>
            <a:ext cx="3657600" cy="1691640"/>
          </a:xfrm>
          <a:prstGeom prst="roundRect">
            <a:avLst>
              <a:gd name="adj" fmla="val 5405"/>
            </a:avLst>
          </a:prstGeom>
          <a:solidFill>
            <a:srgbClr val="FBF1F4"/>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13" name="Shape 9"/>
          <p:cNvSpPr/>
          <p:nvPr/>
        </p:nvSpPr>
        <p:spPr>
          <a:xfrm>
            <a:off x="1261872" y="2093976"/>
            <a:ext cx="822960" cy="822960"/>
          </a:xfrm>
          <a:prstGeom prst="ellipse">
            <a:avLst/>
          </a:prstGeom>
          <a:solidFill>
            <a:srgbClr val="B4587A"/>
          </a:solidFill>
          <a:ln/>
        </p:spPr>
      </p:sp>
      <p:pic>
        <p:nvPicPr>
          <p:cNvPr id="14" name="Image 2" descr="preencoded.png">    </p:cNvPr>
          <p:cNvPicPr>
            <a:picLocks noChangeAspect="1"/>
          </p:cNvPicPr>
          <p:nvPr/>
        </p:nvPicPr>
        <p:blipFill>
          <a:blip r:embed="rId3"/>
          <a:stretch>
            <a:fillRect/>
          </a:stretch>
        </p:blipFill>
        <p:spPr>
          <a:xfrm>
            <a:off x="1484071" y="2316175"/>
            <a:ext cx="378562" cy="378562"/>
          </a:xfrm>
          <a:prstGeom prst="rect">
            <a:avLst/>
          </a:prstGeom>
        </p:spPr>
      </p:pic>
      <p:sp>
        <p:nvSpPr>
          <p:cNvPr id="15" name="Text 10"/>
          <p:cNvSpPr/>
          <p:nvPr/>
        </p:nvSpPr>
        <p:spPr>
          <a:xfrm>
            <a:off x="2212848" y="2057400"/>
            <a:ext cx="2331720" cy="457200"/>
          </a:xfrm>
          <a:prstGeom prst="rect">
            <a:avLst/>
          </a:prstGeom>
          <a:noFill/>
          <a:ln/>
        </p:spPr>
        <p:txBody>
          <a:bodyPr wrap="square" lIns="0" tIns="0" rIns="0" bIns="0" rtlCol="0" anchor="ctr"/>
          <a:lstStyle/>
          <a:p>
            <a:pPr indent="0" marL="0">
              <a:buNone/>
            </a:pPr>
            <a:r>
              <a:rPr lang="en-US" sz="1550" b="1" dirty="0">
                <a:solidFill>
                  <a:srgbClr val="8E3556"/>
                </a:solidFill>
                <a:latin typeface="Noto Sans CJK JP" pitchFamily="34" charset="0"/>
                <a:ea typeface="Noto Sans CJK JP" pitchFamily="34" charset="-122"/>
                <a:cs typeface="Noto Sans CJK JP" pitchFamily="34" charset="-120"/>
              </a:rPr>
              <a:t>曖昧なまま着手</a:t>
            </a:r>
            <a:endParaRPr lang="en-US" sz="1550" dirty="0"/>
          </a:p>
        </p:txBody>
      </p:sp>
      <p:sp>
        <p:nvSpPr>
          <p:cNvPr id="16" name="Text 11"/>
          <p:cNvSpPr/>
          <p:nvPr/>
        </p:nvSpPr>
        <p:spPr>
          <a:xfrm>
            <a:off x="2212848" y="2624328"/>
            <a:ext cx="2331720" cy="685800"/>
          </a:xfrm>
          <a:prstGeom prst="rect">
            <a:avLst/>
          </a:prstGeom>
          <a:noFill/>
          <a:ln/>
        </p:spPr>
        <p:txBody>
          <a:bodyPr wrap="square" lIns="0" tIns="0" rIns="0" bIns="0" rtlCol="0" anchor="ctr"/>
          <a:lstStyle/>
          <a:p>
            <a:pPr indent="0" marL="0">
              <a:lnSpc>
                <a:spcPct val="108000"/>
              </a:lnSpc>
              <a:buNone/>
            </a:pPr>
            <a:r>
              <a:rPr lang="en-US" sz="1200" dirty="0">
                <a:solidFill>
                  <a:srgbClr val="3A2C31"/>
                </a:solidFill>
                <a:latin typeface="Noto Sans CJK JP" pitchFamily="34" charset="0"/>
                <a:ea typeface="Noto Sans CJK JP" pitchFamily="34" charset="-122"/>
                <a:cs typeface="Noto Sans CJK JP" pitchFamily="34" charset="-120"/>
              </a:rPr>
              <a:t>線引きを“空気”で判断</a:t>
            </a:r>
            <a:endParaRPr lang="en-US" sz="1200" dirty="0"/>
          </a:p>
        </p:txBody>
      </p:sp>
      <p:sp>
        <p:nvSpPr>
          <p:cNvPr id="17" name="Shape 12"/>
          <p:cNvSpPr/>
          <p:nvPr/>
        </p:nvSpPr>
        <p:spPr>
          <a:xfrm>
            <a:off x="6583680" y="1783080"/>
            <a:ext cx="3657600" cy="1691640"/>
          </a:xfrm>
          <a:prstGeom prst="roundRect">
            <a:avLst>
              <a:gd name="adj" fmla="val 5405"/>
            </a:avLst>
          </a:prstGeom>
          <a:solidFill>
            <a:srgbClr val="FBF1F4"/>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18" name="Shape 13"/>
          <p:cNvSpPr/>
          <p:nvPr/>
        </p:nvSpPr>
        <p:spPr>
          <a:xfrm>
            <a:off x="6839712" y="2093976"/>
            <a:ext cx="822960" cy="822960"/>
          </a:xfrm>
          <a:prstGeom prst="ellipse">
            <a:avLst/>
          </a:prstGeom>
          <a:solidFill>
            <a:srgbClr val="B4587A"/>
          </a:solidFill>
          <a:ln/>
        </p:spPr>
      </p:sp>
      <p:pic>
        <p:nvPicPr>
          <p:cNvPr id="19" name="Image 3" descr="preencoded.png">    </p:cNvPr>
          <p:cNvPicPr>
            <a:picLocks noChangeAspect="1"/>
          </p:cNvPicPr>
          <p:nvPr/>
        </p:nvPicPr>
        <p:blipFill>
          <a:blip r:embed="rId4"/>
          <a:stretch>
            <a:fillRect/>
          </a:stretch>
        </p:blipFill>
        <p:spPr>
          <a:xfrm>
            <a:off x="7061911" y="2316175"/>
            <a:ext cx="378562" cy="378562"/>
          </a:xfrm>
          <a:prstGeom prst="rect">
            <a:avLst/>
          </a:prstGeom>
        </p:spPr>
      </p:pic>
      <p:sp>
        <p:nvSpPr>
          <p:cNvPr id="20" name="Text 14"/>
          <p:cNvSpPr/>
          <p:nvPr/>
        </p:nvSpPr>
        <p:spPr>
          <a:xfrm>
            <a:off x="7790688" y="2057400"/>
            <a:ext cx="2331720" cy="457200"/>
          </a:xfrm>
          <a:prstGeom prst="rect">
            <a:avLst/>
          </a:prstGeom>
          <a:noFill/>
          <a:ln/>
        </p:spPr>
        <p:txBody>
          <a:bodyPr wrap="square" lIns="0" tIns="0" rIns="0" bIns="0" rtlCol="0" anchor="ctr"/>
          <a:lstStyle/>
          <a:p>
            <a:pPr indent="0" marL="0">
              <a:buNone/>
            </a:pPr>
            <a:r>
              <a:rPr lang="en-US" sz="1550" b="1" dirty="0">
                <a:solidFill>
                  <a:srgbClr val="8E3556"/>
                </a:solidFill>
                <a:latin typeface="Noto Sans CJK JP" pitchFamily="34" charset="0"/>
                <a:ea typeface="Noto Sans CJK JP" pitchFamily="34" charset="-122"/>
                <a:cs typeface="Noto Sans CJK JP" pitchFamily="34" charset="-120"/>
              </a:rPr>
              <a:t>“ついでに”が積もる</a:t>
            </a:r>
            <a:endParaRPr lang="en-US" sz="1550" dirty="0"/>
          </a:p>
        </p:txBody>
      </p:sp>
      <p:sp>
        <p:nvSpPr>
          <p:cNvPr id="21" name="Text 15"/>
          <p:cNvSpPr/>
          <p:nvPr/>
        </p:nvSpPr>
        <p:spPr>
          <a:xfrm>
            <a:off x="7790688" y="2624328"/>
            <a:ext cx="2331720" cy="685800"/>
          </a:xfrm>
          <a:prstGeom prst="rect">
            <a:avLst/>
          </a:prstGeom>
          <a:noFill/>
          <a:ln/>
        </p:spPr>
        <p:txBody>
          <a:bodyPr wrap="square" lIns="0" tIns="0" rIns="0" bIns="0" rtlCol="0" anchor="ctr"/>
          <a:lstStyle/>
          <a:p>
            <a:pPr indent="0" marL="0">
              <a:lnSpc>
                <a:spcPct val="108000"/>
              </a:lnSpc>
              <a:buNone/>
            </a:pPr>
            <a:r>
              <a:rPr lang="en-US" sz="1200" dirty="0">
                <a:solidFill>
                  <a:srgbClr val="3A2C31"/>
                </a:solidFill>
                <a:latin typeface="Noto Sans CJK JP" pitchFamily="34" charset="0"/>
                <a:ea typeface="Noto Sans CJK JP" pitchFamily="34" charset="-122"/>
                <a:cs typeface="Noto Sans CJK JP" pitchFamily="34" charset="-120"/>
              </a:rPr>
              <a:t>範囲がじわじわ膨張</a:t>
            </a:r>
            <a:endParaRPr lang="en-US" sz="1200" dirty="0"/>
          </a:p>
        </p:txBody>
      </p:sp>
      <p:sp>
        <p:nvSpPr>
          <p:cNvPr id="22" name="Shape 16"/>
          <p:cNvSpPr/>
          <p:nvPr/>
        </p:nvSpPr>
        <p:spPr>
          <a:xfrm>
            <a:off x="6583680" y="3703320"/>
            <a:ext cx="3657600" cy="1691640"/>
          </a:xfrm>
          <a:prstGeom prst="roundRect">
            <a:avLst>
              <a:gd name="adj" fmla="val 5405"/>
            </a:avLst>
          </a:prstGeom>
          <a:solidFill>
            <a:srgbClr val="FBF1F4"/>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23" name="Shape 17"/>
          <p:cNvSpPr/>
          <p:nvPr/>
        </p:nvSpPr>
        <p:spPr>
          <a:xfrm>
            <a:off x="6839712" y="4014216"/>
            <a:ext cx="822960" cy="822960"/>
          </a:xfrm>
          <a:prstGeom prst="ellipse">
            <a:avLst/>
          </a:prstGeom>
          <a:solidFill>
            <a:srgbClr val="B4587A"/>
          </a:solidFill>
          <a:ln/>
        </p:spPr>
      </p:sp>
      <p:pic>
        <p:nvPicPr>
          <p:cNvPr id="24" name="Image 4" descr="preencoded.png">    </p:cNvPr>
          <p:cNvPicPr>
            <a:picLocks noChangeAspect="1"/>
          </p:cNvPicPr>
          <p:nvPr/>
        </p:nvPicPr>
        <p:blipFill>
          <a:blip r:embed="rId5"/>
          <a:stretch>
            <a:fillRect/>
          </a:stretch>
        </p:blipFill>
        <p:spPr>
          <a:xfrm>
            <a:off x="7061911" y="4236415"/>
            <a:ext cx="378562" cy="378562"/>
          </a:xfrm>
          <a:prstGeom prst="rect">
            <a:avLst/>
          </a:prstGeom>
        </p:spPr>
      </p:pic>
      <p:sp>
        <p:nvSpPr>
          <p:cNvPr id="25" name="Text 18"/>
          <p:cNvSpPr/>
          <p:nvPr/>
        </p:nvSpPr>
        <p:spPr>
          <a:xfrm>
            <a:off x="7790688" y="3977640"/>
            <a:ext cx="2331720" cy="457200"/>
          </a:xfrm>
          <a:prstGeom prst="rect">
            <a:avLst/>
          </a:prstGeom>
          <a:noFill/>
          <a:ln/>
        </p:spPr>
        <p:txBody>
          <a:bodyPr wrap="square" lIns="0" tIns="0" rIns="0" bIns="0" rtlCol="0" anchor="ctr"/>
          <a:lstStyle/>
          <a:p>
            <a:pPr indent="0" marL="0">
              <a:buNone/>
            </a:pPr>
            <a:r>
              <a:rPr lang="en-US" sz="1550" b="1" dirty="0">
                <a:solidFill>
                  <a:srgbClr val="8E3556"/>
                </a:solidFill>
                <a:latin typeface="Noto Sans CJK JP" pitchFamily="34" charset="0"/>
                <a:ea typeface="Noto Sans CJK JP" pitchFamily="34" charset="-122"/>
                <a:cs typeface="Noto Sans CJK JP" pitchFamily="34" charset="-120"/>
              </a:rPr>
              <a:t>やり直しが無限化</a:t>
            </a:r>
            <a:endParaRPr lang="en-US" sz="1550" dirty="0"/>
          </a:p>
        </p:txBody>
      </p:sp>
      <p:sp>
        <p:nvSpPr>
          <p:cNvPr id="26" name="Text 19"/>
          <p:cNvSpPr/>
          <p:nvPr/>
        </p:nvSpPr>
        <p:spPr>
          <a:xfrm>
            <a:off x="7790688" y="4544568"/>
            <a:ext cx="2331720" cy="685800"/>
          </a:xfrm>
          <a:prstGeom prst="rect">
            <a:avLst/>
          </a:prstGeom>
          <a:noFill/>
          <a:ln/>
        </p:spPr>
        <p:txBody>
          <a:bodyPr wrap="square" lIns="0" tIns="0" rIns="0" bIns="0" rtlCol="0" anchor="ctr"/>
          <a:lstStyle/>
          <a:p>
            <a:pPr indent="0" marL="0">
              <a:lnSpc>
                <a:spcPct val="108000"/>
              </a:lnSpc>
              <a:buNone/>
            </a:pPr>
            <a:r>
              <a:rPr lang="en-US" sz="1200" dirty="0">
                <a:solidFill>
                  <a:srgbClr val="3A2C31"/>
                </a:solidFill>
                <a:latin typeface="Noto Sans CJK JP" pitchFamily="34" charset="0"/>
                <a:ea typeface="Noto Sans CJK JP" pitchFamily="34" charset="-122"/>
                <a:cs typeface="Noto Sans CJK JP" pitchFamily="34" charset="-120"/>
              </a:rPr>
              <a:t>変更と区別がない</a:t>
            </a:r>
            <a:endParaRPr lang="en-US" sz="1200" dirty="0"/>
          </a:p>
        </p:txBody>
      </p:sp>
      <p:sp>
        <p:nvSpPr>
          <p:cNvPr id="27" name="Shape 20"/>
          <p:cNvSpPr/>
          <p:nvPr/>
        </p:nvSpPr>
        <p:spPr>
          <a:xfrm>
            <a:off x="1005840" y="3703320"/>
            <a:ext cx="3657600" cy="1691640"/>
          </a:xfrm>
          <a:prstGeom prst="roundRect">
            <a:avLst>
              <a:gd name="adj" fmla="val 5405"/>
            </a:avLst>
          </a:prstGeom>
          <a:solidFill>
            <a:srgbClr val="FBF1F4"/>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28" name="Shape 21"/>
          <p:cNvSpPr/>
          <p:nvPr/>
        </p:nvSpPr>
        <p:spPr>
          <a:xfrm>
            <a:off x="1261872" y="4014216"/>
            <a:ext cx="822960" cy="822960"/>
          </a:xfrm>
          <a:prstGeom prst="ellipse">
            <a:avLst/>
          </a:prstGeom>
          <a:solidFill>
            <a:srgbClr val="B4587A"/>
          </a:solidFill>
          <a:ln/>
        </p:spPr>
      </p:sp>
      <p:pic>
        <p:nvPicPr>
          <p:cNvPr id="29" name="Image 5" descr="preencoded.png">    </p:cNvPr>
          <p:cNvPicPr>
            <a:picLocks noChangeAspect="1"/>
          </p:cNvPicPr>
          <p:nvPr/>
        </p:nvPicPr>
        <p:blipFill>
          <a:blip r:embed="rId6"/>
          <a:stretch>
            <a:fillRect/>
          </a:stretch>
        </p:blipFill>
        <p:spPr>
          <a:xfrm>
            <a:off x="1484071" y="4236415"/>
            <a:ext cx="378562" cy="378562"/>
          </a:xfrm>
          <a:prstGeom prst="rect">
            <a:avLst/>
          </a:prstGeom>
        </p:spPr>
      </p:pic>
      <p:sp>
        <p:nvSpPr>
          <p:cNvPr id="30" name="Text 22"/>
          <p:cNvSpPr/>
          <p:nvPr/>
        </p:nvSpPr>
        <p:spPr>
          <a:xfrm>
            <a:off x="2212848" y="3977640"/>
            <a:ext cx="2331720" cy="457200"/>
          </a:xfrm>
          <a:prstGeom prst="rect">
            <a:avLst/>
          </a:prstGeom>
          <a:noFill/>
          <a:ln/>
        </p:spPr>
        <p:txBody>
          <a:bodyPr wrap="square" lIns="0" tIns="0" rIns="0" bIns="0" rtlCol="0" anchor="ctr"/>
          <a:lstStyle/>
          <a:p>
            <a:pPr indent="0" marL="0">
              <a:buNone/>
            </a:pPr>
            <a:r>
              <a:rPr lang="en-US" sz="1550" b="1" dirty="0">
                <a:solidFill>
                  <a:srgbClr val="8E3556"/>
                </a:solidFill>
                <a:latin typeface="Noto Sans CJK JP" pitchFamily="34" charset="0"/>
                <a:ea typeface="Noto Sans CJK JP" pitchFamily="34" charset="-122"/>
                <a:cs typeface="Noto Sans CJK JP" pitchFamily="34" charset="-120"/>
              </a:rPr>
              <a:t>終盤に作り直し</a:t>
            </a:r>
            <a:endParaRPr lang="en-US" sz="1550" dirty="0"/>
          </a:p>
        </p:txBody>
      </p:sp>
      <p:sp>
        <p:nvSpPr>
          <p:cNvPr id="31" name="Text 23"/>
          <p:cNvSpPr/>
          <p:nvPr/>
        </p:nvSpPr>
        <p:spPr>
          <a:xfrm>
            <a:off x="2212848" y="4544568"/>
            <a:ext cx="2331720" cy="685800"/>
          </a:xfrm>
          <a:prstGeom prst="rect">
            <a:avLst/>
          </a:prstGeom>
          <a:noFill/>
          <a:ln/>
        </p:spPr>
        <p:txBody>
          <a:bodyPr wrap="square" lIns="0" tIns="0" rIns="0" bIns="0" rtlCol="0" anchor="ctr"/>
          <a:lstStyle/>
          <a:p>
            <a:pPr indent="0" marL="0">
              <a:lnSpc>
                <a:spcPct val="108000"/>
              </a:lnSpc>
              <a:buNone/>
            </a:pPr>
            <a:r>
              <a:rPr lang="en-US" sz="1200" dirty="0">
                <a:solidFill>
                  <a:srgbClr val="3A2C31"/>
                </a:solidFill>
                <a:latin typeface="Noto Sans CJK JP" pitchFamily="34" charset="0"/>
                <a:ea typeface="Noto Sans CJK JP" pitchFamily="34" charset="-122"/>
                <a:cs typeface="Noto Sans CJK JP" pitchFamily="34" charset="-120"/>
              </a:rPr>
              <a:t>“思ってたのと違う”</a:t>
            </a:r>
            <a:endParaRPr lang="en-US" sz="1200" dirty="0"/>
          </a:p>
        </p:txBody>
      </p:sp>
      <p:sp>
        <p:nvSpPr>
          <p:cNvPr id="32" name="Text 24"/>
          <p:cNvSpPr/>
          <p:nvPr/>
        </p:nvSpPr>
        <p:spPr>
          <a:xfrm>
            <a:off x="4892040" y="2377440"/>
            <a:ext cx="457200" cy="548640"/>
          </a:xfrm>
          <a:prstGeom prst="rect">
            <a:avLst/>
          </a:prstGeom>
          <a:noFill/>
          <a:ln/>
        </p:spPr>
        <p:txBody>
          <a:bodyPr wrap="square" lIns="0" tIns="0" rIns="0" bIns="0" rtlCol="0" anchor="ctr"/>
          <a:lstStyle/>
          <a:p>
            <a:pPr algn="ctr" indent="0" marL="0">
              <a:buNone/>
            </a:pPr>
            <a:r>
              <a:rPr lang="en-US" sz="2800" b="1" dirty="0">
                <a:solidFill>
                  <a:srgbClr val="B4587A"/>
                </a:solidFill>
                <a:latin typeface="Noto Sans CJK JP" pitchFamily="34" charset="0"/>
                <a:ea typeface="Noto Sans CJK JP" pitchFamily="34" charset="-122"/>
                <a:cs typeface="Noto Sans CJK JP" pitchFamily="34" charset="-120"/>
              </a:rPr>
              <a:t>→</a:t>
            </a:r>
            <a:endParaRPr lang="en-US" sz="2800" dirty="0"/>
          </a:p>
        </p:txBody>
      </p:sp>
      <p:sp>
        <p:nvSpPr>
          <p:cNvPr id="33" name="Text 25"/>
          <p:cNvSpPr/>
          <p:nvPr/>
        </p:nvSpPr>
        <p:spPr>
          <a:xfrm>
            <a:off x="4892040" y="4297680"/>
            <a:ext cx="457200" cy="548640"/>
          </a:xfrm>
          <a:prstGeom prst="rect">
            <a:avLst/>
          </a:prstGeom>
          <a:noFill/>
          <a:ln/>
        </p:spPr>
        <p:txBody>
          <a:bodyPr wrap="square" lIns="0" tIns="0" rIns="0" bIns="0" rtlCol="0" anchor="ctr"/>
          <a:lstStyle/>
          <a:p>
            <a:pPr algn="ctr" indent="0" marL="0">
              <a:buNone/>
            </a:pPr>
            <a:r>
              <a:rPr lang="en-US" sz="2800" b="1" dirty="0">
                <a:solidFill>
                  <a:srgbClr val="B4587A"/>
                </a:solidFill>
                <a:latin typeface="Noto Sans CJK JP" pitchFamily="34" charset="0"/>
                <a:ea typeface="Noto Sans CJK JP" pitchFamily="34" charset="-122"/>
                <a:cs typeface="Noto Sans CJK JP" pitchFamily="34" charset="-120"/>
              </a:rPr>
              <a:t>←</a:t>
            </a:r>
            <a:endParaRPr lang="en-US" sz="2800" dirty="0"/>
          </a:p>
        </p:txBody>
      </p:sp>
      <p:sp>
        <p:nvSpPr>
          <p:cNvPr id="34" name="Text 26"/>
          <p:cNvSpPr/>
          <p:nvPr/>
        </p:nvSpPr>
        <p:spPr>
          <a:xfrm>
            <a:off x="5074920" y="2971800"/>
            <a:ext cx="1097280" cy="914400"/>
          </a:xfrm>
          <a:prstGeom prst="rect">
            <a:avLst/>
          </a:prstGeom>
          <a:noFill/>
          <a:ln/>
        </p:spPr>
        <p:txBody>
          <a:bodyPr wrap="square" lIns="0" tIns="0" rIns="0" bIns="0" rtlCol="0" anchor="ctr"/>
          <a:lstStyle/>
          <a:p>
            <a:pPr algn="ctr" indent="0" marL="0">
              <a:buNone/>
            </a:pPr>
            <a:r>
              <a:rPr lang="en-US" sz="4600" b="1" dirty="0">
                <a:solidFill>
                  <a:srgbClr val="D98AA0"/>
                </a:solidFill>
                <a:latin typeface="Noto Sans CJK JP" pitchFamily="34" charset="0"/>
                <a:ea typeface="Noto Sans CJK JP" pitchFamily="34" charset="-122"/>
                <a:cs typeface="Noto Sans CJK JP" pitchFamily="34" charset="-120"/>
              </a:rPr>
              <a:t>↻</a:t>
            </a:r>
            <a:endParaRPr lang="en-US" sz="4600" dirty="0"/>
          </a:p>
        </p:txBody>
      </p:sp>
      <p:sp>
        <p:nvSpPr>
          <p:cNvPr id="35" name="Text 27"/>
          <p:cNvSpPr/>
          <p:nvPr/>
        </p:nvSpPr>
        <p:spPr>
          <a:xfrm>
            <a:off x="7955280" y="3383280"/>
            <a:ext cx="457200" cy="365760"/>
          </a:xfrm>
          <a:prstGeom prst="rect">
            <a:avLst/>
          </a:prstGeom>
          <a:noFill/>
          <a:ln/>
        </p:spPr>
        <p:txBody>
          <a:bodyPr wrap="square" lIns="0" tIns="0" rIns="0" bIns="0" rtlCol="0" anchor="ctr"/>
          <a:lstStyle/>
          <a:p>
            <a:pPr algn="ctr" indent="0" marL="0">
              <a:buNone/>
            </a:pPr>
            <a:r>
              <a:rPr lang="en-US" sz="2200" b="1" dirty="0">
                <a:solidFill>
                  <a:srgbClr val="B4587A"/>
                </a:solidFill>
                <a:latin typeface="Noto Sans CJK JP" pitchFamily="34" charset="0"/>
                <a:ea typeface="Noto Sans CJK JP" pitchFamily="34" charset="-122"/>
                <a:cs typeface="Noto Sans CJK JP" pitchFamily="34" charset="-120"/>
              </a:rPr>
              <a:t>↓</a:t>
            </a:r>
            <a:endParaRPr lang="en-US" sz="2200" dirty="0"/>
          </a:p>
        </p:txBody>
      </p:sp>
      <p:sp>
        <p:nvSpPr>
          <p:cNvPr id="36" name="Text 28"/>
          <p:cNvSpPr/>
          <p:nvPr/>
        </p:nvSpPr>
        <p:spPr>
          <a:xfrm>
            <a:off x="2743200" y="3383280"/>
            <a:ext cx="457200" cy="365760"/>
          </a:xfrm>
          <a:prstGeom prst="rect">
            <a:avLst/>
          </a:prstGeom>
          <a:noFill/>
          <a:ln/>
        </p:spPr>
        <p:txBody>
          <a:bodyPr wrap="square" lIns="0" tIns="0" rIns="0" bIns="0" rtlCol="0" anchor="ctr"/>
          <a:lstStyle/>
          <a:p>
            <a:pPr algn="ctr" indent="0" marL="0">
              <a:buNone/>
            </a:pPr>
            <a:r>
              <a:rPr lang="en-US" sz="2200" b="1" dirty="0">
                <a:solidFill>
                  <a:srgbClr val="B4587A"/>
                </a:solidFill>
                <a:latin typeface="Noto Sans CJK JP" pitchFamily="34" charset="0"/>
                <a:ea typeface="Noto Sans CJK JP" pitchFamily="34" charset="-122"/>
                <a:cs typeface="Noto Sans CJK JP" pitchFamily="34" charset="-120"/>
              </a:rPr>
              <a:t>↑</a:t>
            </a:r>
            <a:endParaRPr lang="en-US" sz="2200" dirty="0"/>
          </a:p>
        </p:txBody>
      </p:sp>
      <p:sp>
        <p:nvSpPr>
          <p:cNvPr id="37" name="Shape 29"/>
          <p:cNvSpPr/>
          <p:nvPr/>
        </p:nvSpPr>
        <p:spPr>
          <a:xfrm>
            <a:off x="502920" y="5623560"/>
            <a:ext cx="11155680" cy="713232"/>
          </a:xfrm>
          <a:prstGeom prst="roundRect">
            <a:avLst>
              <a:gd name="adj" fmla="val 12821"/>
            </a:avLst>
          </a:prstGeom>
          <a:solidFill>
            <a:srgbClr val="FBF1F4"/>
          </a:solidFill>
          <a:ln w="12700">
            <a:solidFill>
              <a:srgbClr val="EBB4C4"/>
            </a:solidFill>
            <a:prstDash val="solid"/>
          </a:ln>
        </p:spPr>
      </p:sp>
      <p:pic>
        <p:nvPicPr>
          <p:cNvPr id="38" name="Image 6" descr="preencoded.png">    </p:cNvPr>
          <p:cNvPicPr>
            <a:picLocks noChangeAspect="1"/>
          </p:cNvPicPr>
          <p:nvPr/>
        </p:nvPicPr>
        <p:blipFill>
          <a:blip r:embed="rId7"/>
          <a:stretch>
            <a:fillRect/>
          </a:stretch>
        </p:blipFill>
        <p:spPr>
          <a:xfrm>
            <a:off x="704088" y="5696712"/>
            <a:ext cx="566928" cy="566928"/>
          </a:xfrm>
          <a:prstGeom prst="rect">
            <a:avLst/>
          </a:prstGeom>
        </p:spPr>
      </p:pic>
      <p:sp>
        <p:nvSpPr>
          <p:cNvPr id="39" name="Text 30"/>
          <p:cNvSpPr/>
          <p:nvPr/>
        </p:nvSpPr>
        <p:spPr>
          <a:xfrm>
            <a:off x="1463040" y="5623560"/>
            <a:ext cx="9966960" cy="713232"/>
          </a:xfrm>
          <a:prstGeom prst="rect">
            <a:avLst/>
          </a:prstGeom>
          <a:noFill/>
          <a:ln/>
        </p:spPr>
        <p:txBody>
          <a:bodyPr wrap="square" lIns="0" tIns="0" rIns="0" bIns="0" rtlCol="0" anchor="ctr"/>
          <a:lstStyle/>
          <a:p>
            <a:pPr indent="0" marL="0">
              <a:lnSpc>
                <a:spcPct val="114000"/>
              </a:lnSpc>
              <a:buNone/>
            </a:pPr>
            <a:r>
              <a:rPr lang="en-US" sz="1350" b="1" dirty="0">
                <a:solidFill>
                  <a:srgbClr val="8E3556"/>
                </a:solidFill>
                <a:latin typeface="Noto Sans CJK JP" pitchFamily="34" charset="0"/>
                <a:ea typeface="Noto Sans CJK JP" pitchFamily="34" charset="-122"/>
                <a:cs typeface="Noto Sans CJK JP" pitchFamily="34" charset="-120"/>
              </a:rPr>
              <a:t>考える　</a:t>
            </a:r>
            <a:pPr indent="0" marL="0">
              <a:lnSpc>
                <a:spcPct val="114000"/>
              </a:lnSpc>
              <a:buNone/>
            </a:pPr>
            <a:r>
              <a:rPr lang="en-US" sz="1350" dirty="0">
                <a:solidFill>
                  <a:srgbClr val="3A2C31"/>
                </a:solidFill>
                <a:latin typeface="Noto Sans CJK JP" pitchFamily="34" charset="0"/>
                <a:ea typeface="Noto Sans CJK JP" pitchFamily="34" charset="-122"/>
                <a:cs typeface="Noto Sans CJK JP" pitchFamily="34" charset="-120"/>
              </a:rPr>
              <a:t>あなたの直近の案件は、この4つのどこから崩れましたか？　崩れた“入口”を1つ思い浮かべてみてください。</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10896"/>
          </a:xfrm>
          <a:prstGeom prst="rect">
            <a:avLst/>
          </a:prstGeom>
          <a:solidFill>
            <a:srgbClr val="574039"/>
          </a:solidFill>
          <a:ln/>
        </p:spPr>
      </p:sp>
      <p:pic>
        <p:nvPicPr>
          <p:cNvPr id="3" name="Image 0" descr="preencoded.png">    </p:cNvPr>
          <p:cNvPicPr>
            <a:picLocks noChangeAspect="1"/>
          </p:cNvPicPr>
          <p:nvPr/>
        </p:nvPicPr>
        <p:blipFill>
          <a:blip r:embed="rId1"/>
          <a:stretch>
            <a:fillRect/>
          </a:stretch>
        </p:blipFill>
        <p:spPr>
          <a:xfrm>
            <a:off x="457200" y="54864"/>
            <a:ext cx="201168" cy="201168"/>
          </a:xfrm>
          <a:prstGeom prst="rect">
            <a:avLst/>
          </a:prstGeom>
        </p:spPr>
      </p:pic>
      <p:sp>
        <p:nvSpPr>
          <p:cNvPr id="4" name="Text 1"/>
          <p:cNvSpPr/>
          <p:nvPr/>
        </p:nvSpPr>
        <p:spPr>
          <a:xfrm>
            <a:off x="731520" y="0"/>
            <a:ext cx="4572000" cy="310896"/>
          </a:xfrm>
          <a:prstGeom prst="rect">
            <a:avLst/>
          </a:prstGeom>
          <a:noFill/>
          <a:ln/>
        </p:spPr>
        <p:txBody>
          <a:bodyPr wrap="square" lIns="0" tIns="0" rIns="0" bIns="0" rtlCol="0" anchor="ctr"/>
          <a:lstStyle/>
          <a:p>
            <a:pPr indent="0" marL="0">
              <a:buNone/>
            </a:pPr>
            <a:r>
              <a:rPr lang="en-US" sz="1000" dirty="0">
                <a:solidFill>
                  <a:srgbClr val="F4E9E2"/>
                </a:solidFill>
                <a:latin typeface="Noto Sans CJK JP" pitchFamily="34" charset="0"/>
                <a:ea typeface="Noto Sans CJK JP" pitchFamily="34" charset="-122"/>
                <a:cs typeface="Noto Sans CJK JP" pitchFamily="34" charset="-120"/>
              </a:rPr>
              <a:t>うさうさ研修工房</a:t>
            </a:r>
            <a:endParaRPr lang="en-US" sz="1000" dirty="0"/>
          </a:p>
        </p:txBody>
      </p:sp>
      <p:sp>
        <p:nvSpPr>
          <p:cNvPr id="5" name="Text 2"/>
          <p:cNvSpPr/>
          <p:nvPr/>
        </p:nvSpPr>
        <p:spPr>
          <a:xfrm>
            <a:off x="7132320" y="0"/>
            <a:ext cx="45720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合意設計 ・ 考えさせる編</a:t>
            </a:r>
            <a:endParaRPr lang="en-US" sz="1000" dirty="0"/>
          </a:p>
        </p:txBody>
      </p:sp>
      <p:sp>
        <p:nvSpPr>
          <p:cNvPr id="6" name="Shape 3"/>
          <p:cNvSpPr/>
          <p:nvPr/>
        </p:nvSpPr>
        <p:spPr>
          <a:xfrm>
            <a:off x="0" y="6547104"/>
            <a:ext cx="12161520" cy="310896"/>
          </a:xfrm>
          <a:prstGeom prst="rect">
            <a:avLst/>
          </a:prstGeom>
          <a:solidFill>
            <a:srgbClr val="574039"/>
          </a:solidFill>
          <a:ln/>
        </p:spPr>
      </p:sp>
      <p:pic>
        <p:nvPicPr>
          <p:cNvPr id="7" name="Image 1" descr="preencoded.png">    </p:cNvPr>
          <p:cNvPicPr>
            <a:picLocks noChangeAspect="1"/>
          </p:cNvPicPr>
          <p:nvPr/>
        </p:nvPicPr>
        <p:blipFill>
          <a:blip r:embed="rId2"/>
          <a:stretch>
            <a:fillRect/>
          </a:stretch>
        </p:blipFill>
        <p:spPr>
          <a:xfrm>
            <a:off x="457200" y="6601968"/>
            <a:ext cx="201168" cy="201168"/>
          </a:xfrm>
          <a:prstGeom prst="rect">
            <a:avLst/>
          </a:prstGeom>
        </p:spPr>
      </p:pic>
      <p:sp>
        <p:nvSpPr>
          <p:cNvPr id="8" name="Text 4"/>
          <p:cNvSpPr/>
          <p:nvPr/>
        </p:nvSpPr>
        <p:spPr>
          <a:xfrm>
            <a:off x="731520" y="6547104"/>
            <a:ext cx="5486400" cy="310896"/>
          </a:xfrm>
          <a:prstGeom prst="rect">
            <a:avLst/>
          </a:prstGeom>
          <a:noFill/>
          <a:ln/>
        </p:spPr>
        <p:txBody>
          <a:bodyPr wrap="square" lIns="0" tIns="0" rIns="0" bIns="0" rtlCol="0" anchor="ctr"/>
          <a:lstStyle/>
          <a:p>
            <a:pPr indent="0" marL="0">
              <a:buNone/>
            </a:pPr>
            <a:r>
              <a:rPr lang="en-US" sz="950" dirty="0">
                <a:solidFill>
                  <a:srgbClr val="F4E9E2"/>
                </a:solidFill>
                <a:latin typeface="Noto Sans CJK JP" pitchFamily="34" charset="0"/>
                <a:ea typeface="Noto Sans CJK JP" pitchFamily="34" charset="-122"/>
                <a:cs typeface="Noto Sans CJK JP" pitchFamily="34" charset="-120"/>
              </a:rPr>
              <a:t>面白きこともなき世を面白く 🐰</a:t>
            </a:r>
            <a:endParaRPr lang="en-US" sz="950" dirty="0"/>
          </a:p>
        </p:txBody>
      </p:sp>
      <p:sp>
        <p:nvSpPr>
          <p:cNvPr id="9" name="Text 5"/>
          <p:cNvSpPr/>
          <p:nvPr/>
        </p:nvSpPr>
        <p:spPr>
          <a:xfrm>
            <a:off x="11247120" y="6547104"/>
            <a:ext cx="4572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4</a:t>
            </a:r>
            <a:endParaRPr lang="en-US" sz="1000" dirty="0"/>
          </a:p>
        </p:txBody>
      </p:sp>
      <p:sp>
        <p:nvSpPr>
          <p:cNvPr id="10" name="Text 6"/>
          <p:cNvSpPr/>
          <p:nvPr/>
        </p:nvSpPr>
        <p:spPr>
          <a:xfrm>
            <a:off x="502920" y="457200"/>
            <a:ext cx="10972800" cy="594360"/>
          </a:xfrm>
          <a:prstGeom prst="rect">
            <a:avLst/>
          </a:prstGeom>
          <a:noFill/>
          <a:ln/>
        </p:spPr>
        <p:txBody>
          <a:bodyPr wrap="square" lIns="0" tIns="0" rIns="0" bIns="0" rtlCol="0" anchor="ctr"/>
          <a:lstStyle/>
          <a:p>
            <a:pPr indent="0" marL="0">
              <a:buNone/>
            </a:pPr>
            <a:r>
              <a:rPr lang="en-US" sz="2800" b="1" dirty="0">
                <a:solidFill>
                  <a:srgbClr val="8E3556"/>
                </a:solidFill>
                <a:latin typeface="Noto Sans CJK JP" pitchFamily="34" charset="0"/>
                <a:ea typeface="Noto Sans CJK JP" pitchFamily="34" charset="-122"/>
                <a:cs typeface="Noto Sans CJK JP" pitchFamily="34" charset="-120"/>
              </a:rPr>
              <a:t>なぜ放っておくと、必ず曖昧になるのか</a:t>
            </a:r>
            <a:endParaRPr lang="en-US" sz="2800" dirty="0"/>
          </a:p>
        </p:txBody>
      </p:sp>
      <p:sp>
        <p:nvSpPr>
          <p:cNvPr id="11" name="Text 7"/>
          <p:cNvSpPr/>
          <p:nvPr/>
        </p:nvSpPr>
        <p:spPr>
          <a:xfrm>
            <a:off x="521208" y="1078992"/>
            <a:ext cx="10972800" cy="320040"/>
          </a:xfrm>
          <a:prstGeom prst="rect">
            <a:avLst/>
          </a:prstGeom>
          <a:noFill/>
          <a:ln/>
        </p:spPr>
        <p:txBody>
          <a:bodyPr wrap="square" lIns="0" tIns="0" rIns="0" bIns="0" rtlCol="0" anchor="ctr"/>
          <a:lstStyle/>
          <a:p>
            <a:pPr indent="0" marL="0">
              <a:buNone/>
            </a:pPr>
            <a:r>
              <a:rPr lang="en-US" sz="1350" dirty="0">
                <a:solidFill>
                  <a:srgbClr val="9A8890"/>
                </a:solidFill>
                <a:latin typeface="Noto Sans CJK JP" pitchFamily="34" charset="0"/>
                <a:ea typeface="Noto Sans CJK JP" pitchFamily="34" charset="-122"/>
                <a:cs typeface="Noto Sans CJK JP" pitchFamily="34" charset="-120"/>
              </a:rPr>
              <a:t>「気合い不足」ではなく、人間の標準仕様。3つの研究が構造を説明します。</a:t>
            </a:r>
            <a:endParaRPr lang="en-US" sz="1350" dirty="0"/>
          </a:p>
        </p:txBody>
      </p:sp>
      <p:sp>
        <p:nvSpPr>
          <p:cNvPr id="12" name="Shape 8"/>
          <p:cNvSpPr/>
          <p:nvPr/>
        </p:nvSpPr>
        <p:spPr>
          <a:xfrm>
            <a:off x="502920" y="1691640"/>
            <a:ext cx="3657600" cy="3154680"/>
          </a:xfrm>
          <a:prstGeom prst="roundRect">
            <a:avLst>
              <a:gd name="adj" fmla="val 2899"/>
            </a:avLst>
          </a:prstGeom>
          <a:solidFill>
            <a:srgbClr val="FDF8FA"/>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13" name="Shape 9"/>
          <p:cNvSpPr/>
          <p:nvPr/>
        </p:nvSpPr>
        <p:spPr>
          <a:xfrm>
            <a:off x="795528" y="1938528"/>
            <a:ext cx="822960" cy="822960"/>
          </a:xfrm>
          <a:prstGeom prst="ellipse">
            <a:avLst/>
          </a:prstGeom>
          <a:solidFill>
            <a:srgbClr val="B4587A"/>
          </a:solidFill>
          <a:ln/>
        </p:spPr>
      </p:sp>
      <p:pic>
        <p:nvPicPr>
          <p:cNvPr id="14" name="Image 2" descr="preencoded.png">    </p:cNvPr>
          <p:cNvPicPr>
            <a:picLocks noChangeAspect="1"/>
          </p:cNvPicPr>
          <p:nvPr/>
        </p:nvPicPr>
        <p:blipFill>
          <a:blip r:embed="rId3"/>
          <a:stretch>
            <a:fillRect/>
          </a:stretch>
        </p:blipFill>
        <p:spPr>
          <a:xfrm>
            <a:off x="1017727" y="2160727"/>
            <a:ext cx="378562" cy="378562"/>
          </a:xfrm>
          <a:prstGeom prst="rect">
            <a:avLst/>
          </a:prstGeom>
        </p:spPr>
      </p:pic>
      <p:sp>
        <p:nvSpPr>
          <p:cNvPr id="15" name="Text 10"/>
          <p:cNvSpPr/>
          <p:nvPr/>
        </p:nvSpPr>
        <p:spPr>
          <a:xfrm>
            <a:off x="1764792" y="1920240"/>
            <a:ext cx="2240280" cy="868680"/>
          </a:xfrm>
          <a:prstGeom prst="rect">
            <a:avLst/>
          </a:prstGeom>
          <a:noFill/>
          <a:ln/>
        </p:spPr>
        <p:txBody>
          <a:bodyPr wrap="square" lIns="0" tIns="0" rIns="0" bIns="0" rtlCol="0" anchor="ctr"/>
          <a:lstStyle/>
          <a:p>
            <a:pPr indent="0" marL="0">
              <a:lnSpc>
                <a:spcPct val="100000"/>
              </a:lnSpc>
              <a:buNone/>
            </a:pPr>
            <a:r>
              <a:rPr lang="en-US" sz="1550" b="1" dirty="0">
                <a:solidFill>
                  <a:srgbClr val="8E3556"/>
                </a:solidFill>
                <a:latin typeface="Noto Sans CJK JP" pitchFamily="34" charset="0"/>
                <a:ea typeface="Noto Sans CJK JP" pitchFamily="34" charset="-122"/>
                <a:cs typeface="Noto Sans CJK JP" pitchFamily="34" charset="-120"/>
              </a:rPr>
              <a:t>プランニング・</a:t>
            </a:r>
            <a:endParaRPr lang="en-US" sz="1550" dirty="0"/>
          </a:p>
          <a:p>
            <a:pPr indent="0" marL="0">
              <a:lnSpc>
                <a:spcPct val="100000"/>
              </a:lnSpc>
              <a:buNone/>
            </a:pPr>
            <a:r>
              <a:rPr lang="en-US" sz="1550" b="1" dirty="0">
                <a:solidFill>
                  <a:srgbClr val="8E3556"/>
                </a:solidFill>
                <a:latin typeface="Noto Sans CJK JP" pitchFamily="34" charset="0"/>
                <a:ea typeface="Noto Sans CJK JP" pitchFamily="34" charset="-122"/>
                <a:cs typeface="Noto Sans CJK JP" pitchFamily="34" charset="-120"/>
              </a:rPr>
              <a:t>ファラシー</a:t>
            </a:r>
            <a:endParaRPr lang="en-US" sz="1550" dirty="0"/>
          </a:p>
        </p:txBody>
      </p:sp>
      <p:sp>
        <p:nvSpPr>
          <p:cNvPr id="16" name="Text 11"/>
          <p:cNvSpPr/>
          <p:nvPr/>
        </p:nvSpPr>
        <p:spPr>
          <a:xfrm>
            <a:off x="813816" y="3017520"/>
            <a:ext cx="3035808" cy="1188720"/>
          </a:xfrm>
          <a:prstGeom prst="rect">
            <a:avLst/>
          </a:prstGeom>
          <a:noFill/>
          <a:ln/>
        </p:spPr>
        <p:txBody>
          <a:bodyPr wrap="square" lIns="0" tIns="0" rIns="0" bIns="0" rtlCol="0" anchor="ctr"/>
          <a:lstStyle/>
          <a:p>
            <a:pPr indent="0" marL="0">
              <a:lnSpc>
                <a:spcPct val="115000"/>
              </a:lnSpc>
              <a:buNone/>
            </a:pPr>
            <a:r>
              <a:rPr lang="en-US" sz="1250" dirty="0">
                <a:solidFill>
                  <a:srgbClr val="3A2C31"/>
                </a:solidFill>
                <a:latin typeface="Noto Sans CJK JP" pitchFamily="34" charset="0"/>
                <a:ea typeface="Noto Sans CJK JP" pitchFamily="34" charset="-122"/>
                <a:cs typeface="Noto Sans CJK JP" pitchFamily="34" charset="-120"/>
              </a:rPr>
              <a:t>自分の作業は実際より短く見積もる。99%確実の締切に間に合った人は半数未満。</a:t>
            </a:r>
            <a:endParaRPr lang="en-US" sz="1250" dirty="0"/>
          </a:p>
        </p:txBody>
      </p:sp>
      <p:sp>
        <p:nvSpPr>
          <p:cNvPr id="17" name="Text 12"/>
          <p:cNvSpPr/>
          <p:nvPr/>
        </p:nvSpPr>
        <p:spPr>
          <a:xfrm>
            <a:off x="813816" y="4370832"/>
            <a:ext cx="3035808" cy="365760"/>
          </a:xfrm>
          <a:prstGeom prst="rect">
            <a:avLst/>
          </a:prstGeom>
          <a:noFill/>
          <a:ln/>
        </p:spPr>
        <p:txBody>
          <a:bodyPr wrap="square" lIns="0" tIns="0" rIns="0" bIns="0" rtlCol="0" anchor="ctr"/>
          <a:lstStyle/>
          <a:p>
            <a:pPr indent="0" marL="0">
              <a:buNone/>
            </a:pPr>
            <a:r>
              <a:rPr lang="en-US" sz="1050" i="1" dirty="0">
                <a:solidFill>
                  <a:srgbClr val="B4587A"/>
                </a:solidFill>
                <a:latin typeface="Noto Sans CJK JP" pitchFamily="34" charset="0"/>
                <a:ea typeface="Noto Sans CJK JP" pitchFamily="34" charset="-122"/>
                <a:cs typeface="Noto Sans CJK JP" pitchFamily="34" charset="-120"/>
              </a:rPr>
              <a:t>Buehler, Griffin &amp; Ross (1994)</a:t>
            </a:r>
            <a:endParaRPr lang="en-US" sz="1050" dirty="0"/>
          </a:p>
        </p:txBody>
      </p:sp>
      <p:sp>
        <p:nvSpPr>
          <p:cNvPr id="18" name="Shape 13"/>
          <p:cNvSpPr/>
          <p:nvPr/>
        </p:nvSpPr>
        <p:spPr>
          <a:xfrm>
            <a:off x="4407408" y="1691640"/>
            <a:ext cx="3657600" cy="3154680"/>
          </a:xfrm>
          <a:prstGeom prst="roundRect">
            <a:avLst>
              <a:gd name="adj" fmla="val 2899"/>
            </a:avLst>
          </a:prstGeom>
          <a:solidFill>
            <a:srgbClr val="FDF8FA"/>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19" name="Shape 14"/>
          <p:cNvSpPr/>
          <p:nvPr/>
        </p:nvSpPr>
        <p:spPr>
          <a:xfrm>
            <a:off x="4700016" y="1938528"/>
            <a:ext cx="822960" cy="822960"/>
          </a:xfrm>
          <a:prstGeom prst="ellipse">
            <a:avLst/>
          </a:prstGeom>
          <a:solidFill>
            <a:srgbClr val="B4587A"/>
          </a:solidFill>
          <a:ln/>
        </p:spPr>
      </p:sp>
      <p:pic>
        <p:nvPicPr>
          <p:cNvPr id="20" name="Image 3" descr="preencoded.png">    </p:cNvPr>
          <p:cNvPicPr>
            <a:picLocks noChangeAspect="1"/>
          </p:cNvPicPr>
          <p:nvPr/>
        </p:nvPicPr>
        <p:blipFill>
          <a:blip r:embed="rId4"/>
          <a:stretch>
            <a:fillRect/>
          </a:stretch>
        </p:blipFill>
        <p:spPr>
          <a:xfrm>
            <a:off x="4922215" y="2160727"/>
            <a:ext cx="378562" cy="378562"/>
          </a:xfrm>
          <a:prstGeom prst="rect">
            <a:avLst/>
          </a:prstGeom>
        </p:spPr>
      </p:pic>
      <p:sp>
        <p:nvSpPr>
          <p:cNvPr id="21" name="Text 15"/>
          <p:cNvSpPr/>
          <p:nvPr/>
        </p:nvSpPr>
        <p:spPr>
          <a:xfrm>
            <a:off x="5669280" y="1920240"/>
            <a:ext cx="2240280" cy="868680"/>
          </a:xfrm>
          <a:prstGeom prst="rect">
            <a:avLst/>
          </a:prstGeom>
          <a:noFill/>
          <a:ln/>
        </p:spPr>
        <p:txBody>
          <a:bodyPr wrap="square" lIns="0" tIns="0" rIns="0" bIns="0" rtlCol="0" anchor="ctr"/>
          <a:lstStyle/>
          <a:p>
            <a:pPr indent="0" marL="0">
              <a:lnSpc>
                <a:spcPct val="100000"/>
              </a:lnSpc>
              <a:buNone/>
            </a:pPr>
            <a:r>
              <a:rPr lang="en-US" sz="1550" b="1" dirty="0">
                <a:solidFill>
                  <a:srgbClr val="8E3556"/>
                </a:solidFill>
                <a:latin typeface="Noto Sans CJK JP" pitchFamily="34" charset="0"/>
                <a:ea typeface="Noto Sans CJK JP" pitchFamily="34" charset="-122"/>
                <a:cs typeface="Noto Sans CJK JP" pitchFamily="34" charset="-120"/>
              </a:rPr>
              <a:t>コミットメントの</a:t>
            </a:r>
            <a:endParaRPr lang="en-US" sz="1550" dirty="0"/>
          </a:p>
          <a:p>
            <a:pPr indent="0" marL="0">
              <a:lnSpc>
                <a:spcPct val="100000"/>
              </a:lnSpc>
              <a:buNone/>
            </a:pPr>
            <a:r>
              <a:rPr lang="en-US" sz="1550" b="1" dirty="0">
                <a:solidFill>
                  <a:srgbClr val="8E3556"/>
                </a:solidFill>
                <a:latin typeface="Noto Sans CJK JP" pitchFamily="34" charset="0"/>
                <a:ea typeface="Noto Sans CJK JP" pitchFamily="34" charset="-122"/>
                <a:cs typeface="Noto Sans CJK JP" pitchFamily="34" charset="-120"/>
              </a:rPr>
              <a:t>エスカレーション</a:t>
            </a:r>
            <a:endParaRPr lang="en-US" sz="1550" dirty="0"/>
          </a:p>
        </p:txBody>
      </p:sp>
      <p:sp>
        <p:nvSpPr>
          <p:cNvPr id="22" name="Text 16"/>
          <p:cNvSpPr/>
          <p:nvPr/>
        </p:nvSpPr>
        <p:spPr>
          <a:xfrm>
            <a:off x="4718304" y="3017520"/>
            <a:ext cx="3035808" cy="1188720"/>
          </a:xfrm>
          <a:prstGeom prst="rect">
            <a:avLst/>
          </a:prstGeom>
          <a:noFill/>
          <a:ln/>
        </p:spPr>
        <p:txBody>
          <a:bodyPr wrap="square" lIns="0" tIns="0" rIns="0" bIns="0" rtlCol="0" anchor="ctr"/>
          <a:lstStyle/>
          <a:p>
            <a:pPr indent="0" marL="0">
              <a:lnSpc>
                <a:spcPct val="115000"/>
              </a:lnSpc>
              <a:buNone/>
            </a:pPr>
            <a:r>
              <a:rPr lang="en-US" sz="1250" dirty="0">
                <a:solidFill>
                  <a:srgbClr val="3A2C31"/>
                </a:solidFill>
                <a:latin typeface="Noto Sans CJK JP" pitchFamily="34" charset="0"/>
                <a:ea typeface="Noto Sans CJK JP" pitchFamily="34" charset="-122"/>
                <a:cs typeface="Noto Sans CJK JP" pitchFamily="34" charset="-120"/>
              </a:rPr>
              <a:t>自分が始めた失敗案件ほど損切りできず、さらに資源を注ぐ（サンクコスト）。</a:t>
            </a:r>
            <a:endParaRPr lang="en-US" sz="1250" dirty="0"/>
          </a:p>
        </p:txBody>
      </p:sp>
      <p:sp>
        <p:nvSpPr>
          <p:cNvPr id="23" name="Text 17"/>
          <p:cNvSpPr/>
          <p:nvPr/>
        </p:nvSpPr>
        <p:spPr>
          <a:xfrm>
            <a:off x="4718304" y="4370832"/>
            <a:ext cx="3035808" cy="365760"/>
          </a:xfrm>
          <a:prstGeom prst="rect">
            <a:avLst/>
          </a:prstGeom>
          <a:noFill/>
          <a:ln/>
        </p:spPr>
        <p:txBody>
          <a:bodyPr wrap="square" lIns="0" tIns="0" rIns="0" bIns="0" rtlCol="0" anchor="ctr"/>
          <a:lstStyle/>
          <a:p>
            <a:pPr indent="0" marL="0">
              <a:buNone/>
            </a:pPr>
            <a:r>
              <a:rPr lang="en-US" sz="1050" i="1" dirty="0">
                <a:solidFill>
                  <a:srgbClr val="B4587A"/>
                </a:solidFill>
                <a:latin typeface="Noto Sans CJK JP" pitchFamily="34" charset="0"/>
                <a:ea typeface="Noto Sans CJK JP" pitchFamily="34" charset="-122"/>
                <a:cs typeface="Noto Sans CJK JP" pitchFamily="34" charset="-120"/>
              </a:rPr>
              <a:t>Staw (1976)</a:t>
            </a:r>
            <a:endParaRPr lang="en-US" sz="1050" dirty="0"/>
          </a:p>
        </p:txBody>
      </p:sp>
      <p:sp>
        <p:nvSpPr>
          <p:cNvPr id="24" name="Shape 18"/>
          <p:cNvSpPr/>
          <p:nvPr/>
        </p:nvSpPr>
        <p:spPr>
          <a:xfrm>
            <a:off x="8311896" y="1691640"/>
            <a:ext cx="3657600" cy="3154680"/>
          </a:xfrm>
          <a:prstGeom prst="roundRect">
            <a:avLst>
              <a:gd name="adj" fmla="val 2899"/>
            </a:avLst>
          </a:prstGeom>
          <a:solidFill>
            <a:srgbClr val="FDF8FA"/>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25" name="Shape 19"/>
          <p:cNvSpPr/>
          <p:nvPr/>
        </p:nvSpPr>
        <p:spPr>
          <a:xfrm>
            <a:off x="8604504" y="1938528"/>
            <a:ext cx="822960" cy="822960"/>
          </a:xfrm>
          <a:prstGeom prst="ellipse">
            <a:avLst/>
          </a:prstGeom>
          <a:solidFill>
            <a:srgbClr val="B4587A"/>
          </a:solidFill>
          <a:ln/>
        </p:spPr>
      </p:sp>
      <p:pic>
        <p:nvPicPr>
          <p:cNvPr id="26" name="Image 4" descr="preencoded.png">    </p:cNvPr>
          <p:cNvPicPr>
            <a:picLocks noChangeAspect="1"/>
          </p:cNvPicPr>
          <p:nvPr/>
        </p:nvPicPr>
        <p:blipFill>
          <a:blip r:embed="rId5"/>
          <a:stretch>
            <a:fillRect/>
          </a:stretch>
        </p:blipFill>
        <p:spPr>
          <a:xfrm>
            <a:off x="8826703" y="2160727"/>
            <a:ext cx="378562" cy="378562"/>
          </a:xfrm>
          <a:prstGeom prst="rect">
            <a:avLst/>
          </a:prstGeom>
        </p:spPr>
      </p:pic>
      <p:sp>
        <p:nvSpPr>
          <p:cNvPr id="27" name="Text 20"/>
          <p:cNvSpPr/>
          <p:nvPr/>
        </p:nvSpPr>
        <p:spPr>
          <a:xfrm>
            <a:off x="9573768" y="1920240"/>
            <a:ext cx="2240280" cy="868680"/>
          </a:xfrm>
          <a:prstGeom prst="rect">
            <a:avLst/>
          </a:prstGeom>
          <a:noFill/>
          <a:ln/>
        </p:spPr>
        <p:txBody>
          <a:bodyPr wrap="square" lIns="0" tIns="0" rIns="0" bIns="0" rtlCol="0" anchor="ctr"/>
          <a:lstStyle/>
          <a:p>
            <a:pPr indent="0" marL="0">
              <a:lnSpc>
                <a:spcPct val="100000"/>
              </a:lnSpc>
              <a:buNone/>
            </a:pPr>
            <a:r>
              <a:rPr lang="en-US" sz="1550" b="1" dirty="0">
                <a:solidFill>
                  <a:srgbClr val="8E3556"/>
                </a:solidFill>
                <a:latin typeface="Noto Sans CJK JP" pitchFamily="34" charset="0"/>
                <a:ea typeface="Noto Sans CJK JP" pitchFamily="34" charset="-122"/>
                <a:cs typeface="Noto Sans CJK JP" pitchFamily="34" charset="-120"/>
              </a:rPr>
              <a:t>スコープ</a:t>
            </a:r>
            <a:endParaRPr lang="en-US" sz="1550" dirty="0"/>
          </a:p>
          <a:p>
            <a:pPr indent="0" marL="0">
              <a:lnSpc>
                <a:spcPct val="100000"/>
              </a:lnSpc>
              <a:buNone/>
            </a:pPr>
            <a:r>
              <a:rPr lang="en-US" sz="1550" b="1" dirty="0">
                <a:solidFill>
                  <a:srgbClr val="8E3556"/>
                </a:solidFill>
                <a:latin typeface="Noto Sans CJK JP" pitchFamily="34" charset="0"/>
                <a:ea typeface="Noto Sans CJK JP" pitchFamily="34" charset="-122"/>
                <a:cs typeface="Noto Sans CJK JP" pitchFamily="34" charset="-120"/>
              </a:rPr>
              <a:t>クリープ</a:t>
            </a:r>
            <a:endParaRPr lang="en-US" sz="1550" dirty="0"/>
          </a:p>
        </p:txBody>
      </p:sp>
      <p:sp>
        <p:nvSpPr>
          <p:cNvPr id="28" name="Text 21"/>
          <p:cNvSpPr/>
          <p:nvPr/>
        </p:nvSpPr>
        <p:spPr>
          <a:xfrm>
            <a:off x="8622792" y="3017520"/>
            <a:ext cx="3035808" cy="1188720"/>
          </a:xfrm>
          <a:prstGeom prst="rect">
            <a:avLst/>
          </a:prstGeom>
          <a:noFill/>
          <a:ln/>
        </p:spPr>
        <p:txBody>
          <a:bodyPr wrap="square" lIns="0" tIns="0" rIns="0" bIns="0" rtlCol="0" anchor="ctr"/>
          <a:lstStyle/>
          <a:p>
            <a:pPr indent="0" marL="0">
              <a:lnSpc>
                <a:spcPct val="115000"/>
              </a:lnSpc>
              <a:buNone/>
            </a:pPr>
            <a:r>
              <a:rPr lang="en-US" sz="1250" dirty="0">
                <a:solidFill>
                  <a:srgbClr val="3A2C31"/>
                </a:solidFill>
                <a:latin typeface="Noto Sans CJK JP" pitchFamily="34" charset="0"/>
                <a:ea typeface="Noto Sans CJK JP" pitchFamily="34" charset="-122"/>
                <a:cs typeface="Noto Sans CJK JP" pitchFamily="34" charset="-120"/>
              </a:rPr>
              <a:t>“コントロールされていない”範囲拡大。変更が悪いのでなく、手続きなき変更が悪い。</a:t>
            </a:r>
            <a:endParaRPr lang="en-US" sz="1250" dirty="0"/>
          </a:p>
        </p:txBody>
      </p:sp>
      <p:sp>
        <p:nvSpPr>
          <p:cNvPr id="29" name="Text 22"/>
          <p:cNvSpPr/>
          <p:nvPr/>
        </p:nvSpPr>
        <p:spPr>
          <a:xfrm>
            <a:off x="8622792" y="4370832"/>
            <a:ext cx="3035808" cy="365760"/>
          </a:xfrm>
          <a:prstGeom prst="rect">
            <a:avLst/>
          </a:prstGeom>
          <a:noFill/>
          <a:ln/>
        </p:spPr>
        <p:txBody>
          <a:bodyPr wrap="square" lIns="0" tIns="0" rIns="0" bIns="0" rtlCol="0" anchor="ctr"/>
          <a:lstStyle/>
          <a:p>
            <a:pPr indent="0" marL="0">
              <a:buNone/>
            </a:pPr>
            <a:r>
              <a:rPr lang="en-US" sz="1050" i="1" dirty="0">
                <a:solidFill>
                  <a:srgbClr val="B4587A"/>
                </a:solidFill>
                <a:latin typeface="Noto Sans CJK JP" pitchFamily="34" charset="0"/>
                <a:ea typeface="Noto Sans CJK JP" pitchFamily="34" charset="-122"/>
                <a:cs typeface="Noto Sans CJK JP" pitchFamily="34" charset="-120"/>
              </a:rPr>
              <a:t>PMI / PMBOK Guide</a:t>
            </a:r>
            <a:endParaRPr lang="en-US" sz="1050" dirty="0"/>
          </a:p>
        </p:txBody>
      </p:sp>
      <p:sp>
        <p:nvSpPr>
          <p:cNvPr id="30" name="Shape 23"/>
          <p:cNvSpPr/>
          <p:nvPr/>
        </p:nvSpPr>
        <p:spPr>
          <a:xfrm>
            <a:off x="502920" y="5166360"/>
            <a:ext cx="11155680" cy="1143000"/>
          </a:xfrm>
          <a:prstGeom prst="roundRect">
            <a:avLst>
              <a:gd name="adj" fmla="val 8000"/>
            </a:avLst>
          </a:prstGeom>
          <a:solidFill>
            <a:srgbClr val="FBF1F4"/>
          </a:solidFill>
          <a:ln w="12700">
            <a:solidFill>
              <a:srgbClr val="EBB4C4"/>
            </a:solidFill>
            <a:prstDash val="solid"/>
          </a:ln>
        </p:spPr>
      </p:sp>
      <p:pic>
        <p:nvPicPr>
          <p:cNvPr id="31" name="Image 5" descr="preencoded.png">    </p:cNvPr>
          <p:cNvPicPr>
            <a:picLocks noChangeAspect="1"/>
          </p:cNvPicPr>
          <p:nvPr/>
        </p:nvPicPr>
        <p:blipFill>
          <a:blip r:embed="rId6"/>
          <a:stretch>
            <a:fillRect/>
          </a:stretch>
        </p:blipFill>
        <p:spPr>
          <a:xfrm>
            <a:off x="704088" y="5454396"/>
            <a:ext cx="566928" cy="566928"/>
          </a:xfrm>
          <a:prstGeom prst="rect">
            <a:avLst/>
          </a:prstGeom>
        </p:spPr>
      </p:pic>
      <p:sp>
        <p:nvSpPr>
          <p:cNvPr id="32" name="Text 24"/>
          <p:cNvSpPr/>
          <p:nvPr/>
        </p:nvSpPr>
        <p:spPr>
          <a:xfrm>
            <a:off x="1463040" y="5166360"/>
            <a:ext cx="9966960" cy="1143000"/>
          </a:xfrm>
          <a:prstGeom prst="rect">
            <a:avLst/>
          </a:prstGeom>
          <a:noFill/>
          <a:ln/>
        </p:spPr>
        <p:txBody>
          <a:bodyPr wrap="square" lIns="0" tIns="0" rIns="0" bIns="0" rtlCol="0" anchor="ctr"/>
          <a:lstStyle/>
          <a:p>
            <a:pPr indent="0" marL="0">
              <a:lnSpc>
                <a:spcPct val="114000"/>
              </a:lnSpc>
              <a:buNone/>
            </a:pPr>
            <a:r>
              <a:rPr lang="en-US" sz="1350" b="1" dirty="0">
                <a:solidFill>
                  <a:srgbClr val="8E3556"/>
                </a:solidFill>
                <a:latin typeface="Noto Sans CJK JP" pitchFamily="34" charset="0"/>
                <a:ea typeface="Noto Sans CJK JP" pitchFamily="34" charset="-122"/>
                <a:cs typeface="Noto Sans CJK JP" pitchFamily="34" charset="-120"/>
              </a:rPr>
              <a:t>気づき　</a:t>
            </a:r>
            <a:pPr indent="0" marL="0">
              <a:lnSpc>
                <a:spcPct val="114000"/>
              </a:lnSpc>
              <a:buNone/>
            </a:pPr>
            <a:r>
              <a:rPr lang="en-US" sz="1350" dirty="0">
                <a:solidFill>
                  <a:srgbClr val="3A2C31"/>
                </a:solidFill>
                <a:latin typeface="Noto Sans CJK JP" pitchFamily="34" charset="0"/>
                <a:ea typeface="Noto Sans CJK JP" pitchFamily="34" charset="-122"/>
                <a:cs typeface="Noto Sans CJK JP" pitchFamily="34" charset="-120"/>
              </a:rPr>
              <a:t>この3つに共通するのは「感覚・責任感・善意に頼った瞬間、範囲が膨らむ」こと。だから判断を“意志”でがんばらず、“外側の仕組み”に逃がします。</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EDF1"/>
        </a:solidFill>
      </p:bgPr>
    </p:bg>
    <p:spTree>
      <p:nvGrpSpPr>
        <p:cNvPr id="1" name=""/>
        <p:cNvGrpSpPr/>
        <p:nvPr/>
      </p:nvGrpSpPr>
      <p:grpSpPr>
        <a:xfrm>
          <a:off x="0" y="0"/>
          <a:ext cx="0" cy="0"/>
          <a:chOff x="0" y="0"/>
          <a:chExt cx="0" cy="0"/>
        </a:xfrm>
      </p:grpSpPr>
      <p:sp>
        <p:nvSpPr>
          <p:cNvPr id="2" name="Shape 0"/>
          <p:cNvSpPr/>
          <p:nvPr/>
        </p:nvSpPr>
        <p:spPr>
          <a:xfrm>
            <a:off x="0" y="0"/>
            <a:ext cx="12161520" cy="310896"/>
          </a:xfrm>
          <a:prstGeom prst="rect">
            <a:avLst/>
          </a:prstGeom>
          <a:solidFill>
            <a:srgbClr val="574039"/>
          </a:solidFill>
          <a:ln/>
        </p:spPr>
      </p:sp>
      <p:pic>
        <p:nvPicPr>
          <p:cNvPr id="3" name="Image 0" descr="preencoded.png">    </p:cNvPr>
          <p:cNvPicPr>
            <a:picLocks noChangeAspect="1"/>
          </p:cNvPicPr>
          <p:nvPr/>
        </p:nvPicPr>
        <p:blipFill>
          <a:blip r:embed="rId1"/>
          <a:stretch>
            <a:fillRect/>
          </a:stretch>
        </p:blipFill>
        <p:spPr>
          <a:xfrm>
            <a:off x="457200" y="54864"/>
            <a:ext cx="201168" cy="201168"/>
          </a:xfrm>
          <a:prstGeom prst="rect">
            <a:avLst/>
          </a:prstGeom>
        </p:spPr>
      </p:pic>
      <p:sp>
        <p:nvSpPr>
          <p:cNvPr id="4" name="Text 1"/>
          <p:cNvSpPr/>
          <p:nvPr/>
        </p:nvSpPr>
        <p:spPr>
          <a:xfrm>
            <a:off x="731520" y="0"/>
            <a:ext cx="4572000" cy="310896"/>
          </a:xfrm>
          <a:prstGeom prst="rect">
            <a:avLst/>
          </a:prstGeom>
          <a:noFill/>
          <a:ln/>
        </p:spPr>
        <p:txBody>
          <a:bodyPr wrap="square" lIns="0" tIns="0" rIns="0" bIns="0" rtlCol="0" anchor="ctr"/>
          <a:lstStyle/>
          <a:p>
            <a:pPr indent="0" marL="0">
              <a:buNone/>
            </a:pPr>
            <a:r>
              <a:rPr lang="en-US" sz="1000" dirty="0">
                <a:solidFill>
                  <a:srgbClr val="F4E9E2"/>
                </a:solidFill>
                <a:latin typeface="Noto Sans CJK JP" pitchFamily="34" charset="0"/>
                <a:ea typeface="Noto Sans CJK JP" pitchFamily="34" charset="-122"/>
                <a:cs typeface="Noto Sans CJK JP" pitchFamily="34" charset="-120"/>
              </a:rPr>
              <a:t>うさうさ研修工房</a:t>
            </a:r>
            <a:endParaRPr lang="en-US" sz="1000" dirty="0"/>
          </a:p>
        </p:txBody>
      </p:sp>
      <p:sp>
        <p:nvSpPr>
          <p:cNvPr id="5" name="Text 2"/>
          <p:cNvSpPr/>
          <p:nvPr/>
        </p:nvSpPr>
        <p:spPr>
          <a:xfrm>
            <a:off x="7132320" y="0"/>
            <a:ext cx="45720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合意設計 ・ 考えさせる編</a:t>
            </a:r>
            <a:endParaRPr lang="en-US" sz="1000" dirty="0"/>
          </a:p>
        </p:txBody>
      </p:sp>
      <p:sp>
        <p:nvSpPr>
          <p:cNvPr id="6" name="Shape 3"/>
          <p:cNvSpPr/>
          <p:nvPr/>
        </p:nvSpPr>
        <p:spPr>
          <a:xfrm>
            <a:off x="0" y="6547104"/>
            <a:ext cx="12161520" cy="310896"/>
          </a:xfrm>
          <a:prstGeom prst="rect">
            <a:avLst/>
          </a:prstGeom>
          <a:solidFill>
            <a:srgbClr val="574039"/>
          </a:solidFill>
          <a:ln/>
        </p:spPr>
      </p:sp>
      <p:pic>
        <p:nvPicPr>
          <p:cNvPr id="7" name="Image 1" descr="preencoded.png">    </p:cNvPr>
          <p:cNvPicPr>
            <a:picLocks noChangeAspect="1"/>
          </p:cNvPicPr>
          <p:nvPr/>
        </p:nvPicPr>
        <p:blipFill>
          <a:blip r:embed="rId2"/>
          <a:stretch>
            <a:fillRect/>
          </a:stretch>
        </p:blipFill>
        <p:spPr>
          <a:xfrm>
            <a:off x="457200" y="6601968"/>
            <a:ext cx="201168" cy="201168"/>
          </a:xfrm>
          <a:prstGeom prst="rect">
            <a:avLst/>
          </a:prstGeom>
        </p:spPr>
      </p:pic>
      <p:sp>
        <p:nvSpPr>
          <p:cNvPr id="8" name="Text 4"/>
          <p:cNvSpPr/>
          <p:nvPr/>
        </p:nvSpPr>
        <p:spPr>
          <a:xfrm>
            <a:off x="731520" y="6547104"/>
            <a:ext cx="5486400" cy="310896"/>
          </a:xfrm>
          <a:prstGeom prst="rect">
            <a:avLst/>
          </a:prstGeom>
          <a:noFill/>
          <a:ln/>
        </p:spPr>
        <p:txBody>
          <a:bodyPr wrap="square" lIns="0" tIns="0" rIns="0" bIns="0" rtlCol="0" anchor="ctr"/>
          <a:lstStyle/>
          <a:p>
            <a:pPr indent="0" marL="0">
              <a:buNone/>
            </a:pPr>
            <a:r>
              <a:rPr lang="en-US" sz="950" dirty="0">
                <a:solidFill>
                  <a:srgbClr val="F4E9E2"/>
                </a:solidFill>
                <a:latin typeface="Noto Sans CJK JP" pitchFamily="34" charset="0"/>
                <a:ea typeface="Noto Sans CJK JP" pitchFamily="34" charset="-122"/>
                <a:cs typeface="Noto Sans CJK JP" pitchFamily="34" charset="-120"/>
              </a:rPr>
              <a:t>面白きこともなき世を面白く 🐰</a:t>
            </a:r>
            <a:endParaRPr lang="en-US" sz="950" dirty="0"/>
          </a:p>
        </p:txBody>
      </p:sp>
      <p:sp>
        <p:nvSpPr>
          <p:cNvPr id="9" name="Text 5"/>
          <p:cNvSpPr/>
          <p:nvPr/>
        </p:nvSpPr>
        <p:spPr>
          <a:xfrm>
            <a:off x="11247120" y="6547104"/>
            <a:ext cx="4572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5</a:t>
            </a:r>
            <a:endParaRPr lang="en-US" sz="1000" dirty="0"/>
          </a:p>
        </p:txBody>
      </p:sp>
      <p:sp>
        <p:nvSpPr>
          <p:cNvPr id="10" name="Text 6"/>
          <p:cNvSpPr/>
          <p:nvPr/>
        </p:nvSpPr>
        <p:spPr>
          <a:xfrm>
            <a:off x="502920" y="457200"/>
            <a:ext cx="7315200" cy="457200"/>
          </a:xfrm>
          <a:prstGeom prst="rect">
            <a:avLst/>
          </a:prstGeom>
          <a:noFill/>
          <a:ln/>
        </p:spPr>
        <p:txBody>
          <a:bodyPr wrap="square" lIns="0" tIns="0" rIns="0" bIns="0" rtlCol="0" anchor="ctr"/>
          <a:lstStyle/>
          <a:p>
            <a:pPr indent="0" marL="0">
              <a:buNone/>
            </a:pPr>
            <a:r>
              <a:rPr lang="en-US" sz="1800" b="1" dirty="0">
                <a:solidFill>
                  <a:srgbClr val="B4587A"/>
                </a:solidFill>
                <a:latin typeface="Noto Sans CJK JP" pitchFamily="34" charset="0"/>
                <a:ea typeface="Noto Sans CJK JP" pitchFamily="34" charset="-122"/>
                <a:cs typeface="Noto Sans CJK JP" pitchFamily="34" charset="-120"/>
              </a:rPr>
              <a:t>🍜 ケースで考える</a:t>
            </a:r>
            <a:endParaRPr lang="en-US" sz="1800" dirty="0"/>
          </a:p>
        </p:txBody>
      </p:sp>
      <p:sp>
        <p:nvSpPr>
          <p:cNvPr id="11" name="Text 7"/>
          <p:cNvSpPr/>
          <p:nvPr/>
        </p:nvSpPr>
        <p:spPr>
          <a:xfrm>
            <a:off x="502920" y="960120"/>
            <a:ext cx="11155680" cy="640080"/>
          </a:xfrm>
          <a:prstGeom prst="rect">
            <a:avLst/>
          </a:prstGeom>
          <a:noFill/>
          <a:ln/>
        </p:spPr>
        <p:txBody>
          <a:bodyPr wrap="square" lIns="0" tIns="0" rIns="0" bIns="0" rtlCol="0" anchor="ctr"/>
          <a:lstStyle/>
          <a:p>
            <a:pPr indent="0" marL="0">
              <a:buNone/>
            </a:pPr>
            <a:r>
              <a:rPr lang="en-US" sz="2300" b="1" dirty="0">
                <a:solidFill>
                  <a:srgbClr val="8E3556"/>
                </a:solidFill>
                <a:latin typeface="Noto Sans CJK JP" pitchFamily="34" charset="0"/>
                <a:ea typeface="Noto Sans CJK JP" pitchFamily="34" charset="-122"/>
                <a:cs typeface="Noto Sans CJK JP" pitchFamily="34" charset="-120"/>
              </a:rPr>
              <a:t>「ついでに、これもお願いできます？」── あなたなら、どう答える？</a:t>
            </a:r>
            <a:endParaRPr lang="en-US" sz="2300" dirty="0"/>
          </a:p>
        </p:txBody>
      </p:sp>
      <p:sp>
        <p:nvSpPr>
          <p:cNvPr id="12" name="Shape 8"/>
          <p:cNvSpPr/>
          <p:nvPr/>
        </p:nvSpPr>
        <p:spPr>
          <a:xfrm>
            <a:off x="640080" y="1874520"/>
            <a:ext cx="3611880" cy="2240280"/>
          </a:xfrm>
          <a:prstGeom prst="roundRect">
            <a:avLst>
              <a:gd name="adj" fmla="val 4898"/>
            </a:avLst>
          </a:prstGeom>
          <a:solidFill>
            <a:srgbClr val="FFFFFF"/>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13" name="Shape 9"/>
          <p:cNvSpPr/>
          <p:nvPr/>
        </p:nvSpPr>
        <p:spPr>
          <a:xfrm>
            <a:off x="2034540" y="2103120"/>
            <a:ext cx="822960" cy="822960"/>
          </a:xfrm>
          <a:prstGeom prst="ellipse">
            <a:avLst/>
          </a:prstGeom>
          <a:solidFill>
            <a:srgbClr val="B4587A"/>
          </a:solidFill>
          <a:ln/>
        </p:spPr>
      </p:sp>
      <p:sp>
        <p:nvSpPr>
          <p:cNvPr id="14" name="Text 10"/>
          <p:cNvSpPr/>
          <p:nvPr/>
        </p:nvSpPr>
        <p:spPr>
          <a:xfrm>
            <a:off x="2034540" y="210312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Noto Sans CJK JP" pitchFamily="34" charset="0"/>
                <a:ea typeface="Noto Sans CJK JP" pitchFamily="34" charset="-122"/>
                <a:cs typeface="Noto Sans CJK JP" pitchFamily="34" charset="-120"/>
              </a:rPr>
              <a:t>A</a:t>
            </a:r>
            <a:endParaRPr lang="en-US" sz="3000" dirty="0"/>
          </a:p>
        </p:txBody>
      </p:sp>
      <p:sp>
        <p:nvSpPr>
          <p:cNvPr id="15" name="Text 11"/>
          <p:cNvSpPr/>
          <p:nvPr/>
        </p:nvSpPr>
        <p:spPr>
          <a:xfrm>
            <a:off x="822960" y="3063240"/>
            <a:ext cx="3246120" cy="457200"/>
          </a:xfrm>
          <a:prstGeom prst="rect">
            <a:avLst/>
          </a:prstGeom>
          <a:noFill/>
          <a:ln/>
        </p:spPr>
        <p:txBody>
          <a:bodyPr wrap="square" lIns="0" tIns="0" rIns="0" bIns="0" rtlCol="0" anchor="ctr"/>
          <a:lstStyle/>
          <a:p>
            <a:pPr algn="ctr" indent="0" marL="0">
              <a:buNone/>
            </a:pPr>
            <a:r>
              <a:rPr lang="en-US" sz="1600" b="1" dirty="0">
                <a:solidFill>
                  <a:srgbClr val="8E3556"/>
                </a:solidFill>
                <a:latin typeface="Noto Sans CJK JP" pitchFamily="34" charset="0"/>
                <a:ea typeface="Noto Sans CJK JP" pitchFamily="34" charset="-122"/>
                <a:cs typeface="Noto Sans CJK JP" pitchFamily="34" charset="-120"/>
              </a:rPr>
              <a:t>その場で引き受ける</a:t>
            </a:r>
            <a:endParaRPr lang="en-US" sz="1600" dirty="0"/>
          </a:p>
        </p:txBody>
      </p:sp>
      <p:sp>
        <p:nvSpPr>
          <p:cNvPr id="16" name="Text 12"/>
          <p:cNvSpPr/>
          <p:nvPr/>
        </p:nvSpPr>
        <p:spPr>
          <a:xfrm>
            <a:off x="868680" y="3520440"/>
            <a:ext cx="3154680" cy="502920"/>
          </a:xfrm>
          <a:prstGeom prst="rect">
            <a:avLst/>
          </a:prstGeom>
          <a:noFill/>
          <a:ln/>
        </p:spPr>
        <p:txBody>
          <a:bodyPr wrap="square" lIns="0" tIns="0" rIns="0" bIns="0" rtlCol="0" anchor="ctr"/>
          <a:lstStyle/>
          <a:p>
            <a:pPr algn="ctr" indent="0" marL="0">
              <a:buNone/>
            </a:pPr>
            <a:r>
              <a:rPr lang="en-US" sz="1250" dirty="0">
                <a:solidFill>
                  <a:srgbClr val="3A2C31"/>
                </a:solidFill>
                <a:latin typeface="Noto Sans CJK JP" pitchFamily="34" charset="0"/>
                <a:ea typeface="Noto Sans CJK JP" pitchFamily="34" charset="-122"/>
                <a:cs typeface="Noto Sans CJK JP" pitchFamily="34" charset="-120"/>
              </a:rPr>
              <a:t>“それくらいなら”と快諾する</a:t>
            </a:r>
            <a:endParaRPr lang="en-US" sz="1250" dirty="0"/>
          </a:p>
        </p:txBody>
      </p:sp>
      <p:sp>
        <p:nvSpPr>
          <p:cNvPr id="17" name="Shape 13"/>
          <p:cNvSpPr/>
          <p:nvPr/>
        </p:nvSpPr>
        <p:spPr>
          <a:xfrm>
            <a:off x="4526280" y="1874520"/>
            <a:ext cx="3611880" cy="2240280"/>
          </a:xfrm>
          <a:prstGeom prst="roundRect">
            <a:avLst>
              <a:gd name="adj" fmla="val 4898"/>
            </a:avLst>
          </a:prstGeom>
          <a:solidFill>
            <a:srgbClr val="FFFFFF"/>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18" name="Shape 14"/>
          <p:cNvSpPr/>
          <p:nvPr/>
        </p:nvSpPr>
        <p:spPr>
          <a:xfrm>
            <a:off x="5920740" y="2103120"/>
            <a:ext cx="822960" cy="822960"/>
          </a:xfrm>
          <a:prstGeom prst="ellipse">
            <a:avLst/>
          </a:prstGeom>
          <a:solidFill>
            <a:srgbClr val="B4587A"/>
          </a:solidFill>
          <a:ln/>
        </p:spPr>
      </p:sp>
      <p:sp>
        <p:nvSpPr>
          <p:cNvPr id="19" name="Text 15"/>
          <p:cNvSpPr/>
          <p:nvPr/>
        </p:nvSpPr>
        <p:spPr>
          <a:xfrm>
            <a:off x="5920740" y="210312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Noto Sans CJK JP" pitchFamily="34" charset="0"/>
                <a:ea typeface="Noto Sans CJK JP" pitchFamily="34" charset="-122"/>
                <a:cs typeface="Noto Sans CJK JP" pitchFamily="34" charset="-120"/>
              </a:rPr>
              <a:t>B</a:t>
            </a:r>
            <a:endParaRPr lang="en-US" sz="3000" dirty="0"/>
          </a:p>
        </p:txBody>
      </p:sp>
      <p:sp>
        <p:nvSpPr>
          <p:cNvPr id="20" name="Text 16"/>
          <p:cNvSpPr/>
          <p:nvPr/>
        </p:nvSpPr>
        <p:spPr>
          <a:xfrm>
            <a:off x="4709160" y="3063240"/>
            <a:ext cx="3246120" cy="457200"/>
          </a:xfrm>
          <a:prstGeom prst="rect">
            <a:avLst/>
          </a:prstGeom>
          <a:noFill/>
          <a:ln/>
        </p:spPr>
        <p:txBody>
          <a:bodyPr wrap="square" lIns="0" tIns="0" rIns="0" bIns="0" rtlCol="0" anchor="ctr"/>
          <a:lstStyle/>
          <a:p>
            <a:pPr algn="ctr" indent="0" marL="0">
              <a:buNone/>
            </a:pPr>
            <a:r>
              <a:rPr lang="en-US" sz="1600" b="1" dirty="0">
                <a:solidFill>
                  <a:srgbClr val="8E3556"/>
                </a:solidFill>
                <a:latin typeface="Noto Sans CJK JP" pitchFamily="34" charset="0"/>
                <a:ea typeface="Noto Sans CJK JP" pitchFamily="34" charset="-122"/>
                <a:cs typeface="Noto Sans CJK JP" pitchFamily="34" charset="-120"/>
              </a:rPr>
              <a:t>曖昧に濁す</a:t>
            </a:r>
            <a:endParaRPr lang="en-US" sz="1600" dirty="0"/>
          </a:p>
        </p:txBody>
      </p:sp>
      <p:sp>
        <p:nvSpPr>
          <p:cNvPr id="21" name="Text 17"/>
          <p:cNvSpPr/>
          <p:nvPr/>
        </p:nvSpPr>
        <p:spPr>
          <a:xfrm>
            <a:off x="4754880" y="3520440"/>
            <a:ext cx="3154680" cy="502920"/>
          </a:xfrm>
          <a:prstGeom prst="rect">
            <a:avLst/>
          </a:prstGeom>
          <a:noFill/>
          <a:ln/>
        </p:spPr>
        <p:txBody>
          <a:bodyPr wrap="square" lIns="0" tIns="0" rIns="0" bIns="0" rtlCol="0" anchor="ctr"/>
          <a:lstStyle/>
          <a:p>
            <a:pPr algn="ctr" indent="0" marL="0">
              <a:buNone/>
            </a:pPr>
            <a:r>
              <a:rPr lang="en-US" sz="1250" dirty="0">
                <a:solidFill>
                  <a:srgbClr val="3A2C31"/>
                </a:solidFill>
                <a:latin typeface="Noto Sans CJK JP" pitchFamily="34" charset="0"/>
                <a:ea typeface="Noto Sans CJK JP" pitchFamily="34" charset="-122"/>
                <a:cs typeface="Noto Sans CJK JP" pitchFamily="34" charset="-120"/>
              </a:rPr>
              <a:t>“検討します”と一旦持ち帰る</a:t>
            </a:r>
            <a:endParaRPr lang="en-US" sz="1250" dirty="0"/>
          </a:p>
        </p:txBody>
      </p:sp>
      <p:sp>
        <p:nvSpPr>
          <p:cNvPr id="22" name="Shape 18"/>
          <p:cNvSpPr/>
          <p:nvPr/>
        </p:nvSpPr>
        <p:spPr>
          <a:xfrm>
            <a:off x="8412480" y="1874520"/>
            <a:ext cx="3611880" cy="2240280"/>
          </a:xfrm>
          <a:prstGeom prst="roundRect">
            <a:avLst>
              <a:gd name="adj" fmla="val 4898"/>
            </a:avLst>
          </a:prstGeom>
          <a:solidFill>
            <a:srgbClr val="EAF3EE"/>
          </a:solidFill>
          <a:ln w="19050">
            <a:solidFill>
              <a:srgbClr val="4E8568"/>
            </a:solidFill>
            <a:prstDash val="solid"/>
          </a:ln>
          <a:effectLst>
            <a:outerShdw sx="100000" sy="100000" kx="0" ky="0" algn="bl" rotWithShape="0" blurRad="76200" dist="25400" dir="5400000">
              <a:srgbClr val="000000">
                <a:alpha val="10000"/>
              </a:srgbClr>
            </a:outerShdw>
          </a:effectLst>
        </p:spPr>
      </p:sp>
      <p:sp>
        <p:nvSpPr>
          <p:cNvPr id="23" name="Shape 19"/>
          <p:cNvSpPr/>
          <p:nvPr/>
        </p:nvSpPr>
        <p:spPr>
          <a:xfrm>
            <a:off x="9806940" y="2103120"/>
            <a:ext cx="822960" cy="822960"/>
          </a:xfrm>
          <a:prstGeom prst="ellipse">
            <a:avLst/>
          </a:prstGeom>
          <a:solidFill>
            <a:srgbClr val="4E8568"/>
          </a:solidFill>
          <a:ln/>
        </p:spPr>
      </p:sp>
      <p:sp>
        <p:nvSpPr>
          <p:cNvPr id="24" name="Text 20"/>
          <p:cNvSpPr/>
          <p:nvPr/>
        </p:nvSpPr>
        <p:spPr>
          <a:xfrm>
            <a:off x="9806940" y="210312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Noto Sans CJK JP" pitchFamily="34" charset="0"/>
                <a:ea typeface="Noto Sans CJK JP" pitchFamily="34" charset="-122"/>
                <a:cs typeface="Noto Sans CJK JP" pitchFamily="34" charset="-120"/>
              </a:rPr>
              <a:t>C</a:t>
            </a:r>
            <a:endParaRPr lang="en-US" sz="3000" dirty="0"/>
          </a:p>
        </p:txBody>
      </p:sp>
      <p:sp>
        <p:nvSpPr>
          <p:cNvPr id="25" name="Text 21"/>
          <p:cNvSpPr/>
          <p:nvPr/>
        </p:nvSpPr>
        <p:spPr>
          <a:xfrm>
            <a:off x="8595360" y="3063240"/>
            <a:ext cx="3246120" cy="457200"/>
          </a:xfrm>
          <a:prstGeom prst="rect">
            <a:avLst/>
          </a:prstGeom>
          <a:noFill/>
          <a:ln/>
        </p:spPr>
        <p:txBody>
          <a:bodyPr wrap="square" lIns="0" tIns="0" rIns="0" bIns="0" rtlCol="0" anchor="ctr"/>
          <a:lstStyle/>
          <a:p>
            <a:pPr algn="ctr" indent="0" marL="0">
              <a:buNone/>
            </a:pPr>
            <a:r>
              <a:rPr lang="en-US" sz="1600" b="1" dirty="0">
                <a:solidFill>
                  <a:srgbClr val="4E8568"/>
                </a:solidFill>
                <a:latin typeface="Noto Sans CJK JP" pitchFamily="34" charset="0"/>
                <a:ea typeface="Noto Sans CJK JP" pitchFamily="34" charset="-122"/>
                <a:cs typeface="Noto Sans CJK JP" pitchFamily="34" charset="-120"/>
              </a:rPr>
              <a:t>判断軸に照らす</a:t>
            </a:r>
            <a:endParaRPr lang="en-US" sz="1600" dirty="0"/>
          </a:p>
        </p:txBody>
      </p:sp>
      <p:sp>
        <p:nvSpPr>
          <p:cNvPr id="26" name="Text 22"/>
          <p:cNvSpPr/>
          <p:nvPr/>
        </p:nvSpPr>
        <p:spPr>
          <a:xfrm>
            <a:off x="8641080" y="3520440"/>
            <a:ext cx="3154680" cy="502920"/>
          </a:xfrm>
          <a:prstGeom prst="rect">
            <a:avLst/>
          </a:prstGeom>
          <a:noFill/>
          <a:ln/>
        </p:spPr>
        <p:txBody>
          <a:bodyPr wrap="square" lIns="0" tIns="0" rIns="0" bIns="0" rtlCol="0" anchor="ctr"/>
          <a:lstStyle/>
          <a:p>
            <a:pPr algn="ctr" indent="0" marL="0">
              <a:buNone/>
            </a:pPr>
            <a:r>
              <a:rPr lang="en-US" sz="1250" dirty="0">
                <a:solidFill>
                  <a:srgbClr val="3A2C31"/>
                </a:solidFill>
                <a:latin typeface="Noto Sans CJK JP" pitchFamily="34" charset="0"/>
                <a:ea typeface="Noto Sans CJK JP" pitchFamily="34" charset="-122"/>
                <a:cs typeface="Noto Sans CJK JP" pitchFamily="34" charset="-120"/>
              </a:rPr>
              <a:t>INか？OUTか？を一緒に確認する</a:t>
            </a:r>
            <a:endParaRPr lang="en-US" sz="1250" dirty="0"/>
          </a:p>
        </p:txBody>
      </p:sp>
      <p:sp>
        <p:nvSpPr>
          <p:cNvPr id="27" name="Shape 23"/>
          <p:cNvSpPr/>
          <p:nvPr/>
        </p:nvSpPr>
        <p:spPr>
          <a:xfrm>
            <a:off x="640080" y="4526280"/>
            <a:ext cx="10881360" cy="1463040"/>
          </a:xfrm>
          <a:prstGeom prst="roundRect">
            <a:avLst>
              <a:gd name="adj" fmla="val 6250"/>
            </a:avLst>
          </a:prstGeom>
          <a:solidFill>
            <a:srgbClr val="FBF1F4"/>
          </a:solidFill>
          <a:ln w="12700">
            <a:solidFill>
              <a:srgbClr val="EBB4C4"/>
            </a:solidFill>
            <a:prstDash val="solid"/>
          </a:ln>
        </p:spPr>
      </p:sp>
      <p:pic>
        <p:nvPicPr>
          <p:cNvPr id="28" name="Image 2" descr="preencoded.png">    </p:cNvPr>
          <p:cNvPicPr>
            <a:picLocks noChangeAspect="1"/>
          </p:cNvPicPr>
          <p:nvPr/>
        </p:nvPicPr>
        <p:blipFill>
          <a:blip r:embed="rId3"/>
          <a:stretch>
            <a:fillRect/>
          </a:stretch>
        </p:blipFill>
        <p:spPr>
          <a:xfrm>
            <a:off x="841248" y="4974336"/>
            <a:ext cx="566928" cy="566928"/>
          </a:xfrm>
          <a:prstGeom prst="rect">
            <a:avLst/>
          </a:prstGeom>
        </p:spPr>
      </p:pic>
      <p:sp>
        <p:nvSpPr>
          <p:cNvPr id="29" name="Text 24"/>
          <p:cNvSpPr/>
          <p:nvPr/>
        </p:nvSpPr>
        <p:spPr>
          <a:xfrm>
            <a:off x="1600200" y="4526280"/>
            <a:ext cx="9692640" cy="1463040"/>
          </a:xfrm>
          <a:prstGeom prst="rect">
            <a:avLst/>
          </a:prstGeom>
          <a:noFill/>
          <a:ln/>
        </p:spPr>
        <p:txBody>
          <a:bodyPr wrap="square" lIns="0" tIns="0" rIns="0" bIns="0" rtlCol="0" anchor="ctr"/>
          <a:lstStyle/>
          <a:p>
            <a:pPr indent="0" marL="0">
              <a:lnSpc>
                <a:spcPct val="114000"/>
              </a:lnSpc>
              <a:buNone/>
            </a:pPr>
            <a:r>
              <a:rPr lang="en-US" sz="1350" b="1" dirty="0">
                <a:solidFill>
                  <a:srgbClr val="8E3556"/>
                </a:solidFill>
                <a:latin typeface="Noto Sans CJK JP" pitchFamily="34" charset="0"/>
                <a:ea typeface="Noto Sans CJK JP" pitchFamily="34" charset="-122"/>
                <a:cs typeface="Noto Sans CJK JP" pitchFamily="34" charset="-120"/>
              </a:rPr>
              <a:t>ヒント　</a:t>
            </a:r>
            <a:pPr indent="0" marL="0">
              <a:lnSpc>
                <a:spcPct val="114000"/>
              </a:lnSpc>
              <a:buNone/>
            </a:pPr>
            <a:r>
              <a:rPr lang="en-US" sz="1350" dirty="0">
                <a:solidFill>
                  <a:srgbClr val="3A2C31"/>
                </a:solidFill>
                <a:latin typeface="Noto Sans CJK JP" pitchFamily="34" charset="0"/>
                <a:ea typeface="Noto Sans CJK JP" pitchFamily="34" charset="-122"/>
                <a:cs typeface="Noto Sans CJK JP" pitchFamily="34" charset="-120"/>
              </a:rPr>
              <a:t>A は範囲が膨らみ、B は宙ぶらりんになりがち。正解は1つではありませんが、本資料が薦めるのは C ──「先に握った判断軸（IN/OUT）」に照らして一緒に決めること。次ページから、その“判断軸”の作り方を見ていきます。</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10896"/>
          </a:xfrm>
          <a:prstGeom prst="rect">
            <a:avLst/>
          </a:prstGeom>
          <a:solidFill>
            <a:srgbClr val="574039"/>
          </a:solidFill>
          <a:ln/>
        </p:spPr>
      </p:sp>
      <p:pic>
        <p:nvPicPr>
          <p:cNvPr id="3" name="Image 0" descr="preencoded.png">    </p:cNvPr>
          <p:cNvPicPr>
            <a:picLocks noChangeAspect="1"/>
          </p:cNvPicPr>
          <p:nvPr/>
        </p:nvPicPr>
        <p:blipFill>
          <a:blip r:embed="rId1"/>
          <a:stretch>
            <a:fillRect/>
          </a:stretch>
        </p:blipFill>
        <p:spPr>
          <a:xfrm>
            <a:off x="457200" y="54864"/>
            <a:ext cx="201168" cy="201168"/>
          </a:xfrm>
          <a:prstGeom prst="rect">
            <a:avLst/>
          </a:prstGeom>
        </p:spPr>
      </p:pic>
      <p:sp>
        <p:nvSpPr>
          <p:cNvPr id="4" name="Text 1"/>
          <p:cNvSpPr/>
          <p:nvPr/>
        </p:nvSpPr>
        <p:spPr>
          <a:xfrm>
            <a:off x="731520" y="0"/>
            <a:ext cx="4572000" cy="310896"/>
          </a:xfrm>
          <a:prstGeom prst="rect">
            <a:avLst/>
          </a:prstGeom>
          <a:noFill/>
          <a:ln/>
        </p:spPr>
        <p:txBody>
          <a:bodyPr wrap="square" lIns="0" tIns="0" rIns="0" bIns="0" rtlCol="0" anchor="ctr"/>
          <a:lstStyle/>
          <a:p>
            <a:pPr indent="0" marL="0">
              <a:buNone/>
            </a:pPr>
            <a:r>
              <a:rPr lang="en-US" sz="1000" dirty="0">
                <a:solidFill>
                  <a:srgbClr val="F4E9E2"/>
                </a:solidFill>
                <a:latin typeface="Noto Sans CJK JP" pitchFamily="34" charset="0"/>
                <a:ea typeface="Noto Sans CJK JP" pitchFamily="34" charset="-122"/>
                <a:cs typeface="Noto Sans CJK JP" pitchFamily="34" charset="-120"/>
              </a:rPr>
              <a:t>うさうさ研修工房</a:t>
            </a:r>
            <a:endParaRPr lang="en-US" sz="1000" dirty="0"/>
          </a:p>
        </p:txBody>
      </p:sp>
      <p:sp>
        <p:nvSpPr>
          <p:cNvPr id="5" name="Text 2"/>
          <p:cNvSpPr/>
          <p:nvPr/>
        </p:nvSpPr>
        <p:spPr>
          <a:xfrm>
            <a:off x="7132320" y="0"/>
            <a:ext cx="45720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合意設計 ・ 考えさせる編</a:t>
            </a:r>
            <a:endParaRPr lang="en-US" sz="1000" dirty="0"/>
          </a:p>
        </p:txBody>
      </p:sp>
      <p:sp>
        <p:nvSpPr>
          <p:cNvPr id="6" name="Shape 3"/>
          <p:cNvSpPr/>
          <p:nvPr/>
        </p:nvSpPr>
        <p:spPr>
          <a:xfrm>
            <a:off x="0" y="6547104"/>
            <a:ext cx="12161520" cy="310896"/>
          </a:xfrm>
          <a:prstGeom prst="rect">
            <a:avLst/>
          </a:prstGeom>
          <a:solidFill>
            <a:srgbClr val="574039"/>
          </a:solidFill>
          <a:ln/>
        </p:spPr>
      </p:sp>
      <p:pic>
        <p:nvPicPr>
          <p:cNvPr id="7" name="Image 1" descr="preencoded.png">    </p:cNvPr>
          <p:cNvPicPr>
            <a:picLocks noChangeAspect="1"/>
          </p:cNvPicPr>
          <p:nvPr/>
        </p:nvPicPr>
        <p:blipFill>
          <a:blip r:embed="rId2"/>
          <a:stretch>
            <a:fillRect/>
          </a:stretch>
        </p:blipFill>
        <p:spPr>
          <a:xfrm>
            <a:off x="457200" y="6601968"/>
            <a:ext cx="201168" cy="201168"/>
          </a:xfrm>
          <a:prstGeom prst="rect">
            <a:avLst/>
          </a:prstGeom>
        </p:spPr>
      </p:pic>
      <p:sp>
        <p:nvSpPr>
          <p:cNvPr id="8" name="Text 4"/>
          <p:cNvSpPr/>
          <p:nvPr/>
        </p:nvSpPr>
        <p:spPr>
          <a:xfrm>
            <a:off x="731520" y="6547104"/>
            <a:ext cx="5486400" cy="310896"/>
          </a:xfrm>
          <a:prstGeom prst="rect">
            <a:avLst/>
          </a:prstGeom>
          <a:noFill/>
          <a:ln/>
        </p:spPr>
        <p:txBody>
          <a:bodyPr wrap="square" lIns="0" tIns="0" rIns="0" bIns="0" rtlCol="0" anchor="ctr"/>
          <a:lstStyle/>
          <a:p>
            <a:pPr indent="0" marL="0">
              <a:buNone/>
            </a:pPr>
            <a:r>
              <a:rPr lang="en-US" sz="950" dirty="0">
                <a:solidFill>
                  <a:srgbClr val="F4E9E2"/>
                </a:solidFill>
                <a:latin typeface="Noto Sans CJK JP" pitchFamily="34" charset="0"/>
                <a:ea typeface="Noto Sans CJK JP" pitchFamily="34" charset="-122"/>
                <a:cs typeface="Noto Sans CJK JP" pitchFamily="34" charset="-120"/>
              </a:rPr>
              <a:t>面白きこともなき世を面白く 🐰</a:t>
            </a:r>
            <a:endParaRPr lang="en-US" sz="950" dirty="0"/>
          </a:p>
        </p:txBody>
      </p:sp>
      <p:sp>
        <p:nvSpPr>
          <p:cNvPr id="9" name="Text 5"/>
          <p:cNvSpPr/>
          <p:nvPr/>
        </p:nvSpPr>
        <p:spPr>
          <a:xfrm>
            <a:off x="11247120" y="6547104"/>
            <a:ext cx="4572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6</a:t>
            </a:r>
            <a:endParaRPr lang="en-US" sz="1000" dirty="0"/>
          </a:p>
        </p:txBody>
      </p:sp>
      <p:sp>
        <p:nvSpPr>
          <p:cNvPr id="10" name="Shape 6"/>
          <p:cNvSpPr/>
          <p:nvPr/>
        </p:nvSpPr>
        <p:spPr>
          <a:xfrm>
            <a:off x="502920" y="502920"/>
            <a:ext cx="749808" cy="749808"/>
          </a:xfrm>
          <a:prstGeom prst="ellipse">
            <a:avLst/>
          </a:prstGeom>
          <a:solidFill>
            <a:srgbClr val="B4587A"/>
          </a:solidFill>
          <a:ln/>
        </p:spPr>
      </p:sp>
      <p:pic>
        <p:nvPicPr>
          <p:cNvPr id="11" name="Image 2" descr="preencoded.png">    </p:cNvPr>
          <p:cNvPicPr>
            <a:picLocks noChangeAspect="1"/>
          </p:cNvPicPr>
          <p:nvPr/>
        </p:nvPicPr>
        <p:blipFill>
          <a:blip r:embed="rId3"/>
          <a:stretch>
            <a:fillRect/>
          </a:stretch>
        </p:blipFill>
        <p:spPr>
          <a:xfrm>
            <a:off x="705368" y="705368"/>
            <a:ext cx="344912" cy="344912"/>
          </a:xfrm>
          <a:prstGeom prst="rect">
            <a:avLst/>
          </a:prstGeom>
        </p:spPr>
      </p:pic>
      <p:sp>
        <p:nvSpPr>
          <p:cNvPr id="12" name="Text 7"/>
          <p:cNvSpPr/>
          <p:nvPr/>
        </p:nvSpPr>
        <p:spPr>
          <a:xfrm>
            <a:off x="1389888" y="502920"/>
            <a:ext cx="10332720" cy="749808"/>
          </a:xfrm>
          <a:prstGeom prst="rect">
            <a:avLst/>
          </a:prstGeom>
          <a:noFill/>
          <a:ln/>
        </p:spPr>
        <p:txBody>
          <a:bodyPr wrap="square" lIns="0" tIns="0" rIns="0" bIns="0" rtlCol="0" anchor="ctr"/>
          <a:lstStyle/>
          <a:p>
            <a:pPr indent="0" marL="0">
              <a:buNone/>
            </a:pPr>
            <a:r>
              <a:rPr lang="en-US" sz="2600" b="1" dirty="0">
                <a:solidFill>
                  <a:srgbClr val="CFA15C"/>
                </a:solidFill>
                <a:latin typeface="Noto Sans CJK JP" pitchFamily="34" charset="0"/>
                <a:ea typeface="Noto Sans CJK JP" pitchFamily="34" charset="-122"/>
                <a:cs typeface="Noto Sans CJK JP" pitchFamily="34" charset="-120"/>
              </a:rPr>
              <a:t>★  </a:t>
            </a:r>
            <a:pPr indent="0" marL="0">
              <a:buNone/>
            </a:pPr>
            <a:r>
              <a:rPr lang="en-US" sz="2600" b="1" dirty="0">
                <a:solidFill>
                  <a:srgbClr val="8E3556"/>
                </a:solidFill>
                <a:latin typeface="Noto Sans CJK JP" pitchFamily="34" charset="0"/>
                <a:ea typeface="Noto Sans CJK JP" pitchFamily="34" charset="-122"/>
                <a:cs typeface="Noto Sans CJK JP" pitchFamily="34" charset="-120"/>
              </a:rPr>
              <a:t>全体像 ── 合意設計の地図</a:t>
            </a:r>
            <a:endParaRPr lang="en-US" sz="2600" dirty="0"/>
          </a:p>
        </p:txBody>
      </p:sp>
      <p:sp>
        <p:nvSpPr>
          <p:cNvPr id="13" name="Text 8"/>
          <p:cNvSpPr/>
          <p:nvPr/>
        </p:nvSpPr>
        <p:spPr>
          <a:xfrm>
            <a:off x="521208" y="1371600"/>
            <a:ext cx="10972800" cy="320040"/>
          </a:xfrm>
          <a:prstGeom prst="rect">
            <a:avLst/>
          </a:prstGeom>
          <a:noFill/>
          <a:ln/>
        </p:spPr>
        <p:txBody>
          <a:bodyPr wrap="square" lIns="0" tIns="0" rIns="0" bIns="0" rtlCol="0" anchor="ctr"/>
          <a:lstStyle/>
          <a:p>
            <a:pPr indent="0" marL="0">
              <a:buNone/>
            </a:pPr>
            <a:r>
              <a:rPr lang="en-US" sz="1350" dirty="0">
                <a:solidFill>
                  <a:srgbClr val="9A8890"/>
                </a:solidFill>
                <a:latin typeface="Noto Sans CJK JP" pitchFamily="34" charset="0"/>
                <a:ea typeface="Noto Sans CJK JP" pitchFamily="34" charset="-122"/>
                <a:cs typeface="Noto Sans CJK JP" pitchFamily="34" charset="-120"/>
              </a:rPr>
              <a:t>着手前に“先に握る”ものから、走りながら“見える化”するものへ。5つの仕組みの並び。</a:t>
            </a:r>
            <a:endParaRPr lang="en-US" sz="1350" dirty="0"/>
          </a:p>
        </p:txBody>
      </p:sp>
      <p:sp>
        <p:nvSpPr>
          <p:cNvPr id="14" name="Shape 9"/>
          <p:cNvSpPr/>
          <p:nvPr/>
        </p:nvSpPr>
        <p:spPr>
          <a:xfrm>
            <a:off x="548640" y="2148840"/>
            <a:ext cx="2057400" cy="2286000"/>
          </a:xfrm>
          <a:prstGeom prst="roundRect">
            <a:avLst>
              <a:gd name="adj" fmla="val 5333"/>
            </a:avLst>
          </a:prstGeom>
          <a:solidFill>
            <a:srgbClr val="FBF1F4"/>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15" name="Shape 10"/>
          <p:cNvSpPr/>
          <p:nvPr/>
        </p:nvSpPr>
        <p:spPr>
          <a:xfrm>
            <a:off x="1138428" y="2377440"/>
            <a:ext cx="877824" cy="877824"/>
          </a:xfrm>
          <a:prstGeom prst="ellipse">
            <a:avLst/>
          </a:prstGeom>
          <a:solidFill>
            <a:srgbClr val="B4587A"/>
          </a:solidFill>
          <a:ln/>
        </p:spPr>
      </p:sp>
      <p:pic>
        <p:nvPicPr>
          <p:cNvPr id="16" name="Image 3" descr="preencoded.png">    </p:cNvPr>
          <p:cNvPicPr>
            <a:picLocks noChangeAspect="1"/>
          </p:cNvPicPr>
          <p:nvPr/>
        </p:nvPicPr>
        <p:blipFill>
          <a:blip r:embed="rId4"/>
          <a:stretch>
            <a:fillRect/>
          </a:stretch>
        </p:blipFill>
        <p:spPr>
          <a:xfrm>
            <a:off x="1375440" y="2614452"/>
            <a:ext cx="403799" cy="403799"/>
          </a:xfrm>
          <a:prstGeom prst="rect">
            <a:avLst/>
          </a:prstGeom>
        </p:spPr>
      </p:pic>
      <p:sp>
        <p:nvSpPr>
          <p:cNvPr id="17" name="Text 11"/>
          <p:cNvSpPr/>
          <p:nvPr/>
        </p:nvSpPr>
        <p:spPr>
          <a:xfrm>
            <a:off x="640080" y="3364992"/>
            <a:ext cx="1874520" cy="457200"/>
          </a:xfrm>
          <a:prstGeom prst="rect">
            <a:avLst/>
          </a:prstGeom>
          <a:noFill/>
          <a:ln/>
        </p:spPr>
        <p:txBody>
          <a:bodyPr wrap="square" lIns="0" tIns="0" rIns="0" bIns="0" rtlCol="0" anchor="ctr"/>
          <a:lstStyle/>
          <a:p>
            <a:pPr algn="ctr" indent="0" marL="0">
              <a:buNone/>
            </a:pPr>
            <a:r>
              <a:rPr lang="en-US" sz="1650" b="1" dirty="0">
                <a:solidFill>
                  <a:srgbClr val="8E3556"/>
                </a:solidFill>
                <a:latin typeface="Noto Sans CJK JP" pitchFamily="34" charset="0"/>
                <a:ea typeface="Noto Sans CJK JP" pitchFamily="34" charset="-122"/>
                <a:cs typeface="Noto Sans CJK JP" pitchFamily="34" charset="-120"/>
              </a:rPr>
              <a:t>①判断軸</a:t>
            </a:r>
            <a:endParaRPr lang="en-US" sz="1650" dirty="0"/>
          </a:p>
        </p:txBody>
      </p:sp>
      <p:sp>
        <p:nvSpPr>
          <p:cNvPr id="18" name="Text 12"/>
          <p:cNvSpPr/>
          <p:nvPr/>
        </p:nvSpPr>
        <p:spPr>
          <a:xfrm>
            <a:off x="658368" y="3822192"/>
            <a:ext cx="1837944" cy="548640"/>
          </a:xfrm>
          <a:prstGeom prst="rect">
            <a:avLst/>
          </a:prstGeom>
          <a:noFill/>
          <a:ln/>
        </p:spPr>
        <p:txBody>
          <a:bodyPr wrap="square" lIns="0" tIns="0" rIns="0" bIns="0" rtlCol="0" anchor="ctr"/>
          <a:lstStyle/>
          <a:p>
            <a:pPr algn="ctr" indent="0" marL="0">
              <a:lnSpc>
                <a:spcPct val="105000"/>
              </a:lnSpc>
              <a:buNone/>
            </a:pPr>
            <a:r>
              <a:rPr lang="en-US" sz="1200" dirty="0">
                <a:solidFill>
                  <a:srgbClr val="3A2C31"/>
                </a:solidFill>
                <a:latin typeface="Noto Sans CJK JP" pitchFamily="34" charset="0"/>
                <a:ea typeface="Noto Sans CJK JP" pitchFamily="34" charset="-122"/>
                <a:cs typeface="Noto Sans CJK JP" pitchFamily="34" charset="-120"/>
              </a:rPr>
              <a:t>IN / OUT を先に</a:t>
            </a:r>
            <a:endParaRPr lang="en-US" sz="1200" dirty="0"/>
          </a:p>
        </p:txBody>
      </p:sp>
      <p:sp>
        <p:nvSpPr>
          <p:cNvPr id="19" name="Text 13"/>
          <p:cNvSpPr/>
          <p:nvPr/>
        </p:nvSpPr>
        <p:spPr>
          <a:xfrm>
            <a:off x="2587752" y="2971800"/>
            <a:ext cx="310896" cy="502920"/>
          </a:xfrm>
          <a:prstGeom prst="rect">
            <a:avLst/>
          </a:prstGeom>
          <a:noFill/>
          <a:ln/>
        </p:spPr>
        <p:txBody>
          <a:bodyPr wrap="square" lIns="0" tIns="0" rIns="0" bIns="0" rtlCol="0" anchor="ctr"/>
          <a:lstStyle/>
          <a:p>
            <a:pPr algn="ctr" indent="0" marL="0">
              <a:buNone/>
            </a:pPr>
            <a:r>
              <a:rPr lang="en-US" sz="1800" b="1" dirty="0">
                <a:solidFill>
                  <a:srgbClr val="B4587A"/>
                </a:solidFill>
                <a:latin typeface="Noto Sans CJK JP" pitchFamily="34" charset="0"/>
                <a:ea typeface="Noto Sans CJK JP" pitchFamily="34" charset="-122"/>
                <a:cs typeface="Noto Sans CJK JP" pitchFamily="34" charset="-120"/>
              </a:rPr>
              <a:t>→</a:t>
            </a:r>
            <a:endParaRPr lang="en-US" sz="1800" dirty="0"/>
          </a:p>
        </p:txBody>
      </p:sp>
      <p:sp>
        <p:nvSpPr>
          <p:cNvPr id="20" name="Shape 14"/>
          <p:cNvSpPr/>
          <p:nvPr/>
        </p:nvSpPr>
        <p:spPr>
          <a:xfrm>
            <a:off x="2770632" y="2148840"/>
            <a:ext cx="2057400" cy="2286000"/>
          </a:xfrm>
          <a:prstGeom prst="roundRect">
            <a:avLst>
              <a:gd name="adj" fmla="val 5333"/>
            </a:avLst>
          </a:prstGeom>
          <a:solidFill>
            <a:srgbClr val="FBF1F4"/>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21" name="Shape 15"/>
          <p:cNvSpPr/>
          <p:nvPr/>
        </p:nvSpPr>
        <p:spPr>
          <a:xfrm>
            <a:off x="3360420" y="2377440"/>
            <a:ext cx="877824" cy="877824"/>
          </a:xfrm>
          <a:prstGeom prst="ellipse">
            <a:avLst/>
          </a:prstGeom>
          <a:solidFill>
            <a:srgbClr val="B4587A"/>
          </a:solidFill>
          <a:ln/>
        </p:spPr>
      </p:sp>
      <p:pic>
        <p:nvPicPr>
          <p:cNvPr id="22" name="Image 4" descr="preencoded.png">    </p:cNvPr>
          <p:cNvPicPr>
            <a:picLocks noChangeAspect="1"/>
          </p:cNvPicPr>
          <p:nvPr/>
        </p:nvPicPr>
        <p:blipFill>
          <a:blip r:embed="rId5"/>
          <a:stretch>
            <a:fillRect/>
          </a:stretch>
        </p:blipFill>
        <p:spPr>
          <a:xfrm>
            <a:off x="3597432" y="2614452"/>
            <a:ext cx="403799" cy="403799"/>
          </a:xfrm>
          <a:prstGeom prst="rect">
            <a:avLst/>
          </a:prstGeom>
        </p:spPr>
      </p:pic>
      <p:sp>
        <p:nvSpPr>
          <p:cNvPr id="23" name="Text 16"/>
          <p:cNvSpPr/>
          <p:nvPr/>
        </p:nvSpPr>
        <p:spPr>
          <a:xfrm>
            <a:off x="2862072" y="3364992"/>
            <a:ext cx="1874520" cy="457200"/>
          </a:xfrm>
          <a:prstGeom prst="rect">
            <a:avLst/>
          </a:prstGeom>
          <a:noFill/>
          <a:ln/>
        </p:spPr>
        <p:txBody>
          <a:bodyPr wrap="square" lIns="0" tIns="0" rIns="0" bIns="0" rtlCol="0" anchor="ctr"/>
          <a:lstStyle/>
          <a:p>
            <a:pPr algn="ctr" indent="0" marL="0">
              <a:buNone/>
            </a:pPr>
            <a:r>
              <a:rPr lang="en-US" sz="1650" b="1" dirty="0">
                <a:solidFill>
                  <a:srgbClr val="8E3556"/>
                </a:solidFill>
                <a:latin typeface="Noto Sans CJK JP" pitchFamily="34" charset="0"/>
                <a:ea typeface="Noto Sans CJK JP" pitchFamily="34" charset="-122"/>
                <a:cs typeface="Noto Sans CJK JP" pitchFamily="34" charset="-120"/>
              </a:rPr>
              <a:t>②役割</a:t>
            </a:r>
            <a:endParaRPr lang="en-US" sz="1650" dirty="0"/>
          </a:p>
        </p:txBody>
      </p:sp>
      <p:sp>
        <p:nvSpPr>
          <p:cNvPr id="24" name="Text 17"/>
          <p:cNvSpPr/>
          <p:nvPr/>
        </p:nvSpPr>
        <p:spPr>
          <a:xfrm>
            <a:off x="2880360" y="3822192"/>
            <a:ext cx="1837944" cy="548640"/>
          </a:xfrm>
          <a:prstGeom prst="rect">
            <a:avLst/>
          </a:prstGeom>
          <a:noFill/>
          <a:ln/>
        </p:spPr>
        <p:txBody>
          <a:bodyPr wrap="square" lIns="0" tIns="0" rIns="0" bIns="0" rtlCol="0" anchor="ctr"/>
          <a:lstStyle/>
          <a:p>
            <a:pPr algn="ctr" indent="0" marL="0">
              <a:lnSpc>
                <a:spcPct val="105000"/>
              </a:lnSpc>
              <a:buNone/>
            </a:pPr>
            <a:r>
              <a:rPr lang="en-US" sz="1200" dirty="0">
                <a:solidFill>
                  <a:srgbClr val="3A2C31"/>
                </a:solidFill>
                <a:latin typeface="Noto Sans CJK JP" pitchFamily="34" charset="0"/>
                <a:ea typeface="Noto Sans CJK JP" pitchFamily="34" charset="-122"/>
                <a:cs typeface="Noto Sans CJK JP" pitchFamily="34" charset="-120"/>
              </a:rPr>
              <a:t>誰が・いつ・何を</a:t>
            </a:r>
            <a:endParaRPr lang="en-US" sz="1200" dirty="0"/>
          </a:p>
        </p:txBody>
      </p:sp>
      <p:sp>
        <p:nvSpPr>
          <p:cNvPr id="25" name="Text 18"/>
          <p:cNvSpPr/>
          <p:nvPr/>
        </p:nvSpPr>
        <p:spPr>
          <a:xfrm>
            <a:off x="4809744" y="2971800"/>
            <a:ext cx="310896" cy="502920"/>
          </a:xfrm>
          <a:prstGeom prst="rect">
            <a:avLst/>
          </a:prstGeom>
          <a:noFill/>
          <a:ln/>
        </p:spPr>
        <p:txBody>
          <a:bodyPr wrap="square" lIns="0" tIns="0" rIns="0" bIns="0" rtlCol="0" anchor="ctr"/>
          <a:lstStyle/>
          <a:p>
            <a:pPr algn="ctr" indent="0" marL="0">
              <a:buNone/>
            </a:pPr>
            <a:r>
              <a:rPr lang="en-US" sz="1800" b="1" dirty="0">
                <a:solidFill>
                  <a:srgbClr val="B4587A"/>
                </a:solidFill>
                <a:latin typeface="Noto Sans CJK JP" pitchFamily="34" charset="0"/>
                <a:ea typeface="Noto Sans CJK JP" pitchFamily="34" charset="-122"/>
                <a:cs typeface="Noto Sans CJK JP" pitchFamily="34" charset="-120"/>
              </a:rPr>
              <a:t>→</a:t>
            </a:r>
            <a:endParaRPr lang="en-US" sz="1800" dirty="0"/>
          </a:p>
        </p:txBody>
      </p:sp>
      <p:sp>
        <p:nvSpPr>
          <p:cNvPr id="26" name="Shape 19"/>
          <p:cNvSpPr/>
          <p:nvPr/>
        </p:nvSpPr>
        <p:spPr>
          <a:xfrm>
            <a:off x="4992624" y="2148840"/>
            <a:ext cx="2057400" cy="2286000"/>
          </a:xfrm>
          <a:prstGeom prst="roundRect">
            <a:avLst>
              <a:gd name="adj" fmla="val 5333"/>
            </a:avLst>
          </a:prstGeom>
          <a:solidFill>
            <a:srgbClr val="FBF1F4"/>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27" name="Shape 20"/>
          <p:cNvSpPr/>
          <p:nvPr/>
        </p:nvSpPr>
        <p:spPr>
          <a:xfrm>
            <a:off x="5582412" y="2377440"/>
            <a:ext cx="877824" cy="877824"/>
          </a:xfrm>
          <a:prstGeom prst="ellipse">
            <a:avLst/>
          </a:prstGeom>
          <a:solidFill>
            <a:srgbClr val="CFA15C"/>
          </a:solidFill>
          <a:ln/>
        </p:spPr>
      </p:sp>
      <p:pic>
        <p:nvPicPr>
          <p:cNvPr id="28" name="Image 5" descr="preencoded.png">    </p:cNvPr>
          <p:cNvPicPr>
            <a:picLocks noChangeAspect="1"/>
          </p:cNvPicPr>
          <p:nvPr/>
        </p:nvPicPr>
        <p:blipFill>
          <a:blip r:embed="rId6"/>
          <a:stretch>
            <a:fillRect/>
          </a:stretch>
        </p:blipFill>
        <p:spPr>
          <a:xfrm>
            <a:off x="5819424" y="2614452"/>
            <a:ext cx="403799" cy="403799"/>
          </a:xfrm>
          <a:prstGeom prst="rect">
            <a:avLst/>
          </a:prstGeom>
        </p:spPr>
      </p:pic>
      <p:sp>
        <p:nvSpPr>
          <p:cNvPr id="29" name="Text 21"/>
          <p:cNvSpPr/>
          <p:nvPr/>
        </p:nvSpPr>
        <p:spPr>
          <a:xfrm>
            <a:off x="5084064" y="3364992"/>
            <a:ext cx="1874520" cy="457200"/>
          </a:xfrm>
          <a:prstGeom prst="rect">
            <a:avLst/>
          </a:prstGeom>
          <a:noFill/>
          <a:ln/>
        </p:spPr>
        <p:txBody>
          <a:bodyPr wrap="square" lIns="0" tIns="0" rIns="0" bIns="0" rtlCol="0" anchor="ctr"/>
          <a:lstStyle/>
          <a:p>
            <a:pPr algn="ctr" indent="0" marL="0">
              <a:buNone/>
            </a:pPr>
            <a:r>
              <a:rPr lang="en-US" sz="1650" b="1" dirty="0">
                <a:solidFill>
                  <a:srgbClr val="8E3556"/>
                </a:solidFill>
                <a:latin typeface="Noto Sans CJK JP" pitchFamily="34" charset="0"/>
                <a:ea typeface="Noto Sans CJK JP" pitchFamily="34" charset="-122"/>
                <a:cs typeface="Noto Sans CJK JP" pitchFamily="34" charset="-120"/>
              </a:rPr>
              <a:t>③やり直し</a:t>
            </a:r>
            <a:endParaRPr lang="en-US" sz="1650" dirty="0"/>
          </a:p>
        </p:txBody>
      </p:sp>
      <p:sp>
        <p:nvSpPr>
          <p:cNvPr id="30" name="Text 22"/>
          <p:cNvSpPr/>
          <p:nvPr/>
        </p:nvSpPr>
        <p:spPr>
          <a:xfrm>
            <a:off x="5102352" y="3822192"/>
            <a:ext cx="1837944" cy="548640"/>
          </a:xfrm>
          <a:prstGeom prst="rect">
            <a:avLst/>
          </a:prstGeom>
          <a:noFill/>
          <a:ln/>
        </p:spPr>
        <p:txBody>
          <a:bodyPr wrap="square" lIns="0" tIns="0" rIns="0" bIns="0" rtlCol="0" anchor="ctr"/>
          <a:lstStyle/>
          <a:p>
            <a:pPr algn="ctr" indent="0" marL="0">
              <a:lnSpc>
                <a:spcPct val="105000"/>
              </a:lnSpc>
              <a:buNone/>
            </a:pPr>
            <a:r>
              <a:rPr lang="en-US" sz="1200" dirty="0">
                <a:solidFill>
                  <a:srgbClr val="3A2C31"/>
                </a:solidFill>
                <a:latin typeface="Noto Sans CJK JP" pitchFamily="34" charset="0"/>
                <a:ea typeface="Noto Sans CJK JP" pitchFamily="34" charset="-122"/>
                <a:cs typeface="Noto Sans CJK JP" pitchFamily="34" charset="-120"/>
              </a:rPr>
              <a:t>N回→仕様変更</a:t>
            </a:r>
            <a:endParaRPr lang="en-US" sz="1200" dirty="0"/>
          </a:p>
        </p:txBody>
      </p:sp>
      <p:sp>
        <p:nvSpPr>
          <p:cNvPr id="31" name="Text 23"/>
          <p:cNvSpPr/>
          <p:nvPr/>
        </p:nvSpPr>
        <p:spPr>
          <a:xfrm>
            <a:off x="7031736" y="2971800"/>
            <a:ext cx="310896" cy="502920"/>
          </a:xfrm>
          <a:prstGeom prst="rect">
            <a:avLst/>
          </a:prstGeom>
          <a:noFill/>
          <a:ln/>
        </p:spPr>
        <p:txBody>
          <a:bodyPr wrap="square" lIns="0" tIns="0" rIns="0" bIns="0" rtlCol="0" anchor="ctr"/>
          <a:lstStyle/>
          <a:p>
            <a:pPr algn="ctr" indent="0" marL="0">
              <a:buNone/>
            </a:pPr>
            <a:r>
              <a:rPr lang="en-US" sz="1800" b="1" dirty="0">
                <a:solidFill>
                  <a:srgbClr val="B4587A"/>
                </a:solidFill>
                <a:latin typeface="Noto Sans CJK JP" pitchFamily="34" charset="0"/>
                <a:ea typeface="Noto Sans CJK JP" pitchFamily="34" charset="-122"/>
                <a:cs typeface="Noto Sans CJK JP" pitchFamily="34" charset="-120"/>
              </a:rPr>
              <a:t>→</a:t>
            </a:r>
            <a:endParaRPr lang="en-US" sz="1800" dirty="0"/>
          </a:p>
        </p:txBody>
      </p:sp>
      <p:sp>
        <p:nvSpPr>
          <p:cNvPr id="32" name="Shape 24"/>
          <p:cNvSpPr/>
          <p:nvPr/>
        </p:nvSpPr>
        <p:spPr>
          <a:xfrm>
            <a:off x="7214616" y="2148840"/>
            <a:ext cx="2057400" cy="2286000"/>
          </a:xfrm>
          <a:prstGeom prst="roundRect">
            <a:avLst>
              <a:gd name="adj" fmla="val 5333"/>
            </a:avLst>
          </a:prstGeom>
          <a:solidFill>
            <a:srgbClr val="FBF1F4"/>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33" name="Shape 25"/>
          <p:cNvSpPr/>
          <p:nvPr/>
        </p:nvSpPr>
        <p:spPr>
          <a:xfrm>
            <a:off x="7804404" y="2377440"/>
            <a:ext cx="877824" cy="877824"/>
          </a:xfrm>
          <a:prstGeom prst="ellipse">
            <a:avLst/>
          </a:prstGeom>
          <a:solidFill>
            <a:srgbClr val="D98AA0"/>
          </a:solidFill>
          <a:ln/>
        </p:spPr>
      </p:sp>
      <p:pic>
        <p:nvPicPr>
          <p:cNvPr id="34" name="Image 6" descr="preencoded.png">    </p:cNvPr>
          <p:cNvPicPr>
            <a:picLocks noChangeAspect="1"/>
          </p:cNvPicPr>
          <p:nvPr/>
        </p:nvPicPr>
        <p:blipFill>
          <a:blip r:embed="rId7"/>
          <a:stretch>
            <a:fillRect/>
          </a:stretch>
        </p:blipFill>
        <p:spPr>
          <a:xfrm>
            <a:off x="8041416" y="2614452"/>
            <a:ext cx="403799" cy="403799"/>
          </a:xfrm>
          <a:prstGeom prst="rect">
            <a:avLst/>
          </a:prstGeom>
        </p:spPr>
      </p:pic>
      <p:sp>
        <p:nvSpPr>
          <p:cNvPr id="35" name="Text 26"/>
          <p:cNvSpPr/>
          <p:nvPr/>
        </p:nvSpPr>
        <p:spPr>
          <a:xfrm>
            <a:off x="7306056" y="3364992"/>
            <a:ext cx="1874520" cy="457200"/>
          </a:xfrm>
          <a:prstGeom prst="rect">
            <a:avLst/>
          </a:prstGeom>
          <a:noFill/>
          <a:ln/>
        </p:spPr>
        <p:txBody>
          <a:bodyPr wrap="square" lIns="0" tIns="0" rIns="0" bIns="0" rtlCol="0" anchor="ctr"/>
          <a:lstStyle/>
          <a:p>
            <a:pPr algn="ctr" indent="0" marL="0">
              <a:buNone/>
            </a:pPr>
            <a:r>
              <a:rPr lang="en-US" sz="1650" b="1" dirty="0">
                <a:solidFill>
                  <a:srgbClr val="8E3556"/>
                </a:solidFill>
                <a:latin typeface="Noto Sans CJK JP" pitchFamily="34" charset="0"/>
                <a:ea typeface="Noto Sans CJK JP" pitchFamily="34" charset="-122"/>
                <a:cs typeface="Noto Sans CJK JP" pitchFamily="34" charset="-120"/>
              </a:rPr>
              <a:t>④形式知化</a:t>
            </a:r>
            <a:endParaRPr lang="en-US" sz="1650" dirty="0"/>
          </a:p>
        </p:txBody>
      </p:sp>
      <p:sp>
        <p:nvSpPr>
          <p:cNvPr id="36" name="Text 27"/>
          <p:cNvSpPr/>
          <p:nvPr/>
        </p:nvSpPr>
        <p:spPr>
          <a:xfrm>
            <a:off x="7324344" y="3822192"/>
            <a:ext cx="1837944" cy="548640"/>
          </a:xfrm>
          <a:prstGeom prst="rect">
            <a:avLst/>
          </a:prstGeom>
          <a:noFill/>
          <a:ln/>
        </p:spPr>
        <p:txBody>
          <a:bodyPr wrap="square" lIns="0" tIns="0" rIns="0" bIns="0" rtlCol="0" anchor="ctr"/>
          <a:lstStyle/>
          <a:p>
            <a:pPr algn="ctr" indent="0" marL="0">
              <a:lnSpc>
                <a:spcPct val="105000"/>
              </a:lnSpc>
              <a:buNone/>
            </a:pPr>
            <a:r>
              <a:rPr lang="en-US" sz="1200" dirty="0">
                <a:solidFill>
                  <a:srgbClr val="3A2C31"/>
                </a:solidFill>
                <a:latin typeface="Noto Sans CJK JP" pitchFamily="34" charset="0"/>
                <a:ea typeface="Noto Sans CJK JP" pitchFamily="34" charset="-122"/>
                <a:cs typeface="Noto Sans CJK JP" pitchFamily="34" charset="-120"/>
              </a:rPr>
              <a:t>暗黙知を渡す</a:t>
            </a:r>
            <a:endParaRPr lang="en-US" sz="1200" dirty="0"/>
          </a:p>
        </p:txBody>
      </p:sp>
      <p:sp>
        <p:nvSpPr>
          <p:cNvPr id="37" name="Text 28"/>
          <p:cNvSpPr/>
          <p:nvPr/>
        </p:nvSpPr>
        <p:spPr>
          <a:xfrm>
            <a:off x="9253728" y="2971800"/>
            <a:ext cx="310896" cy="502920"/>
          </a:xfrm>
          <a:prstGeom prst="rect">
            <a:avLst/>
          </a:prstGeom>
          <a:noFill/>
          <a:ln/>
        </p:spPr>
        <p:txBody>
          <a:bodyPr wrap="square" lIns="0" tIns="0" rIns="0" bIns="0" rtlCol="0" anchor="ctr"/>
          <a:lstStyle/>
          <a:p>
            <a:pPr algn="ctr" indent="0" marL="0">
              <a:buNone/>
            </a:pPr>
            <a:r>
              <a:rPr lang="en-US" sz="1800" b="1" dirty="0">
                <a:solidFill>
                  <a:srgbClr val="B4587A"/>
                </a:solidFill>
                <a:latin typeface="Noto Sans CJK JP" pitchFamily="34" charset="0"/>
                <a:ea typeface="Noto Sans CJK JP" pitchFamily="34" charset="-122"/>
                <a:cs typeface="Noto Sans CJK JP" pitchFamily="34" charset="-120"/>
              </a:rPr>
              <a:t>→</a:t>
            </a:r>
            <a:endParaRPr lang="en-US" sz="1800" dirty="0"/>
          </a:p>
        </p:txBody>
      </p:sp>
      <p:sp>
        <p:nvSpPr>
          <p:cNvPr id="38" name="Shape 29"/>
          <p:cNvSpPr/>
          <p:nvPr/>
        </p:nvSpPr>
        <p:spPr>
          <a:xfrm>
            <a:off x="9436608" y="2148840"/>
            <a:ext cx="2057400" cy="2286000"/>
          </a:xfrm>
          <a:prstGeom prst="roundRect">
            <a:avLst>
              <a:gd name="adj" fmla="val 5333"/>
            </a:avLst>
          </a:prstGeom>
          <a:solidFill>
            <a:srgbClr val="EAF3EE"/>
          </a:solidFill>
          <a:ln w="12700">
            <a:solidFill>
              <a:srgbClr val="4E8568"/>
            </a:solidFill>
            <a:prstDash val="solid"/>
          </a:ln>
          <a:effectLst>
            <a:outerShdw sx="100000" sy="100000" kx="0" ky="0" algn="bl" rotWithShape="0" blurRad="76200" dist="25400" dir="5400000">
              <a:srgbClr val="000000">
                <a:alpha val="10000"/>
              </a:srgbClr>
            </a:outerShdw>
          </a:effectLst>
        </p:spPr>
      </p:sp>
      <p:sp>
        <p:nvSpPr>
          <p:cNvPr id="39" name="Shape 30"/>
          <p:cNvSpPr/>
          <p:nvPr/>
        </p:nvSpPr>
        <p:spPr>
          <a:xfrm>
            <a:off x="10026396" y="2377440"/>
            <a:ext cx="877824" cy="877824"/>
          </a:xfrm>
          <a:prstGeom prst="ellipse">
            <a:avLst/>
          </a:prstGeom>
          <a:solidFill>
            <a:srgbClr val="4E8568"/>
          </a:solidFill>
          <a:ln/>
        </p:spPr>
      </p:sp>
      <p:pic>
        <p:nvPicPr>
          <p:cNvPr id="40" name="Image 7" descr="preencoded.png">    </p:cNvPr>
          <p:cNvPicPr>
            <a:picLocks noChangeAspect="1"/>
          </p:cNvPicPr>
          <p:nvPr/>
        </p:nvPicPr>
        <p:blipFill>
          <a:blip r:embed="rId8"/>
          <a:stretch>
            <a:fillRect/>
          </a:stretch>
        </p:blipFill>
        <p:spPr>
          <a:xfrm>
            <a:off x="10263408" y="2614452"/>
            <a:ext cx="403799" cy="403799"/>
          </a:xfrm>
          <a:prstGeom prst="rect">
            <a:avLst/>
          </a:prstGeom>
        </p:spPr>
      </p:pic>
      <p:sp>
        <p:nvSpPr>
          <p:cNvPr id="41" name="Text 31"/>
          <p:cNvSpPr/>
          <p:nvPr/>
        </p:nvSpPr>
        <p:spPr>
          <a:xfrm>
            <a:off x="9528048" y="3364992"/>
            <a:ext cx="1874520" cy="457200"/>
          </a:xfrm>
          <a:prstGeom prst="rect">
            <a:avLst/>
          </a:prstGeom>
          <a:noFill/>
          <a:ln/>
        </p:spPr>
        <p:txBody>
          <a:bodyPr wrap="square" lIns="0" tIns="0" rIns="0" bIns="0" rtlCol="0" anchor="ctr"/>
          <a:lstStyle/>
          <a:p>
            <a:pPr algn="ctr" indent="0" marL="0">
              <a:buNone/>
            </a:pPr>
            <a:r>
              <a:rPr lang="en-US" sz="1650" b="1" dirty="0">
                <a:solidFill>
                  <a:srgbClr val="8E3556"/>
                </a:solidFill>
                <a:latin typeface="Noto Sans CJK JP" pitchFamily="34" charset="0"/>
                <a:ea typeface="Noto Sans CJK JP" pitchFamily="34" charset="-122"/>
                <a:cs typeface="Noto Sans CJK JP" pitchFamily="34" charset="-120"/>
              </a:rPr>
              <a:t>⑤見える化</a:t>
            </a:r>
            <a:endParaRPr lang="en-US" sz="1650" dirty="0"/>
          </a:p>
        </p:txBody>
      </p:sp>
      <p:sp>
        <p:nvSpPr>
          <p:cNvPr id="42" name="Text 32"/>
          <p:cNvSpPr/>
          <p:nvPr/>
        </p:nvSpPr>
        <p:spPr>
          <a:xfrm>
            <a:off x="9546336" y="3822192"/>
            <a:ext cx="1837944" cy="548640"/>
          </a:xfrm>
          <a:prstGeom prst="rect">
            <a:avLst/>
          </a:prstGeom>
          <a:noFill/>
          <a:ln/>
        </p:spPr>
        <p:txBody>
          <a:bodyPr wrap="square" lIns="0" tIns="0" rIns="0" bIns="0" rtlCol="0" anchor="ctr"/>
          <a:lstStyle/>
          <a:p>
            <a:pPr algn="ctr" indent="0" marL="0">
              <a:lnSpc>
                <a:spcPct val="105000"/>
              </a:lnSpc>
              <a:buNone/>
            </a:pPr>
            <a:r>
              <a:rPr lang="en-US" sz="1200" dirty="0">
                <a:solidFill>
                  <a:srgbClr val="3A2C31"/>
                </a:solidFill>
                <a:latin typeface="Noto Sans CJK JP" pitchFamily="34" charset="0"/>
                <a:ea typeface="Noto Sans CJK JP" pitchFamily="34" charset="-122"/>
                <a:cs typeface="Noto Sans CJK JP" pitchFamily="34" charset="-120"/>
              </a:rPr>
              <a:t>チェックリスト</a:t>
            </a:r>
            <a:endParaRPr lang="en-US" sz="1200" dirty="0"/>
          </a:p>
        </p:txBody>
      </p:sp>
      <p:sp>
        <p:nvSpPr>
          <p:cNvPr id="43" name="Shape 33"/>
          <p:cNvSpPr/>
          <p:nvPr/>
        </p:nvSpPr>
        <p:spPr>
          <a:xfrm>
            <a:off x="548640" y="4709160"/>
            <a:ext cx="6318504" cy="457200"/>
          </a:xfrm>
          <a:prstGeom prst="roundRect">
            <a:avLst>
              <a:gd name="adj" fmla="val 16000"/>
            </a:avLst>
          </a:prstGeom>
          <a:solidFill>
            <a:srgbClr val="FBF1F4"/>
          </a:solidFill>
          <a:ln/>
        </p:spPr>
      </p:sp>
      <p:sp>
        <p:nvSpPr>
          <p:cNvPr id="44" name="Text 34"/>
          <p:cNvSpPr/>
          <p:nvPr/>
        </p:nvSpPr>
        <p:spPr>
          <a:xfrm>
            <a:off x="548640" y="4709160"/>
            <a:ext cx="6318504" cy="457200"/>
          </a:xfrm>
          <a:prstGeom prst="rect">
            <a:avLst/>
          </a:prstGeom>
          <a:noFill/>
          <a:ln/>
        </p:spPr>
        <p:txBody>
          <a:bodyPr wrap="square" lIns="0" tIns="0" rIns="0" bIns="0" rtlCol="0" anchor="ctr"/>
          <a:lstStyle/>
          <a:p>
            <a:pPr algn="ctr" indent="0" marL="0">
              <a:buNone/>
            </a:pPr>
            <a:r>
              <a:rPr lang="en-US" sz="1250" b="1" dirty="0">
                <a:solidFill>
                  <a:srgbClr val="B4587A"/>
                </a:solidFill>
                <a:latin typeface="Noto Sans CJK JP" pitchFamily="34" charset="0"/>
                <a:ea typeface="Noto Sans CJK JP" pitchFamily="34" charset="-122"/>
                <a:cs typeface="Noto Sans CJK JP" pitchFamily="34" charset="-120"/>
              </a:rPr>
              <a:t>着手前に“先に握る”</a:t>
            </a:r>
            <a:endParaRPr lang="en-US" sz="1250" dirty="0"/>
          </a:p>
        </p:txBody>
      </p:sp>
      <p:sp>
        <p:nvSpPr>
          <p:cNvPr id="45" name="Shape 35"/>
          <p:cNvSpPr/>
          <p:nvPr/>
        </p:nvSpPr>
        <p:spPr>
          <a:xfrm>
            <a:off x="7031736" y="4709160"/>
            <a:ext cx="4581144" cy="457200"/>
          </a:xfrm>
          <a:prstGeom prst="roundRect">
            <a:avLst>
              <a:gd name="adj" fmla="val 16000"/>
            </a:avLst>
          </a:prstGeom>
          <a:solidFill>
            <a:srgbClr val="EAF3EE"/>
          </a:solidFill>
          <a:ln/>
        </p:spPr>
      </p:sp>
      <p:sp>
        <p:nvSpPr>
          <p:cNvPr id="46" name="Text 36"/>
          <p:cNvSpPr/>
          <p:nvPr/>
        </p:nvSpPr>
        <p:spPr>
          <a:xfrm>
            <a:off x="7031736" y="4709160"/>
            <a:ext cx="4581144" cy="457200"/>
          </a:xfrm>
          <a:prstGeom prst="rect">
            <a:avLst/>
          </a:prstGeom>
          <a:noFill/>
          <a:ln/>
        </p:spPr>
        <p:txBody>
          <a:bodyPr wrap="square" lIns="0" tIns="0" rIns="0" bIns="0" rtlCol="0" anchor="ctr"/>
          <a:lstStyle/>
          <a:p>
            <a:pPr algn="ctr" indent="0" marL="0">
              <a:buNone/>
            </a:pPr>
            <a:r>
              <a:rPr lang="en-US" sz="1250" b="1" dirty="0">
                <a:solidFill>
                  <a:srgbClr val="4E8568"/>
                </a:solidFill>
                <a:latin typeface="Noto Sans CJK JP" pitchFamily="34" charset="0"/>
                <a:ea typeface="Noto Sans CJK JP" pitchFamily="34" charset="-122"/>
                <a:cs typeface="Noto Sans CJK JP" pitchFamily="34" charset="-120"/>
              </a:rPr>
              <a:t>走りながら“見える化”</a:t>
            </a:r>
            <a:endParaRPr lang="en-US" sz="1250" dirty="0"/>
          </a:p>
        </p:txBody>
      </p:sp>
      <p:sp>
        <p:nvSpPr>
          <p:cNvPr id="47" name="Shape 37"/>
          <p:cNvSpPr/>
          <p:nvPr/>
        </p:nvSpPr>
        <p:spPr>
          <a:xfrm>
            <a:off x="548640" y="5349240"/>
            <a:ext cx="11064240" cy="960120"/>
          </a:xfrm>
          <a:prstGeom prst="roundRect">
            <a:avLst>
              <a:gd name="adj" fmla="val 9524"/>
            </a:avLst>
          </a:prstGeom>
          <a:solidFill>
            <a:srgbClr val="FBF1F4"/>
          </a:solidFill>
          <a:ln w="12700">
            <a:solidFill>
              <a:srgbClr val="EBB4C4"/>
            </a:solidFill>
            <a:prstDash val="solid"/>
          </a:ln>
        </p:spPr>
      </p:sp>
      <p:pic>
        <p:nvPicPr>
          <p:cNvPr id="48" name="Image 8" descr="preencoded.png">    </p:cNvPr>
          <p:cNvPicPr>
            <a:picLocks noChangeAspect="1"/>
          </p:cNvPicPr>
          <p:nvPr/>
        </p:nvPicPr>
        <p:blipFill>
          <a:blip r:embed="rId9"/>
          <a:stretch>
            <a:fillRect/>
          </a:stretch>
        </p:blipFill>
        <p:spPr>
          <a:xfrm>
            <a:off x="749808" y="5545836"/>
            <a:ext cx="566928" cy="566928"/>
          </a:xfrm>
          <a:prstGeom prst="rect">
            <a:avLst/>
          </a:prstGeom>
        </p:spPr>
      </p:pic>
      <p:sp>
        <p:nvSpPr>
          <p:cNvPr id="49" name="Text 38"/>
          <p:cNvSpPr/>
          <p:nvPr/>
        </p:nvSpPr>
        <p:spPr>
          <a:xfrm>
            <a:off x="1508760" y="5349240"/>
            <a:ext cx="9875520" cy="960120"/>
          </a:xfrm>
          <a:prstGeom prst="rect">
            <a:avLst/>
          </a:prstGeom>
          <a:noFill/>
          <a:ln/>
        </p:spPr>
        <p:txBody>
          <a:bodyPr wrap="square" lIns="0" tIns="0" rIns="0" bIns="0" rtlCol="0" anchor="ctr"/>
          <a:lstStyle/>
          <a:p>
            <a:pPr indent="0" marL="0">
              <a:lnSpc>
                <a:spcPct val="114000"/>
              </a:lnSpc>
              <a:buNone/>
            </a:pPr>
            <a:r>
              <a:rPr lang="en-US" sz="1350" b="1" dirty="0">
                <a:solidFill>
                  <a:srgbClr val="8E3556"/>
                </a:solidFill>
                <a:latin typeface="Noto Sans CJK JP" pitchFamily="34" charset="0"/>
                <a:ea typeface="Noto Sans CJK JP" pitchFamily="34" charset="-122"/>
                <a:cs typeface="Noto Sans CJK JP" pitchFamily="34" charset="-120"/>
              </a:rPr>
              <a:t>問い　</a:t>
            </a:r>
            <a:pPr indent="0" marL="0">
              <a:lnSpc>
                <a:spcPct val="114000"/>
              </a:lnSpc>
              <a:buNone/>
            </a:pPr>
            <a:r>
              <a:rPr lang="en-US" sz="1350" dirty="0">
                <a:solidFill>
                  <a:srgbClr val="3A2C31"/>
                </a:solidFill>
                <a:latin typeface="Noto Sans CJK JP" pitchFamily="34" charset="0"/>
                <a:ea typeface="Noto Sans CJK JP" pitchFamily="34" charset="-122"/>
                <a:cs typeface="Noto Sans CJK JP" pitchFamily="34" charset="-120"/>
              </a:rPr>
              <a:t>この地図のうち、あなたの現場で“今いちばん抜けている”のはどれでしょう？　そこから1つ試すのがおすすめです。</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10896"/>
          </a:xfrm>
          <a:prstGeom prst="rect">
            <a:avLst/>
          </a:prstGeom>
          <a:solidFill>
            <a:srgbClr val="574039"/>
          </a:solidFill>
          <a:ln/>
        </p:spPr>
      </p:sp>
      <p:pic>
        <p:nvPicPr>
          <p:cNvPr id="3" name="Image 0" descr="preencoded.png">    </p:cNvPr>
          <p:cNvPicPr>
            <a:picLocks noChangeAspect="1"/>
          </p:cNvPicPr>
          <p:nvPr/>
        </p:nvPicPr>
        <p:blipFill>
          <a:blip r:embed="rId1"/>
          <a:stretch>
            <a:fillRect/>
          </a:stretch>
        </p:blipFill>
        <p:spPr>
          <a:xfrm>
            <a:off x="457200" y="54864"/>
            <a:ext cx="201168" cy="201168"/>
          </a:xfrm>
          <a:prstGeom prst="rect">
            <a:avLst/>
          </a:prstGeom>
        </p:spPr>
      </p:pic>
      <p:sp>
        <p:nvSpPr>
          <p:cNvPr id="4" name="Text 1"/>
          <p:cNvSpPr/>
          <p:nvPr/>
        </p:nvSpPr>
        <p:spPr>
          <a:xfrm>
            <a:off x="731520" y="0"/>
            <a:ext cx="4572000" cy="310896"/>
          </a:xfrm>
          <a:prstGeom prst="rect">
            <a:avLst/>
          </a:prstGeom>
          <a:noFill/>
          <a:ln/>
        </p:spPr>
        <p:txBody>
          <a:bodyPr wrap="square" lIns="0" tIns="0" rIns="0" bIns="0" rtlCol="0" anchor="ctr"/>
          <a:lstStyle/>
          <a:p>
            <a:pPr indent="0" marL="0">
              <a:buNone/>
            </a:pPr>
            <a:r>
              <a:rPr lang="en-US" sz="1000" dirty="0">
                <a:solidFill>
                  <a:srgbClr val="F4E9E2"/>
                </a:solidFill>
                <a:latin typeface="Noto Sans CJK JP" pitchFamily="34" charset="0"/>
                <a:ea typeface="Noto Sans CJK JP" pitchFamily="34" charset="-122"/>
                <a:cs typeface="Noto Sans CJK JP" pitchFamily="34" charset="-120"/>
              </a:rPr>
              <a:t>うさうさ研修工房</a:t>
            </a:r>
            <a:endParaRPr lang="en-US" sz="1000" dirty="0"/>
          </a:p>
        </p:txBody>
      </p:sp>
      <p:sp>
        <p:nvSpPr>
          <p:cNvPr id="5" name="Text 2"/>
          <p:cNvSpPr/>
          <p:nvPr/>
        </p:nvSpPr>
        <p:spPr>
          <a:xfrm>
            <a:off x="7132320" y="0"/>
            <a:ext cx="45720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合意設計 ・ 考えさせる編</a:t>
            </a:r>
            <a:endParaRPr lang="en-US" sz="1000" dirty="0"/>
          </a:p>
        </p:txBody>
      </p:sp>
      <p:sp>
        <p:nvSpPr>
          <p:cNvPr id="6" name="Shape 3"/>
          <p:cNvSpPr/>
          <p:nvPr/>
        </p:nvSpPr>
        <p:spPr>
          <a:xfrm>
            <a:off x="0" y="6547104"/>
            <a:ext cx="12161520" cy="310896"/>
          </a:xfrm>
          <a:prstGeom prst="rect">
            <a:avLst/>
          </a:prstGeom>
          <a:solidFill>
            <a:srgbClr val="574039"/>
          </a:solidFill>
          <a:ln/>
        </p:spPr>
      </p:sp>
      <p:pic>
        <p:nvPicPr>
          <p:cNvPr id="7" name="Image 1" descr="preencoded.png">    </p:cNvPr>
          <p:cNvPicPr>
            <a:picLocks noChangeAspect="1"/>
          </p:cNvPicPr>
          <p:nvPr/>
        </p:nvPicPr>
        <p:blipFill>
          <a:blip r:embed="rId2"/>
          <a:stretch>
            <a:fillRect/>
          </a:stretch>
        </p:blipFill>
        <p:spPr>
          <a:xfrm>
            <a:off x="457200" y="6601968"/>
            <a:ext cx="201168" cy="201168"/>
          </a:xfrm>
          <a:prstGeom prst="rect">
            <a:avLst/>
          </a:prstGeom>
        </p:spPr>
      </p:pic>
      <p:sp>
        <p:nvSpPr>
          <p:cNvPr id="8" name="Text 4"/>
          <p:cNvSpPr/>
          <p:nvPr/>
        </p:nvSpPr>
        <p:spPr>
          <a:xfrm>
            <a:off x="731520" y="6547104"/>
            <a:ext cx="5486400" cy="310896"/>
          </a:xfrm>
          <a:prstGeom prst="rect">
            <a:avLst/>
          </a:prstGeom>
          <a:noFill/>
          <a:ln/>
        </p:spPr>
        <p:txBody>
          <a:bodyPr wrap="square" lIns="0" tIns="0" rIns="0" bIns="0" rtlCol="0" anchor="ctr"/>
          <a:lstStyle/>
          <a:p>
            <a:pPr indent="0" marL="0">
              <a:buNone/>
            </a:pPr>
            <a:r>
              <a:rPr lang="en-US" sz="950" dirty="0">
                <a:solidFill>
                  <a:srgbClr val="F4E9E2"/>
                </a:solidFill>
                <a:latin typeface="Noto Sans CJK JP" pitchFamily="34" charset="0"/>
                <a:ea typeface="Noto Sans CJK JP" pitchFamily="34" charset="-122"/>
                <a:cs typeface="Noto Sans CJK JP" pitchFamily="34" charset="-120"/>
              </a:rPr>
              <a:t>面白きこともなき世を面白く 🐰</a:t>
            </a:r>
            <a:endParaRPr lang="en-US" sz="950" dirty="0"/>
          </a:p>
        </p:txBody>
      </p:sp>
      <p:sp>
        <p:nvSpPr>
          <p:cNvPr id="9" name="Text 5"/>
          <p:cNvSpPr/>
          <p:nvPr/>
        </p:nvSpPr>
        <p:spPr>
          <a:xfrm>
            <a:off x="11247120" y="6547104"/>
            <a:ext cx="4572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7</a:t>
            </a:r>
            <a:endParaRPr lang="en-US" sz="1000" dirty="0"/>
          </a:p>
        </p:txBody>
      </p:sp>
      <p:sp>
        <p:nvSpPr>
          <p:cNvPr id="10" name="Shape 6"/>
          <p:cNvSpPr/>
          <p:nvPr/>
        </p:nvSpPr>
        <p:spPr>
          <a:xfrm>
            <a:off x="502920" y="502920"/>
            <a:ext cx="749808" cy="749808"/>
          </a:xfrm>
          <a:prstGeom prst="ellipse">
            <a:avLst/>
          </a:prstGeom>
          <a:solidFill>
            <a:srgbClr val="B4587A"/>
          </a:solidFill>
          <a:ln/>
        </p:spPr>
      </p:sp>
      <p:pic>
        <p:nvPicPr>
          <p:cNvPr id="11" name="Image 2" descr="preencoded.png">    </p:cNvPr>
          <p:cNvPicPr>
            <a:picLocks noChangeAspect="1"/>
          </p:cNvPicPr>
          <p:nvPr/>
        </p:nvPicPr>
        <p:blipFill>
          <a:blip r:embed="rId3"/>
          <a:stretch>
            <a:fillRect/>
          </a:stretch>
        </p:blipFill>
        <p:spPr>
          <a:xfrm>
            <a:off x="705368" y="705368"/>
            <a:ext cx="344912" cy="344912"/>
          </a:xfrm>
          <a:prstGeom prst="rect">
            <a:avLst/>
          </a:prstGeom>
        </p:spPr>
      </p:pic>
      <p:sp>
        <p:nvSpPr>
          <p:cNvPr id="12" name="Text 7"/>
          <p:cNvSpPr/>
          <p:nvPr/>
        </p:nvSpPr>
        <p:spPr>
          <a:xfrm>
            <a:off x="1389888" y="502920"/>
            <a:ext cx="10332720" cy="749808"/>
          </a:xfrm>
          <a:prstGeom prst="rect">
            <a:avLst/>
          </a:prstGeom>
          <a:noFill/>
          <a:ln/>
        </p:spPr>
        <p:txBody>
          <a:bodyPr wrap="square" lIns="0" tIns="0" rIns="0" bIns="0" rtlCol="0" anchor="ctr"/>
          <a:lstStyle/>
          <a:p>
            <a:pPr indent="0" marL="0">
              <a:buNone/>
            </a:pPr>
            <a:r>
              <a:rPr lang="en-US" sz="2600" b="1" dirty="0">
                <a:solidFill>
                  <a:srgbClr val="CFA15C"/>
                </a:solidFill>
                <a:latin typeface="Noto Sans CJK JP" pitchFamily="34" charset="0"/>
                <a:ea typeface="Noto Sans CJK JP" pitchFamily="34" charset="-122"/>
                <a:cs typeface="Noto Sans CJK JP" pitchFamily="34" charset="-120"/>
              </a:rPr>
              <a:t>01  </a:t>
            </a:r>
            <a:pPr indent="0" marL="0">
              <a:buNone/>
            </a:pPr>
            <a:r>
              <a:rPr lang="en-US" sz="2600" b="1" dirty="0">
                <a:solidFill>
                  <a:srgbClr val="8E3556"/>
                </a:solidFill>
                <a:latin typeface="Noto Sans CJK JP" pitchFamily="34" charset="0"/>
                <a:ea typeface="Noto Sans CJK JP" pitchFamily="34" charset="-122"/>
                <a:cs typeface="Noto Sans CJK JP" pitchFamily="34" charset="-120"/>
              </a:rPr>
              <a:t>判断軸 ── IN / OUT の境界線を先に引く</a:t>
            </a:r>
            <a:endParaRPr lang="en-US" sz="2600" dirty="0"/>
          </a:p>
        </p:txBody>
      </p:sp>
      <p:sp>
        <p:nvSpPr>
          <p:cNvPr id="13" name="Text 8"/>
          <p:cNvSpPr/>
          <p:nvPr/>
        </p:nvSpPr>
        <p:spPr>
          <a:xfrm>
            <a:off x="521208" y="1371600"/>
            <a:ext cx="10972800" cy="320040"/>
          </a:xfrm>
          <a:prstGeom prst="rect">
            <a:avLst/>
          </a:prstGeom>
          <a:noFill/>
          <a:ln/>
        </p:spPr>
        <p:txBody>
          <a:bodyPr wrap="square" lIns="0" tIns="0" rIns="0" bIns="0" rtlCol="0" anchor="ctr"/>
          <a:lstStyle/>
          <a:p>
            <a:pPr indent="0" marL="0">
              <a:buNone/>
            </a:pPr>
            <a:r>
              <a:rPr lang="en-US" sz="1350" dirty="0">
                <a:solidFill>
                  <a:srgbClr val="9A8890"/>
                </a:solidFill>
                <a:latin typeface="Noto Sans CJK JP" pitchFamily="34" charset="0"/>
                <a:ea typeface="Noto Sans CJK JP" pitchFamily="34" charset="-122"/>
                <a:cs typeface="Noto Sans CJK JP" pitchFamily="34" charset="-120"/>
              </a:rPr>
              <a:t>人は IN（やること）は書くが OUT（やらないこと）を書かない。揉めるのは毎回 OUT。</a:t>
            </a:r>
            <a:endParaRPr lang="en-US" sz="1350" dirty="0"/>
          </a:p>
        </p:txBody>
      </p:sp>
      <p:sp>
        <p:nvSpPr>
          <p:cNvPr id="14" name="Shape 9"/>
          <p:cNvSpPr/>
          <p:nvPr/>
        </p:nvSpPr>
        <p:spPr>
          <a:xfrm>
            <a:off x="548640" y="1920240"/>
            <a:ext cx="3749040" cy="2834640"/>
          </a:xfrm>
          <a:prstGeom prst="roundRect">
            <a:avLst>
              <a:gd name="adj" fmla="val 3871"/>
            </a:avLst>
          </a:prstGeom>
          <a:solidFill>
            <a:srgbClr val="EAF3EE"/>
          </a:solidFill>
          <a:ln w="12700">
            <a:solidFill>
              <a:srgbClr val="4E8568"/>
            </a:solidFill>
            <a:prstDash val="solid"/>
          </a:ln>
          <a:effectLst>
            <a:outerShdw sx="100000" sy="100000" kx="0" ky="0" algn="bl" rotWithShape="0" blurRad="76200" dist="25400" dir="5400000">
              <a:srgbClr val="000000">
                <a:alpha val="10000"/>
              </a:srgbClr>
            </a:outerShdw>
          </a:effectLst>
        </p:spPr>
      </p:sp>
      <p:sp>
        <p:nvSpPr>
          <p:cNvPr id="15" name="Text 10"/>
          <p:cNvSpPr/>
          <p:nvPr/>
        </p:nvSpPr>
        <p:spPr>
          <a:xfrm>
            <a:off x="548640" y="2057400"/>
            <a:ext cx="3749040" cy="457200"/>
          </a:xfrm>
          <a:prstGeom prst="rect">
            <a:avLst/>
          </a:prstGeom>
          <a:noFill/>
          <a:ln/>
        </p:spPr>
        <p:txBody>
          <a:bodyPr wrap="square" lIns="0" tIns="0" rIns="0" bIns="0" rtlCol="0" anchor="ctr"/>
          <a:lstStyle/>
          <a:p>
            <a:pPr algn="ctr" indent="0" marL="0">
              <a:buNone/>
            </a:pPr>
            <a:r>
              <a:rPr lang="en-US" sz="1700" b="1" dirty="0">
                <a:solidFill>
                  <a:srgbClr val="4E8568"/>
                </a:solidFill>
                <a:latin typeface="Noto Sans CJK JP" pitchFamily="34" charset="0"/>
                <a:ea typeface="Noto Sans CJK JP" pitchFamily="34" charset="-122"/>
                <a:cs typeface="Noto Sans CJK JP" pitchFamily="34" charset="-120"/>
              </a:rPr>
              <a:t>IN ・ やること</a:t>
            </a:r>
            <a:endParaRPr lang="en-US" sz="1700" dirty="0"/>
          </a:p>
        </p:txBody>
      </p:sp>
      <p:sp>
        <p:nvSpPr>
          <p:cNvPr id="16" name="Text 11"/>
          <p:cNvSpPr/>
          <p:nvPr/>
        </p:nvSpPr>
        <p:spPr>
          <a:xfrm>
            <a:off x="868680" y="2651760"/>
            <a:ext cx="3200400" cy="1920240"/>
          </a:xfrm>
          <a:prstGeom prst="rect">
            <a:avLst/>
          </a:prstGeom>
          <a:noFill/>
          <a:ln/>
        </p:spPr>
        <p:txBody>
          <a:bodyPr wrap="square" lIns="0" tIns="0" rIns="0" bIns="0" rtlCol="0" anchor="ctr"/>
          <a:lstStyle/>
          <a:p>
            <a:pPr marL="342900" indent="-342900">
              <a:lnSpc>
                <a:spcPct val="135000"/>
              </a:lnSpc>
              <a:buSzPct val="100000"/>
              <a:buChar char="•"/>
            </a:pPr>
            <a:r>
              <a:rPr lang="en-US" sz="1350" dirty="0">
                <a:solidFill>
                  <a:srgbClr val="3A2C31"/>
                </a:solidFill>
                <a:latin typeface="Noto Sans CJK JP" pitchFamily="34" charset="0"/>
                <a:ea typeface="Noto Sans CJK JP" pitchFamily="34" charset="-122"/>
                <a:cs typeface="Noto Sans CJK JP" pitchFamily="34" charset="-120"/>
              </a:rPr>
              <a:t>RAG実装（PoC範囲）</a:t>
            </a:r>
            <a:endParaRPr lang="en-US" sz="1350" dirty="0"/>
          </a:p>
          <a:p>
            <a:pPr marL="342900" indent="-342900">
              <a:lnSpc>
                <a:spcPct val="135000"/>
              </a:lnSpc>
              <a:buSzPct val="100000"/>
              <a:buChar char="•"/>
            </a:pPr>
            <a:r>
              <a:rPr lang="en-US" sz="1350" dirty="0">
                <a:solidFill>
                  <a:srgbClr val="3A2C31"/>
                </a:solidFill>
                <a:latin typeface="Noto Sans CJK JP" pitchFamily="34" charset="0"/>
                <a:ea typeface="Noto Sans CJK JP" pitchFamily="34" charset="-122"/>
                <a:cs typeface="Noto Sans CJK JP" pitchFamily="34" charset="-120"/>
              </a:rPr>
              <a:t>プロンプト設計</a:t>
            </a:r>
            <a:endParaRPr lang="en-US" sz="1350" dirty="0"/>
          </a:p>
          <a:p>
            <a:pPr marL="342900" indent="-342900">
              <a:lnSpc>
                <a:spcPct val="135000"/>
              </a:lnSpc>
              <a:buSzPct val="100000"/>
              <a:buChar char="•"/>
            </a:pPr>
            <a:r>
              <a:rPr lang="en-US" sz="1350" dirty="0">
                <a:solidFill>
                  <a:srgbClr val="3A2C31"/>
                </a:solidFill>
                <a:latin typeface="Noto Sans CJK JP" pitchFamily="34" charset="0"/>
                <a:ea typeface="Noto Sans CJK JP" pitchFamily="34" charset="-122"/>
                <a:cs typeface="Noto Sans CJK JP" pitchFamily="34" charset="-120"/>
              </a:rPr>
              <a:t>精度評価レポート</a:t>
            </a:r>
            <a:endParaRPr lang="en-US" sz="1350" dirty="0"/>
          </a:p>
          <a:p>
            <a:pPr marL="342900" indent="-342900">
              <a:lnSpc>
                <a:spcPct val="135000"/>
              </a:lnSpc>
              <a:buSzPct val="100000"/>
              <a:buChar char="•"/>
            </a:pPr>
            <a:r>
              <a:rPr lang="en-US" sz="1350" dirty="0">
                <a:solidFill>
                  <a:srgbClr val="3A2C31"/>
                </a:solidFill>
                <a:latin typeface="Noto Sans CJK JP" pitchFamily="34" charset="0"/>
                <a:ea typeface="Noto Sans CJK JP" pitchFamily="34" charset="-122"/>
                <a:cs typeface="Noto Sans CJK JP" pitchFamily="34" charset="-120"/>
              </a:rPr>
              <a:t>1環境での検証</a:t>
            </a:r>
            <a:endParaRPr lang="en-US" sz="1350" dirty="0"/>
          </a:p>
        </p:txBody>
      </p:sp>
      <p:sp>
        <p:nvSpPr>
          <p:cNvPr id="17" name="Shape 12"/>
          <p:cNvSpPr/>
          <p:nvPr/>
        </p:nvSpPr>
        <p:spPr>
          <a:xfrm>
            <a:off x="7863840" y="1920240"/>
            <a:ext cx="3749040" cy="2834640"/>
          </a:xfrm>
          <a:prstGeom prst="roundRect">
            <a:avLst>
              <a:gd name="adj" fmla="val 3871"/>
            </a:avLst>
          </a:prstGeom>
          <a:solidFill>
            <a:srgbClr val="FBF1F4"/>
          </a:solidFill>
          <a:ln w="12700">
            <a:solidFill>
              <a:srgbClr val="B4587A"/>
            </a:solidFill>
            <a:prstDash val="solid"/>
          </a:ln>
          <a:effectLst>
            <a:outerShdw sx="100000" sy="100000" kx="0" ky="0" algn="bl" rotWithShape="0" blurRad="76200" dist="25400" dir="5400000">
              <a:srgbClr val="000000">
                <a:alpha val="10000"/>
              </a:srgbClr>
            </a:outerShdw>
          </a:effectLst>
        </p:spPr>
      </p:sp>
      <p:sp>
        <p:nvSpPr>
          <p:cNvPr id="18" name="Text 13"/>
          <p:cNvSpPr/>
          <p:nvPr/>
        </p:nvSpPr>
        <p:spPr>
          <a:xfrm>
            <a:off x="7863840" y="2057400"/>
            <a:ext cx="3749040" cy="457200"/>
          </a:xfrm>
          <a:prstGeom prst="rect">
            <a:avLst/>
          </a:prstGeom>
          <a:noFill/>
          <a:ln/>
        </p:spPr>
        <p:txBody>
          <a:bodyPr wrap="square" lIns="0" tIns="0" rIns="0" bIns="0" rtlCol="0" anchor="ctr"/>
          <a:lstStyle/>
          <a:p>
            <a:pPr algn="ctr" indent="0" marL="0">
              <a:buNone/>
            </a:pPr>
            <a:r>
              <a:rPr lang="en-US" sz="1600" b="1" dirty="0">
                <a:solidFill>
                  <a:srgbClr val="8E3556"/>
                </a:solidFill>
                <a:latin typeface="Noto Sans CJK JP" pitchFamily="34" charset="0"/>
                <a:ea typeface="Noto Sans CJK JP" pitchFamily="34" charset="-122"/>
                <a:cs typeface="Noto Sans CJK JP" pitchFamily="34" charset="-120"/>
              </a:rPr>
              <a:t>OUT ・ やらないこと ★</a:t>
            </a:r>
            <a:endParaRPr lang="en-US" sz="1600" dirty="0"/>
          </a:p>
        </p:txBody>
      </p:sp>
      <p:sp>
        <p:nvSpPr>
          <p:cNvPr id="19" name="Text 14"/>
          <p:cNvSpPr/>
          <p:nvPr/>
        </p:nvSpPr>
        <p:spPr>
          <a:xfrm>
            <a:off x="8183880" y="2651760"/>
            <a:ext cx="3200400" cy="1920240"/>
          </a:xfrm>
          <a:prstGeom prst="rect">
            <a:avLst/>
          </a:prstGeom>
          <a:noFill/>
          <a:ln/>
        </p:spPr>
        <p:txBody>
          <a:bodyPr wrap="square" lIns="0" tIns="0" rIns="0" bIns="0" rtlCol="0" anchor="ctr"/>
          <a:lstStyle/>
          <a:p>
            <a:pPr marL="342900" indent="-342900">
              <a:lnSpc>
                <a:spcPct val="135000"/>
              </a:lnSpc>
              <a:buSzPct val="100000"/>
              <a:buChar char="•"/>
            </a:pPr>
            <a:r>
              <a:rPr lang="en-US" sz="1350" dirty="0">
                <a:solidFill>
                  <a:srgbClr val="3A2C31"/>
                </a:solidFill>
                <a:latin typeface="Noto Sans CJK JP" pitchFamily="34" charset="0"/>
                <a:ea typeface="Noto Sans CJK JP" pitchFamily="34" charset="-122"/>
                <a:cs typeface="Noto Sans CJK JP" pitchFamily="34" charset="-120"/>
              </a:rPr>
              <a:t>本番環境への導入</a:t>
            </a:r>
            <a:endParaRPr lang="en-US" sz="1350" dirty="0"/>
          </a:p>
          <a:p>
            <a:pPr marL="342900" indent="-342900">
              <a:lnSpc>
                <a:spcPct val="135000"/>
              </a:lnSpc>
              <a:buSzPct val="100000"/>
              <a:buChar char="•"/>
            </a:pPr>
            <a:r>
              <a:rPr lang="en-US" sz="1350" dirty="0">
                <a:solidFill>
                  <a:srgbClr val="3A2C31"/>
                </a:solidFill>
                <a:latin typeface="Noto Sans CJK JP" pitchFamily="34" charset="0"/>
                <a:ea typeface="Noto Sans CJK JP" pitchFamily="34" charset="-122"/>
                <a:cs typeface="Noto Sans CJK JP" pitchFamily="34" charset="-120"/>
              </a:rPr>
              <a:t>他システム連携</a:t>
            </a:r>
            <a:endParaRPr lang="en-US" sz="1350" dirty="0"/>
          </a:p>
          <a:p>
            <a:pPr marL="342900" indent="-342900">
              <a:lnSpc>
                <a:spcPct val="135000"/>
              </a:lnSpc>
              <a:buSzPct val="100000"/>
              <a:buChar char="•"/>
            </a:pPr>
            <a:r>
              <a:rPr lang="en-US" sz="1350" dirty="0">
                <a:solidFill>
                  <a:srgbClr val="3A2C31"/>
                </a:solidFill>
                <a:latin typeface="Noto Sans CJK JP" pitchFamily="34" charset="0"/>
                <a:ea typeface="Noto Sans CJK JP" pitchFamily="34" charset="-122"/>
                <a:cs typeface="Noto Sans CJK JP" pitchFamily="34" charset="-120"/>
              </a:rPr>
              <a:t>運用・保守</a:t>
            </a:r>
            <a:endParaRPr lang="en-US" sz="1350" dirty="0"/>
          </a:p>
          <a:p>
            <a:pPr marL="342900" indent="-342900">
              <a:lnSpc>
                <a:spcPct val="135000"/>
              </a:lnSpc>
              <a:buSzPct val="100000"/>
              <a:buChar char="•"/>
            </a:pPr>
            <a:r>
              <a:rPr lang="en-US" sz="1350" dirty="0">
                <a:solidFill>
                  <a:srgbClr val="3A2C31"/>
                </a:solidFill>
                <a:latin typeface="Noto Sans CJK JP" pitchFamily="34" charset="0"/>
                <a:ea typeface="Noto Sans CJK JP" pitchFamily="34" charset="-122"/>
                <a:cs typeface="Noto Sans CJK JP" pitchFamily="34" charset="-120"/>
              </a:rPr>
              <a:t>UIの作り込み</a:t>
            </a:r>
            <a:endParaRPr lang="en-US" sz="1350" dirty="0"/>
          </a:p>
        </p:txBody>
      </p:sp>
      <p:sp>
        <p:nvSpPr>
          <p:cNvPr id="20" name="Shape 15"/>
          <p:cNvSpPr/>
          <p:nvPr/>
        </p:nvSpPr>
        <p:spPr>
          <a:xfrm>
            <a:off x="4526280" y="2286000"/>
            <a:ext cx="3108960" cy="2103120"/>
          </a:xfrm>
          <a:prstGeom prst="roundRect">
            <a:avLst>
              <a:gd name="adj" fmla="val 5217"/>
            </a:avLst>
          </a:prstGeom>
          <a:solidFill>
            <a:srgbClr val="574039"/>
          </a:solidFill>
          <a:ln/>
          <a:effectLst>
            <a:outerShdw sx="100000" sy="100000" kx="0" ky="0" algn="bl" rotWithShape="0" blurRad="76200" dist="25400" dir="5400000">
              <a:srgbClr val="000000">
                <a:alpha val="10000"/>
              </a:srgbClr>
            </a:outerShdw>
          </a:effectLst>
        </p:spPr>
      </p:sp>
      <p:sp>
        <p:nvSpPr>
          <p:cNvPr id="21" name="Text 16"/>
          <p:cNvSpPr/>
          <p:nvPr/>
        </p:nvSpPr>
        <p:spPr>
          <a:xfrm>
            <a:off x="4526280" y="2487168"/>
            <a:ext cx="3108960" cy="457200"/>
          </a:xfrm>
          <a:prstGeom prst="rect">
            <a:avLst/>
          </a:prstGeom>
          <a:noFill/>
          <a:ln/>
        </p:spPr>
        <p:txBody>
          <a:bodyPr wrap="square" lIns="0" tIns="0" rIns="0" bIns="0" rtlCol="0" anchor="ctr"/>
          <a:lstStyle/>
          <a:p>
            <a:pPr algn="ctr" indent="0" marL="0">
              <a:buNone/>
            </a:pPr>
            <a:r>
              <a:rPr lang="en-US" sz="1600" b="1" dirty="0">
                <a:solidFill>
                  <a:srgbClr val="F0C98D"/>
                </a:solidFill>
                <a:latin typeface="Noto Sans CJK JP" pitchFamily="34" charset="0"/>
                <a:ea typeface="Noto Sans CJK JP" pitchFamily="34" charset="-122"/>
                <a:cs typeface="Noto Sans CJK JP" pitchFamily="34" charset="-120"/>
              </a:rPr>
              <a:t>境界線</a:t>
            </a:r>
            <a:endParaRPr lang="en-US" sz="1600" dirty="0"/>
          </a:p>
        </p:txBody>
      </p:sp>
      <p:sp>
        <p:nvSpPr>
          <p:cNvPr id="22" name="Text 17"/>
          <p:cNvSpPr/>
          <p:nvPr/>
        </p:nvSpPr>
        <p:spPr>
          <a:xfrm>
            <a:off x="4617720" y="3017520"/>
            <a:ext cx="2926080" cy="1280160"/>
          </a:xfrm>
          <a:prstGeom prst="rect">
            <a:avLst/>
          </a:prstGeom>
          <a:noFill/>
          <a:ln/>
        </p:spPr>
        <p:txBody>
          <a:bodyPr wrap="square" lIns="0" tIns="0" rIns="0" bIns="0" rtlCol="0" anchor="ctr"/>
          <a:lstStyle/>
          <a:p>
            <a:pPr algn="ctr" indent="0" marL="0">
              <a:lnSpc>
                <a:spcPct val="120000"/>
              </a:lnSpc>
              <a:buNone/>
            </a:pPr>
            <a:r>
              <a:rPr lang="en-US" sz="1300" dirty="0">
                <a:solidFill>
                  <a:srgbClr val="F4E9E2"/>
                </a:solidFill>
                <a:latin typeface="Noto Sans CJK JP" pitchFamily="34" charset="0"/>
                <a:ea typeface="Noto Sans CJK JP" pitchFamily="34" charset="-122"/>
                <a:cs typeface="Noto Sans CJK JP" pitchFamily="34" charset="-120"/>
              </a:rPr>
              <a:t>この線を</a:t>
            </a:r>
            <a:endParaRPr lang="en-US" sz="1300" dirty="0"/>
          </a:p>
          <a:p>
            <a:pPr algn="ctr" indent="0" marL="0">
              <a:lnSpc>
                <a:spcPct val="120000"/>
              </a:lnSpc>
              <a:buNone/>
            </a:pPr>
            <a:r>
              <a:rPr lang="en-US" sz="1300" dirty="0">
                <a:solidFill>
                  <a:srgbClr val="F4E9E2"/>
                </a:solidFill>
                <a:latin typeface="Noto Sans CJK JP" pitchFamily="34" charset="0"/>
                <a:ea typeface="Noto Sans CJK JP" pitchFamily="34" charset="-122"/>
                <a:cs typeface="Noto Sans CJK JP" pitchFamily="34" charset="-120"/>
              </a:rPr>
              <a:t>“着手前に”引く。</a:t>
            </a:r>
            <a:endParaRPr lang="en-US" sz="1300" dirty="0"/>
          </a:p>
          <a:p>
            <a:pPr algn="ctr" indent="0" marL="0">
              <a:lnSpc>
                <a:spcPct val="120000"/>
              </a:lnSpc>
              <a:buNone/>
            </a:pPr>
            <a:r>
              <a:rPr lang="en-US" sz="1300" dirty="0">
                <a:solidFill>
                  <a:srgbClr val="F4E9E2"/>
                </a:solidFill>
                <a:latin typeface="Noto Sans CJK JP" pitchFamily="34" charset="0"/>
                <a:ea typeface="Noto Sans CJK JP" pitchFamily="34" charset="-122"/>
                <a:cs typeface="Noto Sans CJK JP" pitchFamily="34" charset="-120"/>
              </a:rPr>
              <a:t>迷ったら優先：</a:t>
            </a:r>
            <a:endParaRPr lang="en-US" sz="1300" dirty="0"/>
          </a:p>
          <a:p>
            <a:pPr algn="ctr" indent="0" marL="0">
              <a:lnSpc>
                <a:spcPct val="120000"/>
              </a:lnSpc>
              <a:buNone/>
            </a:pPr>
            <a:r>
              <a:rPr lang="en-US" sz="1300" dirty="0">
                <a:solidFill>
                  <a:srgbClr val="F4E9E2"/>
                </a:solidFill>
                <a:latin typeface="Noto Sans CJK JP" pitchFamily="34" charset="0"/>
                <a:ea typeface="Noto Sans CJK JP" pitchFamily="34" charset="-122"/>
                <a:cs typeface="Noto Sans CJK JP" pitchFamily="34" charset="-120"/>
              </a:rPr>
              <a:t>品質 / 納期 / コスト</a:t>
            </a:r>
            <a:endParaRPr lang="en-US" sz="1300" dirty="0"/>
          </a:p>
        </p:txBody>
      </p:sp>
      <p:sp>
        <p:nvSpPr>
          <p:cNvPr id="23" name="Text 18"/>
          <p:cNvSpPr/>
          <p:nvPr/>
        </p:nvSpPr>
        <p:spPr>
          <a:xfrm>
            <a:off x="4160520" y="2971800"/>
            <a:ext cx="411480" cy="457200"/>
          </a:xfrm>
          <a:prstGeom prst="rect">
            <a:avLst/>
          </a:prstGeom>
          <a:noFill/>
          <a:ln/>
        </p:spPr>
        <p:txBody>
          <a:bodyPr wrap="square" lIns="0" tIns="0" rIns="0" bIns="0" rtlCol="0" anchor="ctr"/>
          <a:lstStyle/>
          <a:p>
            <a:pPr algn="ctr" indent="0" marL="0">
              <a:buNone/>
            </a:pPr>
            <a:r>
              <a:rPr lang="en-US" sz="2000" b="1" dirty="0">
                <a:solidFill>
                  <a:srgbClr val="B4587A"/>
                </a:solidFill>
                <a:latin typeface="Noto Sans CJK JP" pitchFamily="34" charset="0"/>
                <a:ea typeface="Noto Sans CJK JP" pitchFamily="34" charset="-122"/>
                <a:cs typeface="Noto Sans CJK JP" pitchFamily="34" charset="-120"/>
              </a:rPr>
              <a:t>←</a:t>
            </a:r>
            <a:endParaRPr lang="en-US" sz="2000" dirty="0"/>
          </a:p>
        </p:txBody>
      </p:sp>
      <p:sp>
        <p:nvSpPr>
          <p:cNvPr id="24" name="Text 19"/>
          <p:cNvSpPr/>
          <p:nvPr/>
        </p:nvSpPr>
        <p:spPr>
          <a:xfrm>
            <a:off x="7589520" y="2971800"/>
            <a:ext cx="411480" cy="457200"/>
          </a:xfrm>
          <a:prstGeom prst="rect">
            <a:avLst/>
          </a:prstGeom>
          <a:noFill/>
          <a:ln/>
        </p:spPr>
        <p:txBody>
          <a:bodyPr wrap="square" lIns="0" tIns="0" rIns="0" bIns="0" rtlCol="0" anchor="ctr"/>
          <a:lstStyle/>
          <a:p>
            <a:pPr algn="ctr" indent="0" marL="0">
              <a:buNone/>
            </a:pPr>
            <a:r>
              <a:rPr lang="en-US" sz="2000" b="1" dirty="0">
                <a:solidFill>
                  <a:srgbClr val="B4587A"/>
                </a:solidFill>
                <a:latin typeface="Noto Sans CJK JP" pitchFamily="34" charset="0"/>
                <a:ea typeface="Noto Sans CJK JP" pitchFamily="34" charset="-122"/>
                <a:cs typeface="Noto Sans CJK JP" pitchFamily="34" charset="-120"/>
              </a:rPr>
              <a:t>→</a:t>
            </a:r>
            <a:endParaRPr lang="en-US" sz="2000" dirty="0"/>
          </a:p>
        </p:txBody>
      </p:sp>
      <p:sp>
        <p:nvSpPr>
          <p:cNvPr id="25" name="Shape 20"/>
          <p:cNvSpPr/>
          <p:nvPr/>
        </p:nvSpPr>
        <p:spPr>
          <a:xfrm>
            <a:off x="548640" y="5074920"/>
            <a:ext cx="11064240" cy="960120"/>
          </a:xfrm>
          <a:prstGeom prst="roundRect">
            <a:avLst>
              <a:gd name="adj" fmla="val 9524"/>
            </a:avLst>
          </a:prstGeom>
          <a:solidFill>
            <a:srgbClr val="FBF1F4"/>
          </a:solidFill>
          <a:ln w="12700">
            <a:solidFill>
              <a:srgbClr val="EBB4C4"/>
            </a:solidFill>
            <a:prstDash val="solid"/>
          </a:ln>
        </p:spPr>
      </p:sp>
      <p:pic>
        <p:nvPicPr>
          <p:cNvPr id="26" name="Image 3" descr="preencoded.png">    </p:cNvPr>
          <p:cNvPicPr>
            <a:picLocks noChangeAspect="1"/>
          </p:cNvPicPr>
          <p:nvPr/>
        </p:nvPicPr>
        <p:blipFill>
          <a:blip r:embed="rId4"/>
          <a:stretch>
            <a:fillRect/>
          </a:stretch>
        </p:blipFill>
        <p:spPr>
          <a:xfrm>
            <a:off x="749808" y="5271516"/>
            <a:ext cx="566928" cy="566928"/>
          </a:xfrm>
          <a:prstGeom prst="rect">
            <a:avLst/>
          </a:prstGeom>
        </p:spPr>
      </p:pic>
      <p:sp>
        <p:nvSpPr>
          <p:cNvPr id="27" name="Text 21"/>
          <p:cNvSpPr/>
          <p:nvPr/>
        </p:nvSpPr>
        <p:spPr>
          <a:xfrm>
            <a:off x="1508760" y="5074920"/>
            <a:ext cx="9875520" cy="960120"/>
          </a:xfrm>
          <a:prstGeom prst="rect">
            <a:avLst/>
          </a:prstGeom>
          <a:noFill/>
          <a:ln/>
        </p:spPr>
        <p:txBody>
          <a:bodyPr wrap="square" lIns="0" tIns="0" rIns="0" bIns="0" rtlCol="0" anchor="ctr"/>
          <a:lstStyle/>
          <a:p>
            <a:pPr indent="0" marL="0">
              <a:lnSpc>
                <a:spcPct val="114000"/>
              </a:lnSpc>
              <a:buNone/>
            </a:pPr>
            <a:r>
              <a:rPr lang="en-US" sz="1350" b="1" dirty="0">
                <a:solidFill>
                  <a:srgbClr val="8E3556"/>
                </a:solidFill>
                <a:latin typeface="Noto Sans CJK JP" pitchFamily="34" charset="0"/>
                <a:ea typeface="Noto Sans CJK JP" pitchFamily="34" charset="-122"/>
                <a:cs typeface="Noto Sans CJK JP" pitchFamily="34" charset="-120"/>
              </a:rPr>
              <a:t>ポイント　</a:t>
            </a:r>
            <a:pPr indent="0" marL="0">
              <a:lnSpc>
                <a:spcPct val="114000"/>
              </a:lnSpc>
              <a:buNone/>
            </a:pPr>
            <a:r>
              <a:rPr lang="en-US" sz="1350" dirty="0">
                <a:solidFill>
                  <a:srgbClr val="3A2C31"/>
                </a:solidFill>
                <a:latin typeface="Noto Sans CJK JP" pitchFamily="34" charset="0"/>
                <a:ea typeface="Noto Sans CJK JP" pitchFamily="34" charset="-122"/>
                <a:cs typeface="Noto Sans CJK JP" pitchFamily="34" charset="-120"/>
              </a:rPr>
              <a:t>OUTを一行書くだけで、後の“言った言わない”がほぼ消える。叩き台はこちらから出すと、相手の負担になりません。</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10896"/>
          </a:xfrm>
          <a:prstGeom prst="rect">
            <a:avLst/>
          </a:prstGeom>
          <a:solidFill>
            <a:srgbClr val="574039"/>
          </a:solidFill>
          <a:ln/>
        </p:spPr>
      </p:sp>
      <p:pic>
        <p:nvPicPr>
          <p:cNvPr id="3" name="Image 0" descr="preencoded.png">    </p:cNvPr>
          <p:cNvPicPr>
            <a:picLocks noChangeAspect="1"/>
          </p:cNvPicPr>
          <p:nvPr/>
        </p:nvPicPr>
        <p:blipFill>
          <a:blip r:embed="rId1"/>
          <a:stretch>
            <a:fillRect/>
          </a:stretch>
        </p:blipFill>
        <p:spPr>
          <a:xfrm>
            <a:off x="457200" y="54864"/>
            <a:ext cx="201168" cy="201168"/>
          </a:xfrm>
          <a:prstGeom prst="rect">
            <a:avLst/>
          </a:prstGeom>
        </p:spPr>
      </p:pic>
      <p:sp>
        <p:nvSpPr>
          <p:cNvPr id="4" name="Text 1"/>
          <p:cNvSpPr/>
          <p:nvPr/>
        </p:nvSpPr>
        <p:spPr>
          <a:xfrm>
            <a:off x="731520" y="0"/>
            <a:ext cx="4572000" cy="310896"/>
          </a:xfrm>
          <a:prstGeom prst="rect">
            <a:avLst/>
          </a:prstGeom>
          <a:noFill/>
          <a:ln/>
        </p:spPr>
        <p:txBody>
          <a:bodyPr wrap="square" lIns="0" tIns="0" rIns="0" bIns="0" rtlCol="0" anchor="ctr"/>
          <a:lstStyle/>
          <a:p>
            <a:pPr indent="0" marL="0">
              <a:buNone/>
            </a:pPr>
            <a:r>
              <a:rPr lang="en-US" sz="1000" dirty="0">
                <a:solidFill>
                  <a:srgbClr val="F4E9E2"/>
                </a:solidFill>
                <a:latin typeface="Noto Sans CJK JP" pitchFamily="34" charset="0"/>
                <a:ea typeface="Noto Sans CJK JP" pitchFamily="34" charset="-122"/>
                <a:cs typeface="Noto Sans CJK JP" pitchFamily="34" charset="-120"/>
              </a:rPr>
              <a:t>うさうさ研修工房</a:t>
            </a:r>
            <a:endParaRPr lang="en-US" sz="1000" dirty="0"/>
          </a:p>
        </p:txBody>
      </p:sp>
      <p:sp>
        <p:nvSpPr>
          <p:cNvPr id="5" name="Text 2"/>
          <p:cNvSpPr/>
          <p:nvPr/>
        </p:nvSpPr>
        <p:spPr>
          <a:xfrm>
            <a:off x="7132320" y="0"/>
            <a:ext cx="45720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合意設計 ・ 考えさせる編</a:t>
            </a:r>
            <a:endParaRPr lang="en-US" sz="1000" dirty="0"/>
          </a:p>
        </p:txBody>
      </p:sp>
      <p:sp>
        <p:nvSpPr>
          <p:cNvPr id="6" name="Shape 3"/>
          <p:cNvSpPr/>
          <p:nvPr/>
        </p:nvSpPr>
        <p:spPr>
          <a:xfrm>
            <a:off x="0" y="6547104"/>
            <a:ext cx="12161520" cy="310896"/>
          </a:xfrm>
          <a:prstGeom prst="rect">
            <a:avLst/>
          </a:prstGeom>
          <a:solidFill>
            <a:srgbClr val="574039"/>
          </a:solidFill>
          <a:ln/>
        </p:spPr>
      </p:sp>
      <p:pic>
        <p:nvPicPr>
          <p:cNvPr id="7" name="Image 1" descr="preencoded.png">    </p:cNvPr>
          <p:cNvPicPr>
            <a:picLocks noChangeAspect="1"/>
          </p:cNvPicPr>
          <p:nvPr/>
        </p:nvPicPr>
        <p:blipFill>
          <a:blip r:embed="rId2"/>
          <a:stretch>
            <a:fillRect/>
          </a:stretch>
        </p:blipFill>
        <p:spPr>
          <a:xfrm>
            <a:off x="457200" y="6601968"/>
            <a:ext cx="201168" cy="201168"/>
          </a:xfrm>
          <a:prstGeom prst="rect">
            <a:avLst/>
          </a:prstGeom>
        </p:spPr>
      </p:pic>
      <p:sp>
        <p:nvSpPr>
          <p:cNvPr id="8" name="Text 4"/>
          <p:cNvSpPr/>
          <p:nvPr/>
        </p:nvSpPr>
        <p:spPr>
          <a:xfrm>
            <a:off x="731520" y="6547104"/>
            <a:ext cx="5486400" cy="310896"/>
          </a:xfrm>
          <a:prstGeom prst="rect">
            <a:avLst/>
          </a:prstGeom>
          <a:noFill/>
          <a:ln/>
        </p:spPr>
        <p:txBody>
          <a:bodyPr wrap="square" lIns="0" tIns="0" rIns="0" bIns="0" rtlCol="0" anchor="ctr"/>
          <a:lstStyle/>
          <a:p>
            <a:pPr indent="0" marL="0">
              <a:buNone/>
            </a:pPr>
            <a:r>
              <a:rPr lang="en-US" sz="950" dirty="0">
                <a:solidFill>
                  <a:srgbClr val="F4E9E2"/>
                </a:solidFill>
                <a:latin typeface="Noto Sans CJK JP" pitchFamily="34" charset="0"/>
                <a:ea typeface="Noto Sans CJK JP" pitchFamily="34" charset="-122"/>
                <a:cs typeface="Noto Sans CJK JP" pitchFamily="34" charset="-120"/>
              </a:rPr>
              <a:t>面白きこともなき世を面白く 🐰</a:t>
            </a:r>
            <a:endParaRPr lang="en-US" sz="950" dirty="0"/>
          </a:p>
        </p:txBody>
      </p:sp>
      <p:sp>
        <p:nvSpPr>
          <p:cNvPr id="9" name="Text 5"/>
          <p:cNvSpPr/>
          <p:nvPr/>
        </p:nvSpPr>
        <p:spPr>
          <a:xfrm>
            <a:off x="11247120" y="6547104"/>
            <a:ext cx="4572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8</a:t>
            </a:r>
            <a:endParaRPr lang="en-US" sz="1000" dirty="0"/>
          </a:p>
        </p:txBody>
      </p:sp>
      <p:sp>
        <p:nvSpPr>
          <p:cNvPr id="10" name="Shape 6"/>
          <p:cNvSpPr/>
          <p:nvPr/>
        </p:nvSpPr>
        <p:spPr>
          <a:xfrm>
            <a:off x="502920" y="502920"/>
            <a:ext cx="749808" cy="749808"/>
          </a:xfrm>
          <a:prstGeom prst="ellipse">
            <a:avLst/>
          </a:prstGeom>
          <a:solidFill>
            <a:srgbClr val="B4587A"/>
          </a:solidFill>
          <a:ln/>
        </p:spPr>
      </p:sp>
      <p:pic>
        <p:nvPicPr>
          <p:cNvPr id="11" name="Image 2" descr="preencoded.png">    </p:cNvPr>
          <p:cNvPicPr>
            <a:picLocks noChangeAspect="1"/>
          </p:cNvPicPr>
          <p:nvPr/>
        </p:nvPicPr>
        <p:blipFill>
          <a:blip r:embed="rId3"/>
          <a:stretch>
            <a:fillRect/>
          </a:stretch>
        </p:blipFill>
        <p:spPr>
          <a:xfrm>
            <a:off x="705368" y="705368"/>
            <a:ext cx="344912" cy="344912"/>
          </a:xfrm>
          <a:prstGeom prst="rect">
            <a:avLst/>
          </a:prstGeom>
        </p:spPr>
      </p:pic>
      <p:sp>
        <p:nvSpPr>
          <p:cNvPr id="12" name="Text 7"/>
          <p:cNvSpPr/>
          <p:nvPr/>
        </p:nvSpPr>
        <p:spPr>
          <a:xfrm>
            <a:off x="1389888" y="502920"/>
            <a:ext cx="10332720" cy="749808"/>
          </a:xfrm>
          <a:prstGeom prst="rect">
            <a:avLst/>
          </a:prstGeom>
          <a:noFill/>
          <a:ln/>
        </p:spPr>
        <p:txBody>
          <a:bodyPr wrap="square" lIns="0" tIns="0" rIns="0" bIns="0" rtlCol="0" anchor="ctr"/>
          <a:lstStyle/>
          <a:p>
            <a:pPr indent="0" marL="0">
              <a:buNone/>
            </a:pPr>
            <a:r>
              <a:rPr lang="en-US" sz="2600" b="1" dirty="0">
                <a:solidFill>
                  <a:srgbClr val="CFA15C"/>
                </a:solidFill>
                <a:latin typeface="Noto Sans CJK JP" pitchFamily="34" charset="0"/>
                <a:ea typeface="Noto Sans CJK JP" pitchFamily="34" charset="-122"/>
                <a:cs typeface="Noto Sans CJK JP" pitchFamily="34" charset="-120"/>
              </a:rPr>
              <a:t>02  </a:t>
            </a:r>
            <a:pPr indent="0" marL="0">
              <a:buNone/>
            </a:pPr>
            <a:r>
              <a:rPr lang="en-US" sz="2600" b="1" dirty="0">
                <a:solidFill>
                  <a:srgbClr val="8E3556"/>
                </a:solidFill>
                <a:latin typeface="Noto Sans CJK JP" pitchFamily="34" charset="0"/>
                <a:ea typeface="Noto Sans CJK JP" pitchFamily="34" charset="-122"/>
                <a:cs typeface="Noto Sans CJK JP" pitchFamily="34" charset="-120"/>
              </a:rPr>
              <a:t>役割 ── 誰が・いつ・何を（タイムライン）</a:t>
            </a:r>
            <a:endParaRPr lang="en-US" sz="2600" dirty="0"/>
          </a:p>
        </p:txBody>
      </p:sp>
      <p:sp>
        <p:nvSpPr>
          <p:cNvPr id="13" name="Text 8"/>
          <p:cNvSpPr/>
          <p:nvPr/>
        </p:nvSpPr>
        <p:spPr>
          <a:xfrm>
            <a:off x="521208" y="1371600"/>
            <a:ext cx="10972800" cy="320040"/>
          </a:xfrm>
          <a:prstGeom prst="rect">
            <a:avLst/>
          </a:prstGeom>
          <a:noFill/>
          <a:ln/>
        </p:spPr>
        <p:txBody>
          <a:bodyPr wrap="square" lIns="0" tIns="0" rIns="0" bIns="0" rtlCol="0" anchor="ctr"/>
          <a:lstStyle/>
          <a:p>
            <a:pPr indent="0" marL="0">
              <a:buNone/>
            </a:pPr>
            <a:r>
              <a:rPr lang="en-US" sz="1350" dirty="0">
                <a:solidFill>
                  <a:srgbClr val="9A8890"/>
                </a:solidFill>
                <a:latin typeface="Noto Sans CJK JP" pitchFamily="34" charset="0"/>
                <a:ea typeface="Noto Sans CJK JP" pitchFamily="34" charset="-122"/>
                <a:cs typeface="Noto Sans CJK JP" pitchFamily="34" charset="-120"/>
              </a:rPr>
              <a:t>「やる/やらない」だけだと“いつ”が抜ける。“いつ”が抜けた約束は守られない。</a:t>
            </a:r>
            <a:endParaRPr lang="en-US" sz="1350" dirty="0"/>
          </a:p>
        </p:txBody>
      </p:sp>
      <p:sp>
        <p:nvSpPr>
          <p:cNvPr id="14" name="Shape 9"/>
          <p:cNvSpPr/>
          <p:nvPr/>
        </p:nvSpPr>
        <p:spPr>
          <a:xfrm>
            <a:off x="1463040" y="3291840"/>
            <a:ext cx="9235440" cy="45720"/>
          </a:xfrm>
          <a:prstGeom prst="rect">
            <a:avLst/>
          </a:prstGeom>
          <a:solidFill>
            <a:srgbClr val="EBB4C4"/>
          </a:solidFill>
          <a:ln/>
        </p:spPr>
      </p:sp>
      <p:sp>
        <p:nvSpPr>
          <p:cNvPr id="15" name="Shape 10"/>
          <p:cNvSpPr/>
          <p:nvPr/>
        </p:nvSpPr>
        <p:spPr>
          <a:xfrm>
            <a:off x="1325880" y="3182112"/>
            <a:ext cx="274320" cy="274320"/>
          </a:xfrm>
          <a:prstGeom prst="ellipse">
            <a:avLst/>
          </a:prstGeom>
          <a:solidFill>
            <a:srgbClr val="B4587A"/>
          </a:solidFill>
          <a:ln w="25400">
            <a:solidFill>
              <a:srgbClr val="FFFFFF"/>
            </a:solidFill>
            <a:prstDash val="solid"/>
          </a:ln>
        </p:spPr>
      </p:sp>
      <p:sp>
        <p:nvSpPr>
          <p:cNvPr id="16" name="Shape 11"/>
          <p:cNvSpPr/>
          <p:nvPr/>
        </p:nvSpPr>
        <p:spPr>
          <a:xfrm>
            <a:off x="502920" y="1965960"/>
            <a:ext cx="1920240" cy="1097280"/>
          </a:xfrm>
          <a:prstGeom prst="roundRect">
            <a:avLst>
              <a:gd name="adj" fmla="val 8333"/>
            </a:avLst>
          </a:prstGeom>
          <a:solidFill>
            <a:srgbClr val="FBF1F4"/>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17" name="Text 12"/>
          <p:cNvSpPr/>
          <p:nvPr/>
        </p:nvSpPr>
        <p:spPr>
          <a:xfrm>
            <a:off x="548640" y="2039112"/>
            <a:ext cx="1828800" cy="310896"/>
          </a:xfrm>
          <a:prstGeom prst="rect">
            <a:avLst/>
          </a:prstGeom>
          <a:noFill/>
          <a:ln/>
        </p:spPr>
        <p:txBody>
          <a:bodyPr wrap="square" lIns="0" tIns="0" rIns="0" bIns="0" rtlCol="0" anchor="ctr"/>
          <a:lstStyle/>
          <a:p>
            <a:pPr algn="ctr" indent="0" marL="0">
              <a:buNone/>
            </a:pPr>
            <a:r>
              <a:rPr lang="en-US" sz="1250" b="1" dirty="0">
                <a:solidFill>
                  <a:srgbClr val="B4587A"/>
                </a:solidFill>
                <a:latin typeface="Noto Sans CJK JP" pitchFamily="34" charset="0"/>
                <a:ea typeface="Noto Sans CJK JP" pitchFamily="34" charset="-122"/>
                <a:cs typeface="Noto Sans CJK JP" pitchFamily="34" charset="-120"/>
              </a:rPr>
              <a:t>キックオフ</a:t>
            </a:r>
            <a:endParaRPr lang="en-US" sz="1250" dirty="0"/>
          </a:p>
        </p:txBody>
      </p:sp>
      <p:sp>
        <p:nvSpPr>
          <p:cNvPr id="18" name="Text 13"/>
          <p:cNvSpPr/>
          <p:nvPr/>
        </p:nvSpPr>
        <p:spPr>
          <a:xfrm>
            <a:off x="548640" y="2350008"/>
            <a:ext cx="1828800" cy="438912"/>
          </a:xfrm>
          <a:prstGeom prst="rect">
            <a:avLst/>
          </a:prstGeom>
          <a:noFill/>
          <a:ln/>
        </p:spPr>
        <p:txBody>
          <a:bodyPr wrap="square" lIns="0" tIns="0" rIns="0" bIns="0" rtlCol="0" anchor="ctr"/>
          <a:lstStyle/>
          <a:p>
            <a:pPr algn="ctr" indent="0" marL="0">
              <a:lnSpc>
                <a:spcPct val="100000"/>
              </a:lnSpc>
              <a:buNone/>
            </a:pPr>
            <a:r>
              <a:rPr lang="en-US" sz="1150" dirty="0">
                <a:solidFill>
                  <a:srgbClr val="3A2C31"/>
                </a:solidFill>
                <a:latin typeface="Noto Sans CJK JP" pitchFamily="34" charset="0"/>
                <a:ea typeface="Noto Sans CJK JP" pitchFamily="34" charset="-122"/>
                <a:cs typeface="Noto Sans CJK JP" pitchFamily="34" charset="-120"/>
              </a:rPr>
              <a:t>判断軸・役割を握る</a:t>
            </a:r>
            <a:endParaRPr lang="en-US" sz="1150" dirty="0"/>
          </a:p>
        </p:txBody>
      </p:sp>
      <p:sp>
        <p:nvSpPr>
          <p:cNvPr id="19" name="Text 14"/>
          <p:cNvSpPr/>
          <p:nvPr/>
        </p:nvSpPr>
        <p:spPr>
          <a:xfrm>
            <a:off x="548640" y="2788920"/>
            <a:ext cx="1828800" cy="256032"/>
          </a:xfrm>
          <a:prstGeom prst="rect">
            <a:avLst/>
          </a:prstGeom>
          <a:noFill/>
          <a:ln/>
        </p:spPr>
        <p:txBody>
          <a:bodyPr wrap="square" lIns="0" tIns="0" rIns="0" bIns="0" rtlCol="0" anchor="ctr"/>
          <a:lstStyle/>
          <a:p>
            <a:pPr algn="ctr" indent="0" marL="0">
              <a:buNone/>
            </a:pPr>
            <a:r>
              <a:rPr lang="en-US" sz="1050" i="1" dirty="0">
                <a:solidFill>
                  <a:srgbClr val="9A8890"/>
                </a:solidFill>
                <a:latin typeface="Noto Sans CJK JP" pitchFamily="34" charset="0"/>
                <a:ea typeface="Noto Sans CJK JP" pitchFamily="34" charset="-122"/>
                <a:cs typeface="Noto Sans CJK JP" pitchFamily="34" charset="-120"/>
              </a:rPr>
              <a:t>両者</a:t>
            </a:r>
            <a:endParaRPr lang="en-US" sz="1050" dirty="0"/>
          </a:p>
        </p:txBody>
      </p:sp>
      <p:sp>
        <p:nvSpPr>
          <p:cNvPr id="20" name="Shape 15"/>
          <p:cNvSpPr/>
          <p:nvPr/>
        </p:nvSpPr>
        <p:spPr>
          <a:xfrm>
            <a:off x="3634740" y="3182112"/>
            <a:ext cx="274320" cy="274320"/>
          </a:xfrm>
          <a:prstGeom prst="ellipse">
            <a:avLst/>
          </a:prstGeom>
          <a:solidFill>
            <a:srgbClr val="5A7FA3"/>
          </a:solidFill>
          <a:ln w="25400">
            <a:solidFill>
              <a:srgbClr val="FFFFFF"/>
            </a:solidFill>
            <a:prstDash val="solid"/>
          </a:ln>
        </p:spPr>
      </p:sp>
      <p:sp>
        <p:nvSpPr>
          <p:cNvPr id="21" name="Shape 16"/>
          <p:cNvSpPr/>
          <p:nvPr/>
        </p:nvSpPr>
        <p:spPr>
          <a:xfrm>
            <a:off x="2811780" y="3749040"/>
            <a:ext cx="1920240" cy="1097280"/>
          </a:xfrm>
          <a:prstGeom prst="roundRect">
            <a:avLst>
              <a:gd name="adj" fmla="val 8333"/>
            </a:avLst>
          </a:prstGeom>
          <a:solidFill>
            <a:srgbClr val="FBF1F4"/>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22" name="Text 17"/>
          <p:cNvSpPr/>
          <p:nvPr/>
        </p:nvSpPr>
        <p:spPr>
          <a:xfrm>
            <a:off x="2857500" y="3822192"/>
            <a:ext cx="1828800" cy="310896"/>
          </a:xfrm>
          <a:prstGeom prst="rect">
            <a:avLst/>
          </a:prstGeom>
          <a:noFill/>
          <a:ln/>
        </p:spPr>
        <p:txBody>
          <a:bodyPr wrap="square" lIns="0" tIns="0" rIns="0" bIns="0" rtlCol="0" anchor="ctr"/>
          <a:lstStyle/>
          <a:p>
            <a:pPr algn="ctr" indent="0" marL="0">
              <a:buNone/>
            </a:pPr>
            <a:r>
              <a:rPr lang="en-US" sz="1250" b="1" dirty="0">
                <a:solidFill>
                  <a:srgbClr val="5A7FA3"/>
                </a:solidFill>
                <a:latin typeface="Noto Sans CJK JP" pitchFamily="34" charset="0"/>
                <a:ea typeface="Noto Sans CJK JP" pitchFamily="34" charset="-122"/>
                <a:cs typeface="Noto Sans CJK JP" pitchFamily="34" charset="-120"/>
              </a:rPr>
              <a:t>+3営業日</a:t>
            </a:r>
            <a:endParaRPr lang="en-US" sz="1250" dirty="0"/>
          </a:p>
        </p:txBody>
      </p:sp>
      <p:sp>
        <p:nvSpPr>
          <p:cNvPr id="23" name="Text 18"/>
          <p:cNvSpPr/>
          <p:nvPr/>
        </p:nvSpPr>
        <p:spPr>
          <a:xfrm>
            <a:off x="2857500" y="4133088"/>
            <a:ext cx="1828800" cy="438912"/>
          </a:xfrm>
          <a:prstGeom prst="rect">
            <a:avLst/>
          </a:prstGeom>
          <a:noFill/>
          <a:ln/>
        </p:spPr>
        <p:txBody>
          <a:bodyPr wrap="square" lIns="0" tIns="0" rIns="0" bIns="0" rtlCol="0" anchor="ctr"/>
          <a:lstStyle/>
          <a:p>
            <a:pPr algn="ctr" indent="0" marL="0">
              <a:lnSpc>
                <a:spcPct val="100000"/>
              </a:lnSpc>
              <a:buNone/>
            </a:pPr>
            <a:r>
              <a:rPr lang="en-US" sz="1150" dirty="0">
                <a:solidFill>
                  <a:srgbClr val="3A2C31"/>
                </a:solidFill>
                <a:latin typeface="Noto Sans CJK JP" pitchFamily="34" charset="0"/>
                <a:ea typeface="Noto Sans CJK JP" pitchFamily="34" charset="-122"/>
                <a:cs typeface="Noto Sans CJK JP" pitchFamily="34" charset="-120"/>
              </a:rPr>
              <a:t>検証データ提供</a:t>
            </a:r>
            <a:endParaRPr lang="en-US" sz="1150" dirty="0"/>
          </a:p>
        </p:txBody>
      </p:sp>
      <p:sp>
        <p:nvSpPr>
          <p:cNvPr id="24" name="Text 19"/>
          <p:cNvSpPr/>
          <p:nvPr/>
        </p:nvSpPr>
        <p:spPr>
          <a:xfrm>
            <a:off x="2857500" y="4572000"/>
            <a:ext cx="1828800" cy="256032"/>
          </a:xfrm>
          <a:prstGeom prst="rect">
            <a:avLst/>
          </a:prstGeom>
          <a:noFill/>
          <a:ln/>
        </p:spPr>
        <p:txBody>
          <a:bodyPr wrap="square" lIns="0" tIns="0" rIns="0" bIns="0" rtlCol="0" anchor="ctr"/>
          <a:lstStyle/>
          <a:p>
            <a:pPr algn="ctr" indent="0" marL="0">
              <a:buNone/>
            </a:pPr>
            <a:r>
              <a:rPr lang="en-US" sz="1050" i="1" dirty="0">
                <a:solidFill>
                  <a:srgbClr val="9A8890"/>
                </a:solidFill>
                <a:latin typeface="Noto Sans CJK JP" pitchFamily="34" charset="0"/>
                <a:ea typeface="Noto Sans CJK JP" pitchFamily="34" charset="-122"/>
                <a:cs typeface="Noto Sans CJK JP" pitchFamily="34" charset="-120"/>
              </a:rPr>
              <a:t>お客さん</a:t>
            </a:r>
            <a:endParaRPr lang="en-US" sz="1050" dirty="0"/>
          </a:p>
        </p:txBody>
      </p:sp>
      <p:sp>
        <p:nvSpPr>
          <p:cNvPr id="25" name="Shape 20"/>
          <p:cNvSpPr/>
          <p:nvPr/>
        </p:nvSpPr>
        <p:spPr>
          <a:xfrm>
            <a:off x="5943600" y="3182112"/>
            <a:ext cx="274320" cy="274320"/>
          </a:xfrm>
          <a:prstGeom prst="ellipse">
            <a:avLst/>
          </a:prstGeom>
          <a:solidFill>
            <a:srgbClr val="D98AA0"/>
          </a:solidFill>
          <a:ln w="25400">
            <a:solidFill>
              <a:srgbClr val="FFFFFF"/>
            </a:solidFill>
            <a:prstDash val="solid"/>
          </a:ln>
        </p:spPr>
      </p:sp>
      <p:sp>
        <p:nvSpPr>
          <p:cNvPr id="26" name="Shape 21"/>
          <p:cNvSpPr/>
          <p:nvPr/>
        </p:nvSpPr>
        <p:spPr>
          <a:xfrm>
            <a:off x="5120640" y="1965960"/>
            <a:ext cx="1920240" cy="1097280"/>
          </a:xfrm>
          <a:prstGeom prst="roundRect">
            <a:avLst>
              <a:gd name="adj" fmla="val 8333"/>
            </a:avLst>
          </a:prstGeom>
          <a:solidFill>
            <a:srgbClr val="FBF1F4"/>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27" name="Text 22"/>
          <p:cNvSpPr/>
          <p:nvPr/>
        </p:nvSpPr>
        <p:spPr>
          <a:xfrm>
            <a:off x="5166360" y="2039112"/>
            <a:ext cx="1828800" cy="310896"/>
          </a:xfrm>
          <a:prstGeom prst="rect">
            <a:avLst/>
          </a:prstGeom>
          <a:noFill/>
          <a:ln/>
        </p:spPr>
        <p:txBody>
          <a:bodyPr wrap="square" lIns="0" tIns="0" rIns="0" bIns="0" rtlCol="0" anchor="ctr"/>
          <a:lstStyle/>
          <a:p>
            <a:pPr algn="ctr" indent="0" marL="0">
              <a:buNone/>
            </a:pPr>
            <a:r>
              <a:rPr lang="en-US" sz="1250" b="1" dirty="0">
                <a:solidFill>
                  <a:srgbClr val="D98AA0"/>
                </a:solidFill>
                <a:latin typeface="Noto Sans CJK JP" pitchFamily="34" charset="0"/>
                <a:ea typeface="Noto Sans CJK JP" pitchFamily="34" charset="-122"/>
                <a:cs typeface="Noto Sans CJK JP" pitchFamily="34" charset="-120"/>
              </a:rPr>
              <a:t>+2営業日</a:t>
            </a:r>
            <a:endParaRPr lang="en-US" sz="1250" dirty="0"/>
          </a:p>
        </p:txBody>
      </p:sp>
      <p:sp>
        <p:nvSpPr>
          <p:cNvPr id="28" name="Text 23"/>
          <p:cNvSpPr/>
          <p:nvPr/>
        </p:nvSpPr>
        <p:spPr>
          <a:xfrm>
            <a:off x="5166360" y="2350008"/>
            <a:ext cx="1828800" cy="438912"/>
          </a:xfrm>
          <a:prstGeom prst="rect">
            <a:avLst/>
          </a:prstGeom>
          <a:noFill/>
          <a:ln/>
        </p:spPr>
        <p:txBody>
          <a:bodyPr wrap="square" lIns="0" tIns="0" rIns="0" bIns="0" rtlCol="0" anchor="ctr"/>
          <a:lstStyle/>
          <a:p>
            <a:pPr algn="ctr" indent="0" marL="0">
              <a:lnSpc>
                <a:spcPct val="100000"/>
              </a:lnSpc>
              <a:buNone/>
            </a:pPr>
            <a:r>
              <a:rPr lang="en-US" sz="1150" dirty="0">
                <a:solidFill>
                  <a:srgbClr val="3A2C31"/>
                </a:solidFill>
                <a:latin typeface="Noto Sans CJK JP" pitchFamily="34" charset="0"/>
                <a:ea typeface="Noto Sans CJK JP" pitchFamily="34" charset="-122"/>
                <a:cs typeface="Noto Sans CJK JP" pitchFamily="34" charset="-120"/>
              </a:rPr>
              <a:t>環境構築→疎通確認</a:t>
            </a:r>
            <a:endParaRPr lang="en-US" sz="1150" dirty="0"/>
          </a:p>
        </p:txBody>
      </p:sp>
      <p:sp>
        <p:nvSpPr>
          <p:cNvPr id="29" name="Text 24"/>
          <p:cNvSpPr/>
          <p:nvPr/>
        </p:nvSpPr>
        <p:spPr>
          <a:xfrm>
            <a:off x="5166360" y="2788920"/>
            <a:ext cx="1828800" cy="256032"/>
          </a:xfrm>
          <a:prstGeom prst="rect">
            <a:avLst/>
          </a:prstGeom>
          <a:noFill/>
          <a:ln/>
        </p:spPr>
        <p:txBody>
          <a:bodyPr wrap="square" lIns="0" tIns="0" rIns="0" bIns="0" rtlCol="0" anchor="ctr"/>
          <a:lstStyle/>
          <a:p>
            <a:pPr algn="ctr" indent="0" marL="0">
              <a:buNone/>
            </a:pPr>
            <a:r>
              <a:rPr lang="en-US" sz="1050" i="1" dirty="0">
                <a:solidFill>
                  <a:srgbClr val="9A8890"/>
                </a:solidFill>
                <a:latin typeface="Noto Sans CJK JP" pitchFamily="34" charset="0"/>
                <a:ea typeface="Noto Sans CJK JP" pitchFamily="34" charset="-122"/>
                <a:cs typeface="Noto Sans CJK JP" pitchFamily="34" charset="-120"/>
              </a:rPr>
              <a:t>自分</a:t>
            </a:r>
            <a:endParaRPr lang="en-US" sz="1050" dirty="0"/>
          </a:p>
        </p:txBody>
      </p:sp>
      <p:sp>
        <p:nvSpPr>
          <p:cNvPr id="30" name="Shape 25"/>
          <p:cNvSpPr/>
          <p:nvPr/>
        </p:nvSpPr>
        <p:spPr>
          <a:xfrm>
            <a:off x="8252460" y="3182112"/>
            <a:ext cx="274320" cy="274320"/>
          </a:xfrm>
          <a:prstGeom prst="ellipse">
            <a:avLst/>
          </a:prstGeom>
          <a:solidFill>
            <a:srgbClr val="5A7FA3"/>
          </a:solidFill>
          <a:ln w="25400">
            <a:solidFill>
              <a:srgbClr val="FFFFFF"/>
            </a:solidFill>
            <a:prstDash val="solid"/>
          </a:ln>
        </p:spPr>
      </p:sp>
      <p:sp>
        <p:nvSpPr>
          <p:cNvPr id="31" name="Shape 26"/>
          <p:cNvSpPr/>
          <p:nvPr/>
        </p:nvSpPr>
        <p:spPr>
          <a:xfrm>
            <a:off x="7429500" y="3749040"/>
            <a:ext cx="1920240" cy="1097280"/>
          </a:xfrm>
          <a:prstGeom prst="roundRect">
            <a:avLst>
              <a:gd name="adj" fmla="val 8333"/>
            </a:avLst>
          </a:prstGeom>
          <a:solidFill>
            <a:srgbClr val="FBF1F4"/>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32" name="Text 27"/>
          <p:cNvSpPr/>
          <p:nvPr/>
        </p:nvSpPr>
        <p:spPr>
          <a:xfrm>
            <a:off x="7475220" y="3822192"/>
            <a:ext cx="1828800" cy="310896"/>
          </a:xfrm>
          <a:prstGeom prst="rect">
            <a:avLst/>
          </a:prstGeom>
          <a:noFill/>
          <a:ln/>
        </p:spPr>
        <p:txBody>
          <a:bodyPr wrap="square" lIns="0" tIns="0" rIns="0" bIns="0" rtlCol="0" anchor="ctr"/>
          <a:lstStyle/>
          <a:p>
            <a:pPr algn="ctr" indent="0" marL="0">
              <a:buNone/>
            </a:pPr>
            <a:r>
              <a:rPr lang="en-US" sz="1250" b="1" dirty="0">
                <a:solidFill>
                  <a:srgbClr val="5A7FA3"/>
                </a:solidFill>
                <a:latin typeface="Noto Sans CJK JP" pitchFamily="34" charset="0"/>
                <a:ea typeface="Noto Sans CJK JP" pitchFamily="34" charset="-122"/>
                <a:cs typeface="Noto Sans CJK JP" pitchFamily="34" charset="-120"/>
              </a:rPr>
              <a:t>提出+5日</a:t>
            </a:r>
            <a:endParaRPr lang="en-US" sz="1250" dirty="0"/>
          </a:p>
        </p:txBody>
      </p:sp>
      <p:sp>
        <p:nvSpPr>
          <p:cNvPr id="33" name="Text 28"/>
          <p:cNvSpPr/>
          <p:nvPr/>
        </p:nvSpPr>
        <p:spPr>
          <a:xfrm>
            <a:off x="7475220" y="4133088"/>
            <a:ext cx="1828800" cy="438912"/>
          </a:xfrm>
          <a:prstGeom prst="rect">
            <a:avLst/>
          </a:prstGeom>
          <a:noFill/>
          <a:ln/>
        </p:spPr>
        <p:txBody>
          <a:bodyPr wrap="square" lIns="0" tIns="0" rIns="0" bIns="0" rtlCol="0" anchor="ctr"/>
          <a:lstStyle/>
          <a:p>
            <a:pPr algn="ctr" indent="0" marL="0">
              <a:lnSpc>
                <a:spcPct val="100000"/>
              </a:lnSpc>
              <a:buNone/>
            </a:pPr>
            <a:r>
              <a:rPr lang="en-US" sz="1150" dirty="0">
                <a:solidFill>
                  <a:srgbClr val="3A2C31"/>
                </a:solidFill>
                <a:latin typeface="Noto Sans CJK JP" pitchFamily="34" charset="0"/>
                <a:ea typeface="Noto Sans CJK JP" pitchFamily="34" charset="-122"/>
                <a:cs typeface="Noto Sans CJK JP" pitchFamily="34" charset="-120"/>
              </a:rPr>
              <a:t>レビュー（返却）</a:t>
            </a:r>
            <a:endParaRPr lang="en-US" sz="1150" dirty="0"/>
          </a:p>
        </p:txBody>
      </p:sp>
      <p:sp>
        <p:nvSpPr>
          <p:cNvPr id="34" name="Text 29"/>
          <p:cNvSpPr/>
          <p:nvPr/>
        </p:nvSpPr>
        <p:spPr>
          <a:xfrm>
            <a:off x="7475220" y="4572000"/>
            <a:ext cx="1828800" cy="256032"/>
          </a:xfrm>
          <a:prstGeom prst="rect">
            <a:avLst/>
          </a:prstGeom>
          <a:noFill/>
          <a:ln/>
        </p:spPr>
        <p:txBody>
          <a:bodyPr wrap="square" lIns="0" tIns="0" rIns="0" bIns="0" rtlCol="0" anchor="ctr"/>
          <a:lstStyle/>
          <a:p>
            <a:pPr algn="ctr" indent="0" marL="0">
              <a:buNone/>
            </a:pPr>
            <a:r>
              <a:rPr lang="en-US" sz="1050" i="1" dirty="0">
                <a:solidFill>
                  <a:srgbClr val="9A8890"/>
                </a:solidFill>
                <a:latin typeface="Noto Sans CJK JP" pitchFamily="34" charset="0"/>
                <a:ea typeface="Noto Sans CJK JP" pitchFamily="34" charset="-122"/>
                <a:cs typeface="Noto Sans CJK JP" pitchFamily="34" charset="-120"/>
              </a:rPr>
              <a:t>お客さん</a:t>
            </a:r>
            <a:endParaRPr lang="en-US" sz="1050" dirty="0"/>
          </a:p>
        </p:txBody>
      </p:sp>
      <p:sp>
        <p:nvSpPr>
          <p:cNvPr id="35" name="Shape 30"/>
          <p:cNvSpPr/>
          <p:nvPr/>
        </p:nvSpPr>
        <p:spPr>
          <a:xfrm>
            <a:off x="10561320" y="3182112"/>
            <a:ext cx="274320" cy="274320"/>
          </a:xfrm>
          <a:prstGeom prst="ellipse">
            <a:avLst/>
          </a:prstGeom>
          <a:solidFill>
            <a:srgbClr val="4E8568"/>
          </a:solidFill>
          <a:ln w="25400">
            <a:solidFill>
              <a:srgbClr val="FFFFFF"/>
            </a:solidFill>
            <a:prstDash val="solid"/>
          </a:ln>
        </p:spPr>
      </p:sp>
      <p:sp>
        <p:nvSpPr>
          <p:cNvPr id="36" name="Shape 31"/>
          <p:cNvSpPr/>
          <p:nvPr/>
        </p:nvSpPr>
        <p:spPr>
          <a:xfrm>
            <a:off x="9738360" y="1965960"/>
            <a:ext cx="1920240" cy="1097280"/>
          </a:xfrm>
          <a:prstGeom prst="roundRect">
            <a:avLst>
              <a:gd name="adj" fmla="val 8333"/>
            </a:avLst>
          </a:prstGeom>
          <a:solidFill>
            <a:srgbClr val="EAF3EE"/>
          </a:solidFill>
          <a:ln w="12700">
            <a:solidFill>
              <a:srgbClr val="4E8568"/>
            </a:solidFill>
            <a:prstDash val="solid"/>
          </a:ln>
          <a:effectLst>
            <a:outerShdw sx="100000" sy="100000" kx="0" ky="0" algn="bl" rotWithShape="0" blurRad="76200" dist="25400" dir="5400000">
              <a:srgbClr val="000000">
                <a:alpha val="10000"/>
              </a:srgbClr>
            </a:outerShdw>
          </a:effectLst>
        </p:spPr>
      </p:sp>
      <p:sp>
        <p:nvSpPr>
          <p:cNvPr id="37" name="Text 32"/>
          <p:cNvSpPr/>
          <p:nvPr/>
        </p:nvSpPr>
        <p:spPr>
          <a:xfrm>
            <a:off x="9784080" y="2039112"/>
            <a:ext cx="1828800" cy="310896"/>
          </a:xfrm>
          <a:prstGeom prst="rect">
            <a:avLst/>
          </a:prstGeom>
          <a:noFill/>
          <a:ln/>
        </p:spPr>
        <p:txBody>
          <a:bodyPr wrap="square" lIns="0" tIns="0" rIns="0" bIns="0" rtlCol="0" anchor="ctr"/>
          <a:lstStyle/>
          <a:p>
            <a:pPr algn="ctr" indent="0" marL="0">
              <a:buNone/>
            </a:pPr>
            <a:r>
              <a:rPr lang="en-US" sz="1250" b="1" dirty="0">
                <a:solidFill>
                  <a:srgbClr val="4E8568"/>
                </a:solidFill>
                <a:latin typeface="Noto Sans CJK JP" pitchFamily="34" charset="0"/>
                <a:ea typeface="Noto Sans CJK JP" pitchFamily="34" charset="-122"/>
                <a:cs typeface="Noto Sans CJK JP" pitchFamily="34" charset="-120"/>
              </a:rPr>
              <a:t>合意</a:t>
            </a:r>
            <a:endParaRPr lang="en-US" sz="1250" dirty="0"/>
          </a:p>
        </p:txBody>
      </p:sp>
      <p:sp>
        <p:nvSpPr>
          <p:cNvPr id="38" name="Text 33"/>
          <p:cNvSpPr/>
          <p:nvPr/>
        </p:nvSpPr>
        <p:spPr>
          <a:xfrm>
            <a:off x="9784080" y="2350008"/>
            <a:ext cx="1828800" cy="438912"/>
          </a:xfrm>
          <a:prstGeom prst="rect">
            <a:avLst/>
          </a:prstGeom>
          <a:noFill/>
          <a:ln/>
        </p:spPr>
        <p:txBody>
          <a:bodyPr wrap="square" lIns="0" tIns="0" rIns="0" bIns="0" rtlCol="0" anchor="ctr"/>
          <a:lstStyle/>
          <a:p>
            <a:pPr algn="ctr" indent="0" marL="0">
              <a:lnSpc>
                <a:spcPct val="100000"/>
              </a:lnSpc>
              <a:buNone/>
            </a:pPr>
            <a:r>
              <a:rPr lang="en-US" sz="1150" dirty="0">
                <a:solidFill>
                  <a:srgbClr val="3A2C31"/>
                </a:solidFill>
                <a:latin typeface="Noto Sans CJK JP" pitchFamily="34" charset="0"/>
                <a:ea typeface="Noto Sans CJK JP" pitchFamily="34" charset="-122"/>
                <a:cs typeface="Noto Sans CJK JP" pitchFamily="34" charset="-120"/>
              </a:rPr>
              <a:t>完了 or 仕様変更へ</a:t>
            </a:r>
            <a:endParaRPr lang="en-US" sz="1150" dirty="0"/>
          </a:p>
        </p:txBody>
      </p:sp>
      <p:sp>
        <p:nvSpPr>
          <p:cNvPr id="39" name="Text 34"/>
          <p:cNvSpPr/>
          <p:nvPr/>
        </p:nvSpPr>
        <p:spPr>
          <a:xfrm>
            <a:off x="9784080" y="2788920"/>
            <a:ext cx="1828800" cy="256032"/>
          </a:xfrm>
          <a:prstGeom prst="rect">
            <a:avLst/>
          </a:prstGeom>
          <a:noFill/>
          <a:ln/>
        </p:spPr>
        <p:txBody>
          <a:bodyPr wrap="square" lIns="0" tIns="0" rIns="0" bIns="0" rtlCol="0" anchor="ctr"/>
          <a:lstStyle/>
          <a:p>
            <a:pPr algn="ctr" indent="0" marL="0">
              <a:buNone/>
            </a:pPr>
            <a:r>
              <a:rPr lang="en-US" sz="1050" i="1" dirty="0">
                <a:solidFill>
                  <a:srgbClr val="9A8890"/>
                </a:solidFill>
                <a:latin typeface="Noto Sans CJK JP" pitchFamily="34" charset="0"/>
                <a:ea typeface="Noto Sans CJK JP" pitchFamily="34" charset="-122"/>
                <a:cs typeface="Noto Sans CJK JP" pitchFamily="34" charset="-120"/>
              </a:rPr>
              <a:t>両者</a:t>
            </a:r>
            <a:endParaRPr lang="en-US" sz="1050" dirty="0"/>
          </a:p>
        </p:txBody>
      </p:sp>
      <p:sp>
        <p:nvSpPr>
          <p:cNvPr id="40" name="Shape 35"/>
          <p:cNvSpPr/>
          <p:nvPr/>
        </p:nvSpPr>
        <p:spPr>
          <a:xfrm>
            <a:off x="548640" y="5486400"/>
            <a:ext cx="11064240" cy="822960"/>
          </a:xfrm>
          <a:prstGeom prst="roundRect">
            <a:avLst>
              <a:gd name="adj" fmla="val 11111"/>
            </a:avLst>
          </a:prstGeom>
          <a:solidFill>
            <a:srgbClr val="FBF1F4"/>
          </a:solidFill>
          <a:ln w="12700">
            <a:solidFill>
              <a:srgbClr val="EBB4C4"/>
            </a:solidFill>
            <a:prstDash val="solid"/>
          </a:ln>
        </p:spPr>
      </p:sp>
      <p:pic>
        <p:nvPicPr>
          <p:cNvPr id="41" name="Image 3" descr="preencoded.png">    </p:cNvPr>
          <p:cNvPicPr>
            <a:picLocks noChangeAspect="1"/>
          </p:cNvPicPr>
          <p:nvPr/>
        </p:nvPicPr>
        <p:blipFill>
          <a:blip r:embed="rId4"/>
          <a:stretch>
            <a:fillRect/>
          </a:stretch>
        </p:blipFill>
        <p:spPr>
          <a:xfrm>
            <a:off x="749808" y="5614416"/>
            <a:ext cx="566928" cy="566928"/>
          </a:xfrm>
          <a:prstGeom prst="rect">
            <a:avLst/>
          </a:prstGeom>
        </p:spPr>
      </p:pic>
      <p:sp>
        <p:nvSpPr>
          <p:cNvPr id="42" name="Text 36"/>
          <p:cNvSpPr/>
          <p:nvPr/>
        </p:nvSpPr>
        <p:spPr>
          <a:xfrm>
            <a:off x="1508760" y="5486400"/>
            <a:ext cx="9875520" cy="822960"/>
          </a:xfrm>
          <a:prstGeom prst="rect">
            <a:avLst/>
          </a:prstGeom>
          <a:noFill/>
          <a:ln/>
        </p:spPr>
        <p:txBody>
          <a:bodyPr wrap="square" lIns="0" tIns="0" rIns="0" bIns="0" rtlCol="0" anchor="ctr"/>
          <a:lstStyle/>
          <a:p>
            <a:pPr indent="0" marL="0">
              <a:lnSpc>
                <a:spcPct val="114000"/>
              </a:lnSpc>
              <a:buNone/>
            </a:pPr>
            <a:r>
              <a:rPr lang="en-US" sz="1350" b="1" dirty="0">
                <a:solidFill>
                  <a:srgbClr val="8E3556"/>
                </a:solidFill>
                <a:latin typeface="Noto Sans CJK JP" pitchFamily="34" charset="0"/>
                <a:ea typeface="Noto Sans CJK JP" pitchFamily="34" charset="-122"/>
                <a:cs typeface="Noto Sans CJK JP" pitchFamily="34" charset="-120"/>
              </a:rPr>
              <a:t>ポイント　</a:t>
            </a:r>
            <a:pPr indent="0" marL="0">
              <a:lnSpc>
                <a:spcPct val="114000"/>
              </a:lnSpc>
              <a:buNone/>
            </a:pPr>
            <a:r>
              <a:rPr lang="en-US" sz="1350" dirty="0">
                <a:solidFill>
                  <a:srgbClr val="3A2C31"/>
                </a:solidFill>
                <a:latin typeface="Noto Sans CJK JP" pitchFamily="34" charset="0"/>
                <a:ea typeface="Noto Sans CJK JP" pitchFamily="34" charset="-122"/>
                <a:cs typeface="Noto Sans CJK JP" pitchFamily="34" charset="-120"/>
              </a:rPr>
              <a:t>各ステップに「完了の判定」を。水掛け論は“完了の定義がない”から起きる。提供＝丼を渡した時点か、満足した時点か、を決めておく。</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10896"/>
          </a:xfrm>
          <a:prstGeom prst="rect">
            <a:avLst/>
          </a:prstGeom>
          <a:solidFill>
            <a:srgbClr val="574039"/>
          </a:solidFill>
          <a:ln/>
        </p:spPr>
      </p:sp>
      <p:pic>
        <p:nvPicPr>
          <p:cNvPr id="3" name="Image 0" descr="preencoded.png">    </p:cNvPr>
          <p:cNvPicPr>
            <a:picLocks noChangeAspect="1"/>
          </p:cNvPicPr>
          <p:nvPr/>
        </p:nvPicPr>
        <p:blipFill>
          <a:blip r:embed="rId1"/>
          <a:stretch>
            <a:fillRect/>
          </a:stretch>
        </p:blipFill>
        <p:spPr>
          <a:xfrm>
            <a:off x="457200" y="54864"/>
            <a:ext cx="201168" cy="201168"/>
          </a:xfrm>
          <a:prstGeom prst="rect">
            <a:avLst/>
          </a:prstGeom>
        </p:spPr>
      </p:pic>
      <p:sp>
        <p:nvSpPr>
          <p:cNvPr id="4" name="Text 1"/>
          <p:cNvSpPr/>
          <p:nvPr/>
        </p:nvSpPr>
        <p:spPr>
          <a:xfrm>
            <a:off x="731520" y="0"/>
            <a:ext cx="4572000" cy="310896"/>
          </a:xfrm>
          <a:prstGeom prst="rect">
            <a:avLst/>
          </a:prstGeom>
          <a:noFill/>
          <a:ln/>
        </p:spPr>
        <p:txBody>
          <a:bodyPr wrap="square" lIns="0" tIns="0" rIns="0" bIns="0" rtlCol="0" anchor="ctr"/>
          <a:lstStyle/>
          <a:p>
            <a:pPr indent="0" marL="0">
              <a:buNone/>
            </a:pPr>
            <a:r>
              <a:rPr lang="en-US" sz="1000" dirty="0">
                <a:solidFill>
                  <a:srgbClr val="F4E9E2"/>
                </a:solidFill>
                <a:latin typeface="Noto Sans CJK JP" pitchFamily="34" charset="0"/>
                <a:ea typeface="Noto Sans CJK JP" pitchFamily="34" charset="-122"/>
                <a:cs typeface="Noto Sans CJK JP" pitchFamily="34" charset="-120"/>
              </a:rPr>
              <a:t>うさうさ研修工房</a:t>
            </a:r>
            <a:endParaRPr lang="en-US" sz="1000" dirty="0"/>
          </a:p>
        </p:txBody>
      </p:sp>
      <p:sp>
        <p:nvSpPr>
          <p:cNvPr id="5" name="Text 2"/>
          <p:cNvSpPr/>
          <p:nvPr/>
        </p:nvSpPr>
        <p:spPr>
          <a:xfrm>
            <a:off x="7132320" y="0"/>
            <a:ext cx="45720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合意設計 ・ 考えさせる編</a:t>
            </a:r>
            <a:endParaRPr lang="en-US" sz="1000" dirty="0"/>
          </a:p>
        </p:txBody>
      </p:sp>
      <p:sp>
        <p:nvSpPr>
          <p:cNvPr id="6" name="Shape 3"/>
          <p:cNvSpPr/>
          <p:nvPr/>
        </p:nvSpPr>
        <p:spPr>
          <a:xfrm>
            <a:off x="0" y="6547104"/>
            <a:ext cx="12161520" cy="310896"/>
          </a:xfrm>
          <a:prstGeom prst="rect">
            <a:avLst/>
          </a:prstGeom>
          <a:solidFill>
            <a:srgbClr val="574039"/>
          </a:solidFill>
          <a:ln/>
        </p:spPr>
      </p:sp>
      <p:pic>
        <p:nvPicPr>
          <p:cNvPr id="7" name="Image 1" descr="preencoded.png">    </p:cNvPr>
          <p:cNvPicPr>
            <a:picLocks noChangeAspect="1"/>
          </p:cNvPicPr>
          <p:nvPr/>
        </p:nvPicPr>
        <p:blipFill>
          <a:blip r:embed="rId2"/>
          <a:stretch>
            <a:fillRect/>
          </a:stretch>
        </p:blipFill>
        <p:spPr>
          <a:xfrm>
            <a:off x="457200" y="6601968"/>
            <a:ext cx="201168" cy="201168"/>
          </a:xfrm>
          <a:prstGeom prst="rect">
            <a:avLst/>
          </a:prstGeom>
        </p:spPr>
      </p:pic>
      <p:sp>
        <p:nvSpPr>
          <p:cNvPr id="8" name="Text 4"/>
          <p:cNvSpPr/>
          <p:nvPr/>
        </p:nvSpPr>
        <p:spPr>
          <a:xfrm>
            <a:off x="731520" y="6547104"/>
            <a:ext cx="5486400" cy="310896"/>
          </a:xfrm>
          <a:prstGeom prst="rect">
            <a:avLst/>
          </a:prstGeom>
          <a:noFill/>
          <a:ln/>
        </p:spPr>
        <p:txBody>
          <a:bodyPr wrap="square" lIns="0" tIns="0" rIns="0" bIns="0" rtlCol="0" anchor="ctr"/>
          <a:lstStyle/>
          <a:p>
            <a:pPr indent="0" marL="0">
              <a:buNone/>
            </a:pPr>
            <a:r>
              <a:rPr lang="en-US" sz="950" dirty="0">
                <a:solidFill>
                  <a:srgbClr val="F4E9E2"/>
                </a:solidFill>
                <a:latin typeface="Noto Sans CJK JP" pitchFamily="34" charset="0"/>
                <a:ea typeface="Noto Sans CJK JP" pitchFamily="34" charset="-122"/>
                <a:cs typeface="Noto Sans CJK JP" pitchFamily="34" charset="-120"/>
              </a:rPr>
              <a:t>面白きこともなき世を面白く 🐰</a:t>
            </a:r>
            <a:endParaRPr lang="en-US" sz="950" dirty="0"/>
          </a:p>
        </p:txBody>
      </p:sp>
      <p:sp>
        <p:nvSpPr>
          <p:cNvPr id="9" name="Text 5"/>
          <p:cNvSpPr/>
          <p:nvPr/>
        </p:nvSpPr>
        <p:spPr>
          <a:xfrm>
            <a:off x="11247120" y="6547104"/>
            <a:ext cx="4572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9</a:t>
            </a:r>
            <a:endParaRPr lang="en-US" sz="1000" dirty="0"/>
          </a:p>
        </p:txBody>
      </p:sp>
      <p:sp>
        <p:nvSpPr>
          <p:cNvPr id="10" name="Shape 6"/>
          <p:cNvSpPr/>
          <p:nvPr/>
        </p:nvSpPr>
        <p:spPr>
          <a:xfrm>
            <a:off x="502920" y="502920"/>
            <a:ext cx="749808" cy="749808"/>
          </a:xfrm>
          <a:prstGeom prst="ellipse">
            <a:avLst/>
          </a:prstGeom>
          <a:solidFill>
            <a:srgbClr val="B4587A"/>
          </a:solidFill>
          <a:ln/>
        </p:spPr>
      </p:sp>
      <p:pic>
        <p:nvPicPr>
          <p:cNvPr id="11" name="Image 2" descr="preencoded.png">    </p:cNvPr>
          <p:cNvPicPr>
            <a:picLocks noChangeAspect="1"/>
          </p:cNvPicPr>
          <p:nvPr/>
        </p:nvPicPr>
        <p:blipFill>
          <a:blip r:embed="rId3"/>
          <a:stretch>
            <a:fillRect/>
          </a:stretch>
        </p:blipFill>
        <p:spPr>
          <a:xfrm>
            <a:off x="705368" y="705368"/>
            <a:ext cx="344912" cy="344912"/>
          </a:xfrm>
          <a:prstGeom prst="rect">
            <a:avLst/>
          </a:prstGeom>
        </p:spPr>
      </p:pic>
      <p:sp>
        <p:nvSpPr>
          <p:cNvPr id="12" name="Text 7"/>
          <p:cNvSpPr/>
          <p:nvPr/>
        </p:nvSpPr>
        <p:spPr>
          <a:xfrm>
            <a:off x="1389888" y="502920"/>
            <a:ext cx="10332720" cy="749808"/>
          </a:xfrm>
          <a:prstGeom prst="rect">
            <a:avLst/>
          </a:prstGeom>
          <a:noFill/>
          <a:ln/>
        </p:spPr>
        <p:txBody>
          <a:bodyPr wrap="square" lIns="0" tIns="0" rIns="0" bIns="0" rtlCol="0" anchor="ctr"/>
          <a:lstStyle/>
          <a:p>
            <a:pPr indent="0" marL="0">
              <a:buNone/>
            </a:pPr>
            <a:r>
              <a:rPr lang="en-US" sz="2600" b="1" dirty="0">
                <a:solidFill>
                  <a:srgbClr val="CFA15C"/>
                </a:solidFill>
                <a:latin typeface="Noto Sans CJK JP" pitchFamily="34" charset="0"/>
                <a:ea typeface="Noto Sans CJK JP" pitchFamily="34" charset="-122"/>
                <a:cs typeface="Noto Sans CJK JP" pitchFamily="34" charset="-120"/>
              </a:rPr>
              <a:t>03  </a:t>
            </a:r>
            <a:pPr indent="0" marL="0">
              <a:buNone/>
            </a:pPr>
            <a:r>
              <a:rPr lang="en-US" sz="2600" b="1" dirty="0">
                <a:solidFill>
                  <a:srgbClr val="8E3556"/>
                </a:solidFill>
                <a:latin typeface="Noto Sans CJK JP" pitchFamily="34" charset="0"/>
                <a:ea typeface="Noto Sans CJK JP" pitchFamily="34" charset="-122"/>
                <a:cs typeface="Noto Sans CJK JP" pitchFamily="34" charset="-120"/>
              </a:rPr>
              <a:t>やり直しは何回まで？ ── 決定フロー</a:t>
            </a:r>
            <a:endParaRPr lang="en-US" sz="2600" dirty="0"/>
          </a:p>
        </p:txBody>
      </p:sp>
      <p:sp>
        <p:nvSpPr>
          <p:cNvPr id="13" name="Text 8"/>
          <p:cNvSpPr/>
          <p:nvPr/>
        </p:nvSpPr>
        <p:spPr>
          <a:xfrm>
            <a:off x="521208" y="1371600"/>
            <a:ext cx="10972800" cy="320040"/>
          </a:xfrm>
          <a:prstGeom prst="rect">
            <a:avLst/>
          </a:prstGeom>
          <a:noFill/>
          <a:ln/>
        </p:spPr>
        <p:txBody>
          <a:bodyPr wrap="square" lIns="0" tIns="0" rIns="0" bIns="0" rtlCol="0" anchor="ctr"/>
          <a:lstStyle/>
          <a:p>
            <a:pPr indent="0" marL="0">
              <a:buNone/>
            </a:pPr>
            <a:r>
              <a:rPr lang="en-US" sz="1350" dirty="0">
                <a:solidFill>
                  <a:srgbClr val="9A8890"/>
                </a:solidFill>
                <a:latin typeface="Noto Sans CJK JP" pitchFamily="34" charset="0"/>
                <a:ea typeface="Noto Sans CJK JP" pitchFamily="34" charset="-122"/>
                <a:cs typeface="Noto Sans CJK JP" pitchFamily="34" charset="-120"/>
              </a:rPr>
              <a:t>レビューが来たら、この分岐を“機械的に”通す。今日いちばん言いたいこと。</a:t>
            </a:r>
            <a:endParaRPr lang="en-US" sz="1350" dirty="0"/>
          </a:p>
        </p:txBody>
      </p:sp>
      <p:sp>
        <p:nvSpPr>
          <p:cNvPr id="14" name="Shape 9"/>
          <p:cNvSpPr/>
          <p:nvPr/>
        </p:nvSpPr>
        <p:spPr>
          <a:xfrm>
            <a:off x="685800" y="1965960"/>
            <a:ext cx="2194560" cy="868680"/>
          </a:xfrm>
          <a:prstGeom prst="roundRect">
            <a:avLst>
              <a:gd name="adj" fmla="val 10526"/>
            </a:avLst>
          </a:prstGeom>
          <a:solidFill>
            <a:srgbClr val="FBF1F4"/>
          </a:solidFill>
          <a:ln/>
          <a:effectLst>
            <a:outerShdw sx="100000" sy="100000" kx="0" ky="0" algn="bl" rotWithShape="0" blurRad="76200" dist="25400" dir="5400000">
              <a:srgbClr val="000000">
                <a:alpha val="10000"/>
              </a:srgbClr>
            </a:outerShdw>
          </a:effectLst>
        </p:spPr>
      </p:sp>
      <p:sp>
        <p:nvSpPr>
          <p:cNvPr id="15" name="Text 10"/>
          <p:cNvSpPr/>
          <p:nvPr/>
        </p:nvSpPr>
        <p:spPr>
          <a:xfrm>
            <a:off x="777240" y="1965960"/>
            <a:ext cx="2011680" cy="868680"/>
          </a:xfrm>
          <a:prstGeom prst="rect">
            <a:avLst/>
          </a:prstGeom>
          <a:noFill/>
          <a:ln/>
        </p:spPr>
        <p:txBody>
          <a:bodyPr wrap="square" lIns="0" tIns="0" rIns="0" bIns="0" rtlCol="0" anchor="ctr"/>
          <a:lstStyle/>
          <a:p>
            <a:pPr algn="ctr" indent="0" marL="0">
              <a:lnSpc>
                <a:spcPct val="105000"/>
              </a:lnSpc>
              <a:buNone/>
            </a:pPr>
            <a:r>
              <a:rPr lang="en-US" sz="1400" b="1" dirty="0">
                <a:solidFill>
                  <a:srgbClr val="8E3556"/>
                </a:solidFill>
                <a:latin typeface="Noto Sans CJK JP" pitchFamily="34" charset="0"/>
                <a:ea typeface="Noto Sans CJK JP" pitchFamily="34" charset="-122"/>
                <a:cs typeface="Noto Sans CJK JP" pitchFamily="34" charset="-120"/>
              </a:rPr>
              <a:t>レビュー指摘</a:t>
            </a:r>
            <a:endParaRPr lang="en-US" sz="1400" dirty="0"/>
          </a:p>
          <a:p>
            <a:pPr algn="ctr" indent="0" marL="0">
              <a:lnSpc>
                <a:spcPct val="105000"/>
              </a:lnSpc>
              <a:buNone/>
            </a:pPr>
            <a:r>
              <a:rPr lang="en-US" sz="1400" b="1" dirty="0">
                <a:solidFill>
                  <a:srgbClr val="8E3556"/>
                </a:solidFill>
                <a:latin typeface="Noto Sans CJK JP" pitchFamily="34" charset="0"/>
                <a:ea typeface="Noto Sans CJK JP" pitchFamily="34" charset="-122"/>
                <a:cs typeface="Noto Sans CJK JP" pitchFamily="34" charset="-120"/>
              </a:rPr>
              <a:t>が届く</a:t>
            </a:r>
            <a:endParaRPr lang="en-US" sz="1400" dirty="0"/>
          </a:p>
        </p:txBody>
      </p:sp>
      <p:sp>
        <p:nvSpPr>
          <p:cNvPr id="16" name="Text 11"/>
          <p:cNvSpPr/>
          <p:nvPr/>
        </p:nvSpPr>
        <p:spPr>
          <a:xfrm>
            <a:off x="2971800" y="2194560"/>
            <a:ext cx="457200" cy="457200"/>
          </a:xfrm>
          <a:prstGeom prst="rect">
            <a:avLst/>
          </a:prstGeom>
          <a:noFill/>
          <a:ln/>
        </p:spPr>
        <p:txBody>
          <a:bodyPr wrap="square" lIns="0" tIns="0" rIns="0" bIns="0" rtlCol="0" anchor="ctr"/>
          <a:lstStyle/>
          <a:p>
            <a:pPr algn="ctr" indent="0" marL="0">
              <a:buNone/>
            </a:pPr>
            <a:r>
              <a:rPr lang="en-US" sz="2400" b="1" dirty="0">
                <a:solidFill>
                  <a:srgbClr val="B4587A"/>
                </a:solidFill>
                <a:latin typeface="Noto Sans CJK JP" pitchFamily="34" charset="0"/>
                <a:ea typeface="Noto Sans CJK JP" pitchFamily="34" charset="-122"/>
                <a:cs typeface="Noto Sans CJK JP" pitchFamily="34" charset="-120"/>
              </a:rPr>
              <a:t>→</a:t>
            </a:r>
            <a:endParaRPr lang="en-US" sz="2400" dirty="0"/>
          </a:p>
        </p:txBody>
      </p:sp>
      <p:sp>
        <p:nvSpPr>
          <p:cNvPr id="17" name="Shape 12"/>
          <p:cNvSpPr/>
          <p:nvPr/>
        </p:nvSpPr>
        <p:spPr>
          <a:xfrm>
            <a:off x="3520440" y="1828800"/>
            <a:ext cx="2377440" cy="1143000"/>
          </a:xfrm>
          <a:prstGeom prst="roundRect">
            <a:avLst>
              <a:gd name="adj" fmla="val 8000"/>
            </a:avLst>
          </a:prstGeom>
          <a:solidFill>
            <a:srgbClr val="574039"/>
          </a:solidFill>
          <a:ln/>
          <a:effectLst>
            <a:outerShdw sx="100000" sy="100000" kx="0" ky="0" algn="bl" rotWithShape="0" blurRad="76200" dist="25400" dir="5400000">
              <a:srgbClr val="000000">
                <a:alpha val="10000"/>
              </a:srgbClr>
            </a:outerShdw>
          </a:effectLst>
        </p:spPr>
      </p:sp>
      <p:sp>
        <p:nvSpPr>
          <p:cNvPr id="18" name="Text 13"/>
          <p:cNvSpPr/>
          <p:nvPr/>
        </p:nvSpPr>
        <p:spPr>
          <a:xfrm>
            <a:off x="3611880" y="1828800"/>
            <a:ext cx="2194560" cy="1143000"/>
          </a:xfrm>
          <a:prstGeom prst="rect">
            <a:avLst/>
          </a:prstGeom>
          <a:noFill/>
          <a:ln/>
        </p:spPr>
        <p:txBody>
          <a:bodyPr wrap="square" lIns="0" tIns="0" rIns="0" bIns="0" rtlCol="0" anchor="ctr"/>
          <a:lstStyle/>
          <a:p>
            <a:pPr algn="ctr" indent="0" marL="0">
              <a:lnSpc>
                <a:spcPct val="105000"/>
              </a:lnSpc>
              <a:buNone/>
            </a:pPr>
            <a:r>
              <a:rPr lang="en-US" sz="1500" b="1" dirty="0">
                <a:solidFill>
                  <a:srgbClr val="F0C98D"/>
                </a:solidFill>
                <a:latin typeface="Noto Sans CJK JP" pitchFamily="34" charset="0"/>
                <a:ea typeface="Noto Sans CJK JP" pitchFamily="34" charset="-122"/>
                <a:cs typeface="Noto Sans CJK JP" pitchFamily="34" charset="-120"/>
              </a:rPr>
              <a:t>誤字・バグ？</a:t>
            </a:r>
            <a:endParaRPr lang="en-US" sz="1500" dirty="0"/>
          </a:p>
        </p:txBody>
      </p:sp>
      <p:sp>
        <p:nvSpPr>
          <p:cNvPr id="19" name="Text 14"/>
          <p:cNvSpPr/>
          <p:nvPr/>
        </p:nvSpPr>
        <p:spPr>
          <a:xfrm>
            <a:off x="6035040" y="2148840"/>
            <a:ext cx="457200" cy="457200"/>
          </a:xfrm>
          <a:prstGeom prst="rect">
            <a:avLst/>
          </a:prstGeom>
          <a:noFill/>
          <a:ln/>
        </p:spPr>
        <p:txBody>
          <a:bodyPr wrap="square" lIns="0" tIns="0" rIns="0" bIns="0" rtlCol="0" anchor="ctr"/>
          <a:lstStyle/>
          <a:p>
            <a:pPr algn="ctr" indent="0" marL="0">
              <a:buNone/>
            </a:pPr>
            <a:r>
              <a:rPr lang="en-US" sz="2400" b="1" dirty="0">
                <a:solidFill>
                  <a:srgbClr val="B4587A"/>
                </a:solidFill>
                <a:latin typeface="Noto Sans CJK JP" pitchFamily="34" charset="0"/>
                <a:ea typeface="Noto Sans CJK JP" pitchFamily="34" charset="-122"/>
                <a:cs typeface="Noto Sans CJK JP" pitchFamily="34" charset="-120"/>
              </a:rPr>
              <a:t>→</a:t>
            </a:r>
            <a:endParaRPr lang="en-US" sz="2400" dirty="0"/>
          </a:p>
        </p:txBody>
      </p:sp>
      <p:sp>
        <p:nvSpPr>
          <p:cNvPr id="20" name="Shape 15"/>
          <p:cNvSpPr/>
          <p:nvPr/>
        </p:nvSpPr>
        <p:spPr>
          <a:xfrm>
            <a:off x="6629400" y="1965960"/>
            <a:ext cx="2377440" cy="868680"/>
          </a:xfrm>
          <a:prstGeom prst="roundRect">
            <a:avLst>
              <a:gd name="adj" fmla="val 10526"/>
            </a:avLst>
          </a:prstGeom>
          <a:solidFill>
            <a:srgbClr val="EAF3EE"/>
          </a:solidFill>
          <a:ln/>
          <a:effectLst>
            <a:outerShdw sx="100000" sy="100000" kx="0" ky="0" algn="bl" rotWithShape="0" blurRad="76200" dist="25400" dir="5400000">
              <a:srgbClr val="000000">
                <a:alpha val="10000"/>
              </a:srgbClr>
            </a:outerShdw>
          </a:effectLst>
        </p:spPr>
      </p:sp>
      <p:sp>
        <p:nvSpPr>
          <p:cNvPr id="21" name="Text 16"/>
          <p:cNvSpPr/>
          <p:nvPr/>
        </p:nvSpPr>
        <p:spPr>
          <a:xfrm>
            <a:off x="6720840" y="1965960"/>
            <a:ext cx="2194560" cy="868680"/>
          </a:xfrm>
          <a:prstGeom prst="rect">
            <a:avLst/>
          </a:prstGeom>
          <a:noFill/>
          <a:ln/>
        </p:spPr>
        <p:txBody>
          <a:bodyPr wrap="square" lIns="0" tIns="0" rIns="0" bIns="0" rtlCol="0" anchor="ctr"/>
          <a:lstStyle/>
          <a:p>
            <a:pPr algn="ctr" indent="0" marL="0">
              <a:lnSpc>
                <a:spcPct val="105000"/>
              </a:lnSpc>
              <a:buNone/>
            </a:pPr>
            <a:r>
              <a:rPr lang="en-US" sz="1350" b="1" dirty="0">
                <a:solidFill>
                  <a:srgbClr val="4E8568"/>
                </a:solidFill>
                <a:latin typeface="Noto Sans CJK JP" pitchFamily="34" charset="0"/>
                <a:ea typeface="Noto Sans CJK JP" pitchFamily="34" charset="-122"/>
                <a:cs typeface="Noto Sans CJK JP" pitchFamily="34" charset="-120"/>
              </a:rPr>
              <a:t>回数に含めず</a:t>
            </a:r>
            <a:endParaRPr lang="en-US" sz="1350" dirty="0"/>
          </a:p>
          <a:p>
            <a:pPr algn="ctr" indent="0" marL="0">
              <a:lnSpc>
                <a:spcPct val="105000"/>
              </a:lnSpc>
              <a:buNone/>
            </a:pPr>
            <a:r>
              <a:rPr lang="en-US" sz="1350" b="1" dirty="0">
                <a:solidFill>
                  <a:srgbClr val="4E8568"/>
                </a:solidFill>
                <a:latin typeface="Noto Sans CJK JP" pitchFamily="34" charset="0"/>
                <a:ea typeface="Noto Sans CJK JP" pitchFamily="34" charset="-122"/>
                <a:cs typeface="Noto Sans CJK JP" pitchFamily="34" charset="-120"/>
              </a:rPr>
              <a:t>すぐ直す</a:t>
            </a:r>
            <a:endParaRPr lang="en-US" sz="1350" dirty="0"/>
          </a:p>
        </p:txBody>
      </p:sp>
      <p:sp>
        <p:nvSpPr>
          <p:cNvPr id="22" name="Text 17"/>
          <p:cNvSpPr/>
          <p:nvPr/>
        </p:nvSpPr>
        <p:spPr>
          <a:xfrm>
            <a:off x="6629400" y="2880360"/>
            <a:ext cx="2377440" cy="310896"/>
          </a:xfrm>
          <a:prstGeom prst="rect">
            <a:avLst/>
          </a:prstGeom>
          <a:noFill/>
          <a:ln/>
        </p:spPr>
        <p:txBody>
          <a:bodyPr wrap="square" lIns="0" tIns="0" rIns="0" bIns="0" rtlCol="0" anchor="ctr"/>
          <a:lstStyle/>
          <a:p>
            <a:pPr algn="ctr" indent="0" marL="0">
              <a:buNone/>
            </a:pPr>
            <a:r>
              <a:rPr lang="en-US" sz="1150" b="1" dirty="0">
                <a:solidFill>
                  <a:srgbClr val="4E8568"/>
                </a:solidFill>
                <a:latin typeface="Noto Sans CJK JP" pitchFamily="34" charset="0"/>
                <a:ea typeface="Noto Sans CJK JP" pitchFamily="34" charset="-122"/>
                <a:cs typeface="Noto Sans CJK JP" pitchFamily="34" charset="-120"/>
              </a:rPr>
              <a:t>Yes ↑</a:t>
            </a:r>
            <a:endParaRPr lang="en-US" sz="1150" dirty="0"/>
          </a:p>
        </p:txBody>
      </p:sp>
      <p:sp>
        <p:nvSpPr>
          <p:cNvPr id="23" name="Text 18"/>
          <p:cNvSpPr/>
          <p:nvPr/>
        </p:nvSpPr>
        <p:spPr>
          <a:xfrm>
            <a:off x="3520440" y="3017520"/>
            <a:ext cx="2377440" cy="310896"/>
          </a:xfrm>
          <a:prstGeom prst="rect">
            <a:avLst/>
          </a:prstGeom>
          <a:noFill/>
          <a:ln/>
        </p:spPr>
        <p:txBody>
          <a:bodyPr wrap="square" lIns="0" tIns="0" rIns="0" bIns="0" rtlCol="0" anchor="ctr"/>
          <a:lstStyle/>
          <a:p>
            <a:pPr algn="ctr" indent="0" marL="0">
              <a:buNone/>
            </a:pPr>
            <a:r>
              <a:rPr lang="en-US" sz="1200" b="1" dirty="0">
                <a:solidFill>
                  <a:srgbClr val="9A8890"/>
                </a:solidFill>
                <a:latin typeface="Noto Sans CJK JP" pitchFamily="34" charset="0"/>
                <a:ea typeface="Noto Sans CJK JP" pitchFamily="34" charset="-122"/>
                <a:cs typeface="Noto Sans CJK JP" pitchFamily="34" charset="-120"/>
              </a:rPr>
              <a:t>No ↓</a:t>
            </a:r>
            <a:endParaRPr lang="en-US" sz="1200" dirty="0"/>
          </a:p>
        </p:txBody>
      </p:sp>
      <p:sp>
        <p:nvSpPr>
          <p:cNvPr id="24" name="Shape 19"/>
          <p:cNvSpPr/>
          <p:nvPr/>
        </p:nvSpPr>
        <p:spPr>
          <a:xfrm>
            <a:off x="3520440" y="3429000"/>
            <a:ext cx="2377440" cy="1143000"/>
          </a:xfrm>
          <a:prstGeom prst="roundRect">
            <a:avLst>
              <a:gd name="adj" fmla="val 8000"/>
            </a:avLst>
          </a:prstGeom>
          <a:solidFill>
            <a:srgbClr val="574039"/>
          </a:solidFill>
          <a:ln/>
          <a:effectLst>
            <a:outerShdw sx="100000" sy="100000" kx="0" ky="0" algn="bl" rotWithShape="0" blurRad="76200" dist="25400" dir="5400000">
              <a:srgbClr val="000000">
                <a:alpha val="10000"/>
              </a:srgbClr>
            </a:outerShdw>
          </a:effectLst>
        </p:spPr>
      </p:sp>
      <p:sp>
        <p:nvSpPr>
          <p:cNvPr id="25" name="Text 20"/>
          <p:cNvSpPr/>
          <p:nvPr/>
        </p:nvSpPr>
        <p:spPr>
          <a:xfrm>
            <a:off x="3611880" y="3429000"/>
            <a:ext cx="2194560" cy="1143000"/>
          </a:xfrm>
          <a:prstGeom prst="rect">
            <a:avLst/>
          </a:prstGeom>
          <a:noFill/>
          <a:ln/>
        </p:spPr>
        <p:txBody>
          <a:bodyPr wrap="square" lIns="0" tIns="0" rIns="0" bIns="0" rtlCol="0" anchor="ctr"/>
          <a:lstStyle/>
          <a:p>
            <a:pPr algn="ctr" indent="0" marL="0">
              <a:lnSpc>
                <a:spcPct val="105000"/>
              </a:lnSpc>
              <a:buNone/>
            </a:pPr>
            <a:r>
              <a:rPr lang="en-US" sz="1500" b="1" dirty="0">
                <a:solidFill>
                  <a:srgbClr val="F0C98D"/>
                </a:solidFill>
                <a:latin typeface="Noto Sans CJK JP" pitchFamily="34" charset="0"/>
                <a:ea typeface="Noto Sans CJK JP" pitchFamily="34" charset="-122"/>
                <a:cs typeface="Noto Sans CJK JP" pitchFamily="34" charset="-120"/>
              </a:rPr>
              <a:t>往復は</a:t>
            </a:r>
            <a:endParaRPr lang="en-US" sz="1500" dirty="0"/>
          </a:p>
          <a:p>
            <a:pPr algn="ctr" indent="0" marL="0">
              <a:lnSpc>
                <a:spcPct val="105000"/>
              </a:lnSpc>
              <a:buNone/>
            </a:pPr>
            <a:r>
              <a:rPr lang="en-US" sz="1500" b="1" dirty="0">
                <a:solidFill>
                  <a:srgbClr val="F0C98D"/>
                </a:solidFill>
                <a:latin typeface="Noto Sans CJK JP" pitchFamily="34" charset="0"/>
                <a:ea typeface="Noto Sans CJK JP" pitchFamily="34" charset="-122"/>
                <a:cs typeface="Noto Sans CJK JP" pitchFamily="34" charset="-120"/>
              </a:rPr>
              <a:t>2〜3回以内？</a:t>
            </a:r>
            <a:endParaRPr lang="en-US" sz="1500" dirty="0"/>
          </a:p>
        </p:txBody>
      </p:sp>
      <p:sp>
        <p:nvSpPr>
          <p:cNvPr id="26" name="Text 21"/>
          <p:cNvSpPr/>
          <p:nvPr/>
        </p:nvSpPr>
        <p:spPr>
          <a:xfrm>
            <a:off x="6035040" y="3749040"/>
            <a:ext cx="457200" cy="457200"/>
          </a:xfrm>
          <a:prstGeom prst="rect">
            <a:avLst/>
          </a:prstGeom>
          <a:noFill/>
          <a:ln/>
        </p:spPr>
        <p:txBody>
          <a:bodyPr wrap="square" lIns="0" tIns="0" rIns="0" bIns="0" rtlCol="0" anchor="ctr"/>
          <a:lstStyle/>
          <a:p>
            <a:pPr algn="ctr" indent="0" marL="0">
              <a:buNone/>
            </a:pPr>
            <a:r>
              <a:rPr lang="en-US" sz="2400" b="1" dirty="0">
                <a:solidFill>
                  <a:srgbClr val="B4587A"/>
                </a:solidFill>
                <a:latin typeface="Noto Sans CJK JP" pitchFamily="34" charset="0"/>
                <a:ea typeface="Noto Sans CJK JP" pitchFamily="34" charset="-122"/>
                <a:cs typeface="Noto Sans CJK JP" pitchFamily="34" charset="-120"/>
              </a:rPr>
              <a:t>→</a:t>
            </a:r>
            <a:endParaRPr lang="en-US" sz="2400" dirty="0"/>
          </a:p>
        </p:txBody>
      </p:sp>
      <p:sp>
        <p:nvSpPr>
          <p:cNvPr id="27" name="Shape 22"/>
          <p:cNvSpPr/>
          <p:nvPr/>
        </p:nvSpPr>
        <p:spPr>
          <a:xfrm>
            <a:off x="6629400" y="3566160"/>
            <a:ext cx="2377440" cy="868680"/>
          </a:xfrm>
          <a:prstGeom prst="roundRect">
            <a:avLst>
              <a:gd name="adj" fmla="val 10526"/>
            </a:avLst>
          </a:prstGeom>
          <a:solidFill>
            <a:srgbClr val="EAF3EE"/>
          </a:solidFill>
          <a:ln/>
          <a:effectLst>
            <a:outerShdw sx="100000" sy="100000" kx="0" ky="0" algn="bl" rotWithShape="0" blurRad="76200" dist="25400" dir="5400000">
              <a:srgbClr val="000000">
                <a:alpha val="10000"/>
              </a:srgbClr>
            </a:outerShdw>
          </a:effectLst>
        </p:spPr>
      </p:sp>
      <p:sp>
        <p:nvSpPr>
          <p:cNvPr id="28" name="Text 23"/>
          <p:cNvSpPr/>
          <p:nvPr/>
        </p:nvSpPr>
        <p:spPr>
          <a:xfrm>
            <a:off x="6720840" y="3566160"/>
            <a:ext cx="2194560" cy="868680"/>
          </a:xfrm>
          <a:prstGeom prst="rect">
            <a:avLst/>
          </a:prstGeom>
          <a:noFill/>
          <a:ln/>
        </p:spPr>
        <p:txBody>
          <a:bodyPr wrap="square" lIns="0" tIns="0" rIns="0" bIns="0" rtlCol="0" anchor="ctr"/>
          <a:lstStyle/>
          <a:p>
            <a:pPr algn="ctr" indent="0" marL="0">
              <a:lnSpc>
                <a:spcPct val="105000"/>
              </a:lnSpc>
              <a:buNone/>
            </a:pPr>
            <a:r>
              <a:rPr lang="en-US" sz="1350" b="1" dirty="0">
                <a:solidFill>
                  <a:srgbClr val="4E8568"/>
                </a:solidFill>
                <a:latin typeface="Noto Sans CJK JP" pitchFamily="34" charset="0"/>
                <a:ea typeface="Noto Sans CJK JP" pitchFamily="34" charset="-122"/>
                <a:cs typeface="Noto Sans CJK JP" pitchFamily="34" charset="-120"/>
              </a:rPr>
              <a:t>標準対応として</a:t>
            </a:r>
            <a:endParaRPr lang="en-US" sz="1350" dirty="0"/>
          </a:p>
          <a:p>
            <a:pPr algn="ctr" indent="0" marL="0">
              <a:lnSpc>
                <a:spcPct val="105000"/>
              </a:lnSpc>
              <a:buNone/>
            </a:pPr>
            <a:r>
              <a:rPr lang="en-US" sz="1350" b="1" dirty="0">
                <a:solidFill>
                  <a:srgbClr val="4E8568"/>
                </a:solidFill>
                <a:latin typeface="Noto Sans CJK JP" pitchFamily="34" charset="0"/>
                <a:ea typeface="Noto Sans CJK JP" pitchFamily="34" charset="-122"/>
                <a:cs typeface="Noto Sans CJK JP" pitchFamily="34" charset="-120"/>
              </a:rPr>
              <a:t>修正する</a:t>
            </a:r>
            <a:endParaRPr lang="en-US" sz="1350" dirty="0"/>
          </a:p>
        </p:txBody>
      </p:sp>
      <p:sp>
        <p:nvSpPr>
          <p:cNvPr id="29" name="Text 24"/>
          <p:cNvSpPr/>
          <p:nvPr/>
        </p:nvSpPr>
        <p:spPr>
          <a:xfrm>
            <a:off x="3520440" y="4553712"/>
            <a:ext cx="2377440" cy="310896"/>
          </a:xfrm>
          <a:prstGeom prst="rect">
            <a:avLst/>
          </a:prstGeom>
          <a:noFill/>
          <a:ln/>
        </p:spPr>
        <p:txBody>
          <a:bodyPr wrap="square" lIns="0" tIns="0" rIns="0" bIns="0" rtlCol="0" anchor="ctr"/>
          <a:lstStyle/>
          <a:p>
            <a:pPr algn="ctr" indent="0" marL="0">
              <a:buNone/>
            </a:pPr>
            <a:r>
              <a:rPr lang="en-US" sz="1200" b="1" dirty="0">
                <a:solidFill>
                  <a:srgbClr val="8E3556"/>
                </a:solidFill>
                <a:latin typeface="Noto Sans CJK JP" pitchFamily="34" charset="0"/>
                <a:ea typeface="Noto Sans CJK JP" pitchFamily="34" charset="-122"/>
                <a:cs typeface="Noto Sans CJK JP" pitchFamily="34" charset="-120"/>
              </a:rPr>
              <a:t>超過 ↓</a:t>
            </a:r>
            <a:endParaRPr lang="en-US" sz="1200" dirty="0"/>
          </a:p>
        </p:txBody>
      </p:sp>
      <p:sp>
        <p:nvSpPr>
          <p:cNvPr id="30" name="Shape 25"/>
          <p:cNvSpPr/>
          <p:nvPr/>
        </p:nvSpPr>
        <p:spPr>
          <a:xfrm>
            <a:off x="2880360" y="4882896"/>
            <a:ext cx="3657600" cy="786384"/>
          </a:xfrm>
          <a:prstGeom prst="roundRect">
            <a:avLst>
              <a:gd name="adj" fmla="val 11628"/>
            </a:avLst>
          </a:prstGeom>
          <a:solidFill>
            <a:srgbClr val="CFA15C"/>
          </a:solidFill>
          <a:ln/>
          <a:effectLst>
            <a:outerShdw sx="100000" sy="100000" kx="0" ky="0" algn="bl" rotWithShape="0" blurRad="76200" dist="25400" dir="5400000">
              <a:srgbClr val="000000">
                <a:alpha val="10000"/>
              </a:srgbClr>
            </a:outerShdw>
          </a:effectLst>
        </p:spPr>
      </p:sp>
      <p:sp>
        <p:nvSpPr>
          <p:cNvPr id="31" name="Text 26"/>
          <p:cNvSpPr/>
          <p:nvPr/>
        </p:nvSpPr>
        <p:spPr>
          <a:xfrm>
            <a:off x="2971800" y="4882896"/>
            <a:ext cx="3474720" cy="786384"/>
          </a:xfrm>
          <a:prstGeom prst="rect">
            <a:avLst/>
          </a:prstGeom>
          <a:noFill/>
          <a:ln/>
        </p:spPr>
        <p:txBody>
          <a:bodyPr wrap="square" lIns="0" tIns="0" rIns="0" bIns="0" rtlCol="0" anchor="ctr"/>
          <a:lstStyle/>
          <a:p>
            <a:pPr algn="ctr" indent="0" marL="0">
              <a:lnSpc>
                <a:spcPct val="105000"/>
              </a:lnSpc>
              <a:buNone/>
            </a:pPr>
            <a:r>
              <a:rPr lang="en-US" sz="1250" b="1" dirty="0">
                <a:solidFill>
                  <a:srgbClr val="3A2710"/>
                </a:solidFill>
                <a:latin typeface="Noto Sans CJK JP" pitchFamily="34" charset="0"/>
                <a:ea typeface="Noto Sans CJK JP" pitchFamily="34" charset="-122"/>
                <a:cs typeface="Noto Sans CJK JP" pitchFamily="34" charset="-120"/>
              </a:rPr>
              <a:t>“仕様変更”として扱う</a:t>
            </a:r>
            <a:endParaRPr lang="en-US" sz="1250" dirty="0"/>
          </a:p>
          <a:p>
            <a:pPr algn="ctr" indent="0" marL="0">
              <a:lnSpc>
                <a:spcPct val="105000"/>
              </a:lnSpc>
              <a:buNone/>
            </a:pPr>
            <a:r>
              <a:rPr lang="en-US" sz="1250" b="1" dirty="0">
                <a:solidFill>
                  <a:srgbClr val="3A2710"/>
                </a:solidFill>
                <a:latin typeface="Noto Sans CJK JP" pitchFamily="34" charset="0"/>
                <a:ea typeface="Noto Sans CJK JP" pitchFamily="34" charset="-122"/>
                <a:cs typeface="Noto Sans CJK JP" pitchFamily="34" charset="-120"/>
              </a:rPr>
              <a:t>工数・納期・費用を見える化し再合意</a:t>
            </a:r>
            <a:endParaRPr lang="en-US" sz="1250" dirty="0"/>
          </a:p>
        </p:txBody>
      </p:sp>
      <p:sp>
        <p:nvSpPr>
          <p:cNvPr id="32" name="Shape 27"/>
          <p:cNvSpPr/>
          <p:nvPr/>
        </p:nvSpPr>
        <p:spPr>
          <a:xfrm>
            <a:off x="9326880" y="1965960"/>
            <a:ext cx="2331720" cy="2606040"/>
          </a:xfrm>
          <a:prstGeom prst="roundRect">
            <a:avLst>
              <a:gd name="adj" fmla="val 3922"/>
            </a:avLst>
          </a:prstGeom>
          <a:solidFill>
            <a:srgbClr val="FBF1F4"/>
          </a:solidFill>
          <a:ln w="12700">
            <a:solidFill>
              <a:srgbClr val="EBB4C4"/>
            </a:solidFill>
            <a:prstDash val="solid"/>
          </a:ln>
        </p:spPr>
      </p:sp>
      <p:pic>
        <p:nvPicPr>
          <p:cNvPr id="33" name="Image 3" descr="preencoded.png">    </p:cNvPr>
          <p:cNvPicPr>
            <a:picLocks noChangeAspect="1"/>
          </p:cNvPicPr>
          <p:nvPr/>
        </p:nvPicPr>
        <p:blipFill>
          <a:blip r:embed="rId4"/>
          <a:stretch>
            <a:fillRect/>
          </a:stretch>
        </p:blipFill>
        <p:spPr>
          <a:xfrm>
            <a:off x="9509760" y="2103120"/>
            <a:ext cx="457200" cy="457200"/>
          </a:xfrm>
          <a:prstGeom prst="rect">
            <a:avLst/>
          </a:prstGeom>
        </p:spPr>
      </p:pic>
      <p:sp>
        <p:nvSpPr>
          <p:cNvPr id="34" name="Text 28"/>
          <p:cNvSpPr/>
          <p:nvPr/>
        </p:nvSpPr>
        <p:spPr>
          <a:xfrm>
            <a:off x="10058400" y="2103120"/>
            <a:ext cx="1554480" cy="457200"/>
          </a:xfrm>
          <a:prstGeom prst="rect">
            <a:avLst/>
          </a:prstGeom>
          <a:noFill/>
          <a:ln/>
        </p:spPr>
        <p:txBody>
          <a:bodyPr wrap="square" lIns="0" tIns="0" rIns="0" bIns="0" rtlCol="0" anchor="ctr"/>
          <a:lstStyle/>
          <a:p>
            <a:pPr indent="0" marL="0">
              <a:buNone/>
            </a:pPr>
            <a:r>
              <a:rPr lang="en-US" sz="1350" b="1" dirty="0">
                <a:solidFill>
                  <a:srgbClr val="8E3556"/>
                </a:solidFill>
                <a:latin typeface="Noto Sans CJK JP" pitchFamily="34" charset="0"/>
                <a:ea typeface="Noto Sans CJK JP" pitchFamily="34" charset="-122"/>
                <a:cs typeface="Noto Sans CJK JP" pitchFamily="34" charset="-120"/>
              </a:rPr>
              <a:t>なぜ回数で？</a:t>
            </a:r>
            <a:endParaRPr lang="en-US" sz="1350" dirty="0"/>
          </a:p>
        </p:txBody>
      </p:sp>
      <p:sp>
        <p:nvSpPr>
          <p:cNvPr id="35" name="Text 29"/>
          <p:cNvSpPr/>
          <p:nvPr/>
        </p:nvSpPr>
        <p:spPr>
          <a:xfrm>
            <a:off x="9509760" y="2697480"/>
            <a:ext cx="1965960" cy="1783080"/>
          </a:xfrm>
          <a:prstGeom prst="rect">
            <a:avLst/>
          </a:prstGeom>
          <a:noFill/>
          <a:ln/>
        </p:spPr>
        <p:txBody>
          <a:bodyPr wrap="square" lIns="0" tIns="0" rIns="0" bIns="0" rtlCol="0" anchor="ctr"/>
          <a:lstStyle/>
          <a:p>
            <a:pPr indent="0" marL="0">
              <a:lnSpc>
                <a:spcPct val="118000"/>
              </a:lnSpc>
              <a:buNone/>
            </a:pPr>
            <a:r>
              <a:rPr lang="en-US" sz="1150" dirty="0">
                <a:solidFill>
                  <a:srgbClr val="3A2C31"/>
                </a:solidFill>
                <a:latin typeface="Noto Sans CJK JP" pitchFamily="34" charset="0"/>
                <a:ea typeface="Noto Sans CJK JP" pitchFamily="34" charset="-122"/>
                <a:cs typeface="Noto Sans CJK JP" pitchFamily="34" charset="-120"/>
              </a:rPr>
              <a:t>「あと1回くらい」は構造的に止まらない (Staw)。意志でなくルールで止める。</a:t>
            </a:r>
            <a:endParaRPr lang="en-US" sz="1150" dirty="0"/>
          </a:p>
          <a:p>
            <a:pPr indent="0" marL="0">
              <a:lnSpc>
                <a:spcPct val="118000"/>
              </a:lnSpc>
              <a:buNone/>
            </a:pPr>
            <a:endParaRPr lang="en-US" sz="1150" dirty="0"/>
          </a:p>
          <a:p>
            <a:pPr indent="0" marL="0">
              <a:lnSpc>
                <a:spcPct val="118000"/>
              </a:lnSpc>
              <a:buNone/>
            </a:pPr>
            <a:r>
              <a:rPr lang="en-US" sz="1150" dirty="0">
                <a:solidFill>
                  <a:srgbClr val="3A2C31"/>
                </a:solidFill>
                <a:latin typeface="Noto Sans CJK JP" pitchFamily="34" charset="0"/>
                <a:ea typeface="Noto Sans CJK JP" pitchFamily="34" charset="-122"/>
                <a:cs typeface="Noto Sans CJK JP" pitchFamily="34" charset="-120"/>
              </a:rPr>
              <a:t>回数明記＝品質責任の逃げに見せないため、バグは別枠に。</a:t>
            </a:r>
            <a:endParaRPr lang="en-US" sz="1150" dirty="0"/>
          </a:p>
        </p:txBody>
      </p:sp>
      <p:sp>
        <p:nvSpPr>
          <p:cNvPr id="36" name="Shape 30"/>
          <p:cNvSpPr/>
          <p:nvPr/>
        </p:nvSpPr>
        <p:spPr>
          <a:xfrm>
            <a:off x="548640" y="5779008"/>
            <a:ext cx="8595360" cy="676656"/>
          </a:xfrm>
          <a:prstGeom prst="roundRect">
            <a:avLst>
              <a:gd name="adj" fmla="val 13514"/>
            </a:avLst>
          </a:prstGeom>
          <a:solidFill>
            <a:srgbClr val="FBF1F4"/>
          </a:solidFill>
          <a:ln w="12700">
            <a:solidFill>
              <a:srgbClr val="EBB4C4"/>
            </a:solidFill>
            <a:prstDash val="solid"/>
          </a:ln>
        </p:spPr>
      </p:sp>
      <p:pic>
        <p:nvPicPr>
          <p:cNvPr id="37" name="Image 4" descr="preencoded.png">    </p:cNvPr>
          <p:cNvPicPr>
            <a:picLocks noChangeAspect="1"/>
          </p:cNvPicPr>
          <p:nvPr/>
        </p:nvPicPr>
        <p:blipFill>
          <a:blip r:embed="rId5"/>
          <a:stretch>
            <a:fillRect/>
          </a:stretch>
        </p:blipFill>
        <p:spPr>
          <a:xfrm>
            <a:off x="749808" y="5833872"/>
            <a:ext cx="566928" cy="566928"/>
          </a:xfrm>
          <a:prstGeom prst="rect">
            <a:avLst/>
          </a:prstGeom>
        </p:spPr>
      </p:pic>
      <p:sp>
        <p:nvSpPr>
          <p:cNvPr id="38" name="Text 31"/>
          <p:cNvSpPr/>
          <p:nvPr/>
        </p:nvSpPr>
        <p:spPr>
          <a:xfrm>
            <a:off x="1508760" y="5779008"/>
            <a:ext cx="7406640" cy="676656"/>
          </a:xfrm>
          <a:prstGeom prst="rect">
            <a:avLst/>
          </a:prstGeom>
          <a:noFill/>
          <a:ln/>
        </p:spPr>
        <p:txBody>
          <a:bodyPr wrap="square" lIns="0" tIns="0" rIns="0" bIns="0" rtlCol="0" anchor="ctr"/>
          <a:lstStyle/>
          <a:p>
            <a:pPr indent="0" marL="0">
              <a:lnSpc>
                <a:spcPct val="114000"/>
              </a:lnSpc>
              <a:buNone/>
            </a:pPr>
            <a:r>
              <a:rPr lang="en-US" sz="1350" b="1" dirty="0">
                <a:solidFill>
                  <a:srgbClr val="8E3556"/>
                </a:solidFill>
                <a:latin typeface="Noto Sans CJK JP" pitchFamily="34" charset="0"/>
                <a:ea typeface="Noto Sans CJK JP" pitchFamily="34" charset="-122"/>
                <a:cs typeface="Noto Sans CJK JP" pitchFamily="34" charset="-120"/>
              </a:rPr>
              <a:t>伝え方　</a:t>
            </a:r>
            <a:pPr indent="0" marL="0">
              <a:lnSpc>
                <a:spcPct val="114000"/>
              </a:lnSpc>
              <a:buNone/>
            </a:pPr>
            <a:r>
              <a:rPr lang="en-US" sz="1350" dirty="0">
                <a:solidFill>
                  <a:srgbClr val="3A2C31"/>
                </a:solidFill>
                <a:latin typeface="Noto Sans CJK JP" pitchFamily="34" charset="0"/>
                <a:ea typeface="Noto Sans CJK JP" pitchFamily="34" charset="-122"/>
                <a:cs typeface="Noto Sans CJK JP" pitchFamily="34" charset="-120"/>
              </a:rPr>
              <a:t>「断る」のではなく「変更として正しく扱う」。相手の利益にもなる、と伝えるのがコツ。</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EDF1"/>
        </a:solidFill>
      </p:bgPr>
    </p:bg>
    <p:spTree>
      <p:nvGrpSpPr>
        <p:cNvPr id="1" name=""/>
        <p:cNvGrpSpPr/>
        <p:nvPr/>
      </p:nvGrpSpPr>
      <p:grpSpPr>
        <a:xfrm>
          <a:off x="0" y="0"/>
          <a:ext cx="0" cy="0"/>
          <a:chOff x="0" y="0"/>
          <a:chExt cx="0" cy="0"/>
        </a:xfrm>
      </p:grpSpPr>
      <p:sp>
        <p:nvSpPr>
          <p:cNvPr id="2" name="Shape 0"/>
          <p:cNvSpPr/>
          <p:nvPr/>
        </p:nvSpPr>
        <p:spPr>
          <a:xfrm>
            <a:off x="0" y="0"/>
            <a:ext cx="12161520" cy="310896"/>
          </a:xfrm>
          <a:prstGeom prst="rect">
            <a:avLst/>
          </a:prstGeom>
          <a:solidFill>
            <a:srgbClr val="574039"/>
          </a:solidFill>
          <a:ln/>
        </p:spPr>
      </p:sp>
      <p:pic>
        <p:nvPicPr>
          <p:cNvPr id="3" name="Image 0" descr="preencoded.png">    </p:cNvPr>
          <p:cNvPicPr>
            <a:picLocks noChangeAspect="1"/>
          </p:cNvPicPr>
          <p:nvPr/>
        </p:nvPicPr>
        <p:blipFill>
          <a:blip r:embed="rId1"/>
          <a:stretch>
            <a:fillRect/>
          </a:stretch>
        </p:blipFill>
        <p:spPr>
          <a:xfrm>
            <a:off x="457200" y="54864"/>
            <a:ext cx="201168" cy="201168"/>
          </a:xfrm>
          <a:prstGeom prst="rect">
            <a:avLst/>
          </a:prstGeom>
        </p:spPr>
      </p:pic>
      <p:sp>
        <p:nvSpPr>
          <p:cNvPr id="4" name="Text 1"/>
          <p:cNvSpPr/>
          <p:nvPr/>
        </p:nvSpPr>
        <p:spPr>
          <a:xfrm>
            <a:off x="731520" y="0"/>
            <a:ext cx="4572000" cy="310896"/>
          </a:xfrm>
          <a:prstGeom prst="rect">
            <a:avLst/>
          </a:prstGeom>
          <a:noFill/>
          <a:ln/>
        </p:spPr>
        <p:txBody>
          <a:bodyPr wrap="square" lIns="0" tIns="0" rIns="0" bIns="0" rtlCol="0" anchor="ctr"/>
          <a:lstStyle/>
          <a:p>
            <a:pPr indent="0" marL="0">
              <a:buNone/>
            </a:pPr>
            <a:r>
              <a:rPr lang="en-US" sz="1000" dirty="0">
                <a:solidFill>
                  <a:srgbClr val="F4E9E2"/>
                </a:solidFill>
                <a:latin typeface="Noto Sans CJK JP" pitchFamily="34" charset="0"/>
                <a:ea typeface="Noto Sans CJK JP" pitchFamily="34" charset="-122"/>
                <a:cs typeface="Noto Sans CJK JP" pitchFamily="34" charset="-120"/>
              </a:rPr>
              <a:t>うさうさ研修工房</a:t>
            </a:r>
            <a:endParaRPr lang="en-US" sz="1000" dirty="0"/>
          </a:p>
        </p:txBody>
      </p:sp>
      <p:sp>
        <p:nvSpPr>
          <p:cNvPr id="5" name="Text 2"/>
          <p:cNvSpPr/>
          <p:nvPr/>
        </p:nvSpPr>
        <p:spPr>
          <a:xfrm>
            <a:off x="7132320" y="0"/>
            <a:ext cx="45720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合意設計 ・ 考えさせる編</a:t>
            </a:r>
            <a:endParaRPr lang="en-US" sz="1000" dirty="0"/>
          </a:p>
        </p:txBody>
      </p:sp>
      <p:sp>
        <p:nvSpPr>
          <p:cNvPr id="6" name="Shape 3"/>
          <p:cNvSpPr/>
          <p:nvPr/>
        </p:nvSpPr>
        <p:spPr>
          <a:xfrm>
            <a:off x="0" y="6547104"/>
            <a:ext cx="12161520" cy="310896"/>
          </a:xfrm>
          <a:prstGeom prst="rect">
            <a:avLst/>
          </a:prstGeom>
          <a:solidFill>
            <a:srgbClr val="574039"/>
          </a:solidFill>
          <a:ln/>
        </p:spPr>
      </p:sp>
      <p:pic>
        <p:nvPicPr>
          <p:cNvPr id="7" name="Image 1" descr="preencoded.png">    </p:cNvPr>
          <p:cNvPicPr>
            <a:picLocks noChangeAspect="1"/>
          </p:cNvPicPr>
          <p:nvPr/>
        </p:nvPicPr>
        <p:blipFill>
          <a:blip r:embed="rId2"/>
          <a:stretch>
            <a:fillRect/>
          </a:stretch>
        </p:blipFill>
        <p:spPr>
          <a:xfrm>
            <a:off x="457200" y="6601968"/>
            <a:ext cx="201168" cy="201168"/>
          </a:xfrm>
          <a:prstGeom prst="rect">
            <a:avLst/>
          </a:prstGeom>
        </p:spPr>
      </p:pic>
      <p:sp>
        <p:nvSpPr>
          <p:cNvPr id="8" name="Text 4"/>
          <p:cNvSpPr/>
          <p:nvPr/>
        </p:nvSpPr>
        <p:spPr>
          <a:xfrm>
            <a:off x="731520" y="6547104"/>
            <a:ext cx="5486400" cy="310896"/>
          </a:xfrm>
          <a:prstGeom prst="rect">
            <a:avLst/>
          </a:prstGeom>
          <a:noFill/>
          <a:ln/>
        </p:spPr>
        <p:txBody>
          <a:bodyPr wrap="square" lIns="0" tIns="0" rIns="0" bIns="0" rtlCol="0" anchor="ctr"/>
          <a:lstStyle/>
          <a:p>
            <a:pPr indent="0" marL="0">
              <a:buNone/>
            </a:pPr>
            <a:r>
              <a:rPr lang="en-US" sz="950" dirty="0">
                <a:solidFill>
                  <a:srgbClr val="F4E9E2"/>
                </a:solidFill>
                <a:latin typeface="Noto Sans CJK JP" pitchFamily="34" charset="0"/>
                <a:ea typeface="Noto Sans CJK JP" pitchFamily="34" charset="-122"/>
                <a:cs typeface="Noto Sans CJK JP" pitchFamily="34" charset="-120"/>
              </a:rPr>
              <a:t>面白きこともなき世を面白く 🐰</a:t>
            </a:r>
            <a:endParaRPr lang="en-US" sz="950" dirty="0"/>
          </a:p>
        </p:txBody>
      </p:sp>
      <p:sp>
        <p:nvSpPr>
          <p:cNvPr id="9" name="Text 5"/>
          <p:cNvSpPr/>
          <p:nvPr/>
        </p:nvSpPr>
        <p:spPr>
          <a:xfrm>
            <a:off x="11247120" y="6547104"/>
            <a:ext cx="4572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10</a:t>
            </a:r>
            <a:endParaRPr lang="en-US" sz="1000" dirty="0"/>
          </a:p>
        </p:txBody>
      </p:sp>
      <p:sp>
        <p:nvSpPr>
          <p:cNvPr id="10" name="Text 6"/>
          <p:cNvSpPr/>
          <p:nvPr/>
        </p:nvSpPr>
        <p:spPr>
          <a:xfrm>
            <a:off x="502920" y="502920"/>
            <a:ext cx="5486400" cy="457200"/>
          </a:xfrm>
          <a:prstGeom prst="rect">
            <a:avLst/>
          </a:prstGeom>
          <a:noFill/>
          <a:ln/>
        </p:spPr>
        <p:txBody>
          <a:bodyPr wrap="square" lIns="0" tIns="0" rIns="0" bIns="0" rtlCol="0" anchor="ctr"/>
          <a:lstStyle/>
          <a:p>
            <a:pPr indent="0" marL="0">
              <a:buNone/>
            </a:pPr>
            <a:r>
              <a:rPr lang="en-US" sz="1800" b="1" dirty="0">
                <a:solidFill>
                  <a:srgbClr val="B4587A"/>
                </a:solidFill>
                <a:latin typeface="Noto Sans CJK JP" pitchFamily="34" charset="0"/>
                <a:ea typeface="Noto Sans CJK JP" pitchFamily="34" charset="-122"/>
                <a:cs typeface="Noto Sans CJK JP" pitchFamily="34" charset="-120"/>
              </a:rPr>
              <a:t>🌸 問い ②</a:t>
            </a:r>
            <a:endParaRPr lang="en-US" sz="1800" dirty="0"/>
          </a:p>
        </p:txBody>
      </p:sp>
      <p:sp>
        <p:nvSpPr>
          <p:cNvPr id="11" name="Text 7"/>
          <p:cNvSpPr/>
          <p:nvPr/>
        </p:nvSpPr>
        <p:spPr>
          <a:xfrm>
            <a:off x="502920" y="1097280"/>
            <a:ext cx="11155680" cy="1554480"/>
          </a:xfrm>
          <a:prstGeom prst="rect">
            <a:avLst/>
          </a:prstGeom>
          <a:noFill/>
          <a:ln/>
        </p:spPr>
        <p:txBody>
          <a:bodyPr wrap="square" lIns="0" tIns="0" rIns="0" bIns="0" rtlCol="0" anchor="ctr"/>
          <a:lstStyle/>
          <a:p>
            <a:pPr indent="0" marL="0">
              <a:lnSpc>
                <a:spcPct val="110000"/>
              </a:lnSpc>
              <a:buNone/>
            </a:pPr>
            <a:r>
              <a:rPr lang="en-US" sz="2700" b="1" dirty="0">
                <a:solidFill>
                  <a:srgbClr val="8E3556"/>
                </a:solidFill>
                <a:latin typeface="Noto Sans CJK JP" pitchFamily="34" charset="0"/>
                <a:ea typeface="Noto Sans CJK JP" pitchFamily="34" charset="-122"/>
                <a:cs typeface="Noto Sans CJK JP" pitchFamily="34" charset="-120"/>
              </a:rPr>
              <a:t>あなたの現場で、OUT（やらないこと）を</a:t>
            </a:r>
            <a:endParaRPr lang="en-US" sz="2700" dirty="0"/>
          </a:p>
          <a:p>
            <a:pPr indent="0" marL="0">
              <a:lnSpc>
                <a:spcPct val="110000"/>
              </a:lnSpc>
              <a:buNone/>
            </a:pPr>
            <a:r>
              <a:rPr lang="en-US" sz="2700" b="1" dirty="0">
                <a:solidFill>
                  <a:srgbClr val="8E3556"/>
                </a:solidFill>
                <a:latin typeface="Noto Sans CJK JP" pitchFamily="34" charset="0"/>
                <a:ea typeface="Noto Sans CJK JP" pitchFamily="34" charset="-122"/>
                <a:cs typeface="Noto Sans CJK JP" pitchFamily="34" charset="-120"/>
              </a:rPr>
              <a:t>最後に“言葉にした”のは、いつですか？</a:t>
            </a:r>
            <a:endParaRPr lang="en-US" sz="2700" dirty="0"/>
          </a:p>
        </p:txBody>
      </p:sp>
      <p:sp>
        <p:nvSpPr>
          <p:cNvPr id="12" name="Shape 8"/>
          <p:cNvSpPr/>
          <p:nvPr/>
        </p:nvSpPr>
        <p:spPr>
          <a:xfrm>
            <a:off x="640080" y="2971800"/>
            <a:ext cx="10881360" cy="566928"/>
          </a:xfrm>
          <a:prstGeom prst="roundRect">
            <a:avLst>
              <a:gd name="adj" fmla="val 12903"/>
            </a:avLst>
          </a:prstGeom>
          <a:solidFill>
            <a:srgbClr val="FFFFFF"/>
          </a:solidFill>
          <a:ln w="12700">
            <a:solidFill>
              <a:srgbClr val="EBB4C4"/>
            </a:solidFill>
            <a:prstDash val="solid"/>
          </a:ln>
        </p:spPr>
      </p:sp>
      <p:pic>
        <p:nvPicPr>
          <p:cNvPr id="13" name="Image 2" descr="preencoded.png">    </p:cNvPr>
          <p:cNvPicPr>
            <a:picLocks noChangeAspect="1"/>
          </p:cNvPicPr>
          <p:nvPr/>
        </p:nvPicPr>
        <p:blipFill>
          <a:blip r:embed="rId3"/>
          <a:stretch>
            <a:fillRect/>
          </a:stretch>
        </p:blipFill>
        <p:spPr>
          <a:xfrm>
            <a:off x="822960" y="3118104"/>
            <a:ext cx="274320" cy="274320"/>
          </a:xfrm>
          <a:prstGeom prst="rect">
            <a:avLst/>
          </a:prstGeom>
        </p:spPr>
      </p:pic>
      <p:sp>
        <p:nvSpPr>
          <p:cNvPr id="14" name="Text 9"/>
          <p:cNvSpPr/>
          <p:nvPr/>
        </p:nvSpPr>
        <p:spPr>
          <a:xfrm>
            <a:off x="1234440" y="2971800"/>
            <a:ext cx="10058400" cy="566928"/>
          </a:xfrm>
          <a:prstGeom prst="rect">
            <a:avLst/>
          </a:prstGeom>
          <a:noFill/>
          <a:ln/>
        </p:spPr>
        <p:txBody>
          <a:bodyPr wrap="square" lIns="0" tIns="0" rIns="0" bIns="0" rtlCol="0" anchor="ctr"/>
          <a:lstStyle/>
          <a:p>
            <a:pPr indent="0" marL="0">
              <a:buNone/>
            </a:pPr>
            <a:r>
              <a:rPr lang="en-US" sz="1450" dirty="0">
                <a:solidFill>
                  <a:srgbClr val="3A2C31"/>
                </a:solidFill>
                <a:latin typeface="Noto Sans CJK JP" pitchFamily="34" charset="0"/>
                <a:ea typeface="Noto Sans CJK JP" pitchFamily="34" charset="-122"/>
                <a:cs typeface="Noto Sans CJK JP" pitchFamily="34" charset="-120"/>
              </a:rPr>
              <a:t>着手前に「やらないこと」を1行でも書いた</a:t>
            </a:r>
            <a:endParaRPr lang="en-US" sz="1450" dirty="0"/>
          </a:p>
        </p:txBody>
      </p:sp>
      <p:sp>
        <p:nvSpPr>
          <p:cNvPr id="15" name="Shape 10"/>
          <p:cNvSpPr/>
          <p:nvPr/>
        </p:nvSpPr>
        <p:spPr>
          <a:xfrm>
            <a:off x="640080" y="3648456"/>
            <a:ext cx="10881360" cy="566928"/>
          </a:xfrm>
          <a:prstGeom prst="roundRect">
            <a:avLst>
              <a:gd name="adj" fmla="val 12903"/>
            </a:avLst>
          </a:prstGeom>
          <a:solidFill>
            <a:srgbClr val="FFFFFF"/>
          </a:solidFill>
          <a:ln w="12700">
            <a:solidFill>
              <a:srgbClr val="EBB4C4"/>
            </a:solidFill>
            <a:prstDash val="solid"/>
          </a:ln>
        </p:spPr>
      </p:sp>
      <p:pic>
        <p:nvPicPr>
          <p:cNvPr id="16" name="Image 3" descr="preencoded.png">    </p:cNvPr>
          <p:cNvPicPr>
            <a:picLocks noChangeAspect="1"/>
          </p:cNvPicPr>
          <p:nvPr/>
        </p:nvPicPr>
        <p:blipFill>
          <a:blip r:embed="rId4"/>
          <a:stretch>
            <a:fillRect/>
          </a:stretch>
        </p:blipFill>
        <p:spPr>
          <a:xfrm>
            <a:off x="822960" y="3794760"/>
            <a:ext cx="274320" cy="274320"/>
          </a:xfrm>
          <a:prstGeom prst="rect">
            <a:avLst/>
          </a:prstGeom>
        </p:spPr>
      </p:pic>
      <p:sp>
        <p:nvSpPr>
          <p:cNvPr id="17" name="Text 11"/>
          <p:cNvSpPr/>
          <p:nvPr/>
        </p:nvSpPr>
        <p:spPr>
          <a:xfrm>
            <a:off x="1234440" y="3648456"/>
            <a:ext cx="10058400" cy="566928"/>
          </a:xfrm>
          <a:prstGeom prst="rect">
            <a:avLst/>
          </a:prstGeom>
          <a:noFill/>
          <a:ln/>
        </p:spPr>
        <p:txBody>
          <a:bodyPr wrap="square" lIns="0" tIns="0" rIns="0" bIns="0" rtlCol="0" anchor="ctr"/>
          <a:lstStyle/>
          <a:p>
            <a:pPr indent="0" marL="0">
              <a:buNone/>
            </a:pPr>
            <a:r>
              <a:rPr lang="en-US" sz="1450" dirty="0">
                <a:solidFill>
                  <a:srgbClr val="3A2C31"/>
                </a:solidFill>
                <a:latin typeface="Noto Sans CJK JP" pitchFamily="34" charset="0"/>
                <a:ea typeface="Noto Sans CJK JP" pitchFamily="34" charset="-122"/>
                <a:cs typeface="Noto Sans CJK JP" pitchFamily="34" charset="-120"/>
              </a:rPr>
              <a:t>レビュー往復の上限回数を決めてある</a:t>
            </a:r>
            <a:endParaRPr lang="en-US" sz="1450" dirty="0"/>
          </a:p>
        </p:txBody>
      </p:sp>
      <p:sp>
        <p:nvSpPr>
          <p:cNvPr id="18" name="Shape 12"/>
          <p:cNvSpPr/>
          <p:nvPr/>
        </p:nvSpPr>
        <p:spPr>
          <a:xfrm>
            <a:off x="640080" y="4325112"/>
            <a:ext cx="10881360" cy="566928"/>
          </a:xfrm>
          <a:prstGeom prst="roundRect">
            <a:avLst>
              <a:gd name="adj" fmla="val 12903"/>
            </a:avLst>
          </a:prstGeom>
          <a:solidFill>
            <a:srgbClr val="FFFFFF"/>
          </a:solidFill>
          <a:ln w="12700">
            <a:solidFill>
              <a:srgbClr val="EBB4C4"/>
            </a:solidFill>
            <a:prstDash val="solid"/>
          </a:ln>
        </p:spPr>
      </p:sp>
      <p:pic>
        <p:nvPicPr>
          <p:cNvPr id="19" name="Image 4" descr="preencoded.png">    </p:cNvPr>
          <p:cNvPicPr>
            <a:picLocks noChangeAspect="1"/>
          </p:cNvPicPr>
          <p:nvPr/>
        </p:nvPicPr>
        <p:blipFill>
          <a:blip r:embed="rId5"/>
          <a:stretch>
            <a:fillRect/>
          </a:stretch>
        </p:blipFill>
        <p:spPr>
          <a:xfrm>
            <a:off x="822960" y="4471416"/>
            <a:ext cx="274320" cy="274320"/>
          </a:xfrm>
          <a:prstGeom prst="rect">
            <a:avLst/>
          </a:prstGeom>
        </p:spPr>
      </p:pic>
      <p:sp>
        <p:nvSpPr>
          <p:cNvPr id="20" name="Text 13"/>
          <p:cNvSpPr/>
          <p:nvPr/>
        </p:nvSpPr>
        <p:spPr>
          <a:xfrm>
            <a:off x="1234440" y="4325112"/>
            <a:ext cx="10058400" cy="566928"/>
          </a:xfrm>
          <a:prstGeom prst="rect">
            <a:avLst/>
          </a:prstGeom>
          <a:noFill/>
          <a:ln/>
        </p:spPr>
        <p:txBody>
          <a:bodyPr wrap="square" lIns="0" tIns="0" rIns="0" bIns="0" rtlCol="0" anchor="ctr"/>
          <a:lstStyle/>
          <a:p>
            <a:pPr indent="0" marL="0">
              <a:buNone/>
            </a:pPr>
            <a:r>
              <a:rPr lang="en-US" sz="1450" dirty="0">
                <a:solidFill>
                  <a:srgbClr val="3A2C31"/>
                </a:solidFill>
                <a:latin typeface="Noto Sans CJK JP" pitchFamily="34" charset="0"/>
                <a:ea typeface="Noto Sans CJK JP" pitchFamily="34" charset="-122"/>
                <a:cs typeface="Noto Sans CJK JP" pitchFamily="34" charset="-120"/>
              </a:rPr>
              <a:t>“完了の判定”を作業ごとに言葉にしている</a:t>
            </a:r>
            <a:endParaRPr lang="en-US" sz="1450" dirty="0"/>
          </a:p>
        </p:txBody>
      </p:sp>
      <p:sp>
        <p:nvSpPr>
          <p:cNvPr id="21" name="Shape 14"/>
          <p:cNvSpPr/>
          <p:nvPr/>
        </p:nvSpPr>
        <p:spPr>
          <a:xfrm>
            <a:off x="640080" y="5001768"/>
            <a:ext cx="10881360" cy="566928"/>
          </a:xfrm>
          <a:prstGeom prst="roundRect">
            <a:avLst>
              <a:gd name="adj" fmla="val 12903"/>
            </a:avLst>
          </a:prstGeom>
          <a:solidFill>
            <a:srgbClr val="FFFFFF"/>
          </a:solidFill>
          <a:ln w="12700">
            <a:solidFill>
              <a:srgbClr val="EBB4C4"/>
            </a:solidFill>
            <a:prstDash val="solid"/>
          </a:ln>
        </p:spPr>
      </p:sp>
      <p:pic>
        <p:nvPicPr>
          <p:cNvPr id="22" name="Image 5" descr="preencoded.png">    </p:cNvPr>
          <p:cNvPicPr>
            <a:picLocks noChangeAspect="1"/>
          </p:cNvPicPr>
          <p:nvPr/>
        </p:nvPicPr>
        <p:blipFill>
          <a:blip r:embed="rId6"/>
          <a:stretch>
            <a:fillRect/>
          </a:stretch>
        </p:blipFill>
        <p:spPr>
          <a:xfrm>
            <a:off x="822960" y="5148072"/>
            <a:ext cx="274320" cy="274320"/>
          </a:xfrm>
          <a:prstGeom prst="rect">
            <a:avLst/>
          </a:prstGeom>
        </p:spPr>
      </p:pic>
      <p:sp>
        <p:nvSpPr>
          <p:cNvPr id="23" name="Text 15"/>
          <p:cNvSpPr/>
          <p:nvPr/>
        </p:nvSpPr>
        <p:spPr>
          <a:xfrm>
            <a:off x="1234440" y="5001768"/>
            <a:ext cx="10058400" cy="566928"/>
          </a:xfrm>
          <a:prstGeom prst="rect">
            <a:avLst/>
          </a:prstGeom>
          <a:noFill/>
          <a:ln/>
        </p:spPr>
        <p:txBody>
          <a:bodyPr wrap="square" lIns="0" tIns="0" rIns="0" bIns="0" rtlCol="0" anchor="ctr"/>
          <a:lstStyle/>
          <a:p>
            <a:pPr indent="0" marL="0">
              <a:buNone/>
            </a:pPr>
            <a:r>
              <a:rPr lang="en-US" sz="1450" dirty="0">
                <a:solidFill>
                  <a:srgbClr val="3A2C31"/>
                </a:solidFill>
                <a:latin typeface="Noto Sans CJK JP" pitchFamily="34" charset="0"/>
                <a:ea typeface="Noto Sans CJK JP" pitchFamily="34" charset="-122"/>
                <a:cs typeface="Noto Sans CJK JP" pitchFamily="34" charset="-120"/>
              </a:rPr>
              <a:t>変更を「変更」として扱う合図を持っている</a:t>
            </a:r>
            <a:endParaRPr lang="en-US" sz="1450" dirty="0"/>
          </a:p>
        </p:txBody>
      </p:sp>
      <p:sp>
        <p:nvSpPr>
          <p:cNvPr id="24" name="Text 16"/>
          <p:cNvSpPr/>
          <p:nvPr/>
        </p:nvSpPr>
        <p:spPr>
          <a:xfrm>
            <a:off x="640080" y="5806440"/>
            <a:ext cx="10972800" cy="457200"/>
          </a:xfrm>
          <a:prstGeom prst="rect">
            <a:avLst/>
          </a:prstGeom>
          <a:noFill/>
          <a:ln/>
        </p:spPr>
        <p:txBody>
          <a:bodyPr wrap="square" lIns="0" tIns="0" rIns="0" bIns="0" rtlCol="0" anchor="ctr"/>
          <a:lstStyle/>
          <a:p>
            <a:pPr indent="0" marL="0">
              <a:buNone/>
            </a:pPr>
            <a:r>
              <a:rPr lang="en-US" sz="1350" i="1" dirty="0">
                <a:solidFill>
                  <a:srgbClr val="8E3556"/>
                </a:solidFill>
                <a:latin typeface="Noto Sans CJK JP" pitchFamily="34" charset="0"/>
                <a:ea typeface="Noto Sans CJK JP" pitchFamily="34" charset="-122"/>
                <a:cs typeface="Noto Sans CJK JP" pitchFamily="34" charset="-120"/>
              </a:rPr>
              <a:t>いくつ ✓ がつきましたか？　0〜1個なら、次ページのチェックリストが効くはずです。</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10896"/>
          </a:xfrm>
          <a:prstGeom prst="rect">
            <a:avLst/>
          </a:prstGeom>
          <a:solidFill>
            <a:srgbClr val="574039"/>
          </a:solidFill>
          <a:ln/>
        </p:spPr>
      </p:sp>
      <p:pic>
        <p:nvPicPr>
          <p:cNvPr id="3" name="Image 0" descr="preencoded.png">    </p:cNvPr>
          <p:cNvPicPr>
            <a:picLocks noChangeAspect="1"/>
          </p:cNvPicPr>
          <p:nvPr/>
        </p:nvPicPr>
        <p:blipFill>
          <a:blip r:embed="rId1"/>
          <a:stretch>
            <a:fillRect/>
          </a:stretch>
        </p:blipFill>
        <p:spPr>
          <a:xfrm>
            <a:off x="457200" y="54864"/>
            <a:ext cx="201168" cy="201168"/>
          </a:xfrm>
          <a:prstGeom prst="rect">
            <a:avLst/>
          </a:prstGeom>
        </p:spPr>
      </p:pic>
      <p:sp>
        <p:nvSpPr>
          <p:cNvPr id="4" name="Text 1"/>
          <p:cNvSpPr/>
          <p:nvPr/>
        </p:nvSpPr>
        <p:spPr>
          <a:xfrm>
            <a:off x="731520" y="0"/>
            <a:ext cx="4572000" cy="310896"/>
          </a:xfrm>
          <a:prstGeom prst="rect">
            <a:avLst/>
          </a:prstGeom>
          <a:noFill/>
          <a:ln/>
        </p:spPr>
        <p:txBody>
          <a:bodyPr wrap="square" lIns="0" tIns="0" rIns="0" bIns="0" rtlCol="0" anchor="ctr"/>
          <a:lstStyle/>
          <a:p>
            <a:pPr indent="0" marL="0">
              <a:buNone/>
            </a:pPr>
            <a:r>
              <a:rPr lang="en-US" sz="1000" dirty="0">
                <a:solidFill>
                  <a:srgbClr val="F4E9E2"/>
                </a:solidFill>
                <a:latin typeface="Noto Sans CJK JP" pitchFamily="34" charset="0"/>
                <a:ea typeface="Noto Sans CJK JP" pitchFamily="34" charset="-122"/>
                <a:cs typeface="Noto Sans CJK JP" pitchFamily="34" charset="-120"/>
              </a:rPr>
              <a:t>うさうさ研修工房</a:t>
            </a:r>
            <a:endParaRPr lang="en-US" sz="1000" dirty="0"/>
          </a:p>
        </p:txBody>
      </p:sp>
      <p:sp>
        <p:nvSpPr>
          <p:cNvPr id="5" name="Text 2"/>
          <p:cNvSpPr/>
          <p:nvPr/>
        </p:nvSpPr>
        <p:spPr>
          <a:xfrm>
            <a:off x="7132320" y="0"/>
            <a:ext cx="45720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合意設計 ・ 考えさせる編</a:t>
            </a:r>
            <a:endParaRPr lang="en-US" sz="1000" dirty="0"/>
          </a:p>
        </p:txBody>
      </p:sp>
      <p:sp>
        <p:nvSpPr>
          <p:cNvPr id="6" name="Shape 3"/>
          <p:cNvSpPr/>
          <p:nvPr/>
        </p:nvSpPr>
        <p:spPr>
          <a:xfrm>
            <a:off x="0" y="6547104"/>
            <a:ext cx="12161520" cy="310896"/>
          </a:xfrm>
          <a:prstGeom prst="rect">
            <a:avLst/>
          </a:prstGeom>
          <a:solidFill>
            <a:srgbClr val="574039"/>
          </a:solidFill>
          <a:ln/>
        </p:spPr>
      </p:sp>
      <p:pic>
        <p:nvPicPr>
          <p:cNvPr id="7" name="Image 1" descr="preencoded.png">    </p:cNvPr>
          <p:cNvPicPr>
            <a:picLocks noChangeAspect="1"/>
          </p:cNvPicPr>
          <p:nvPr/>
        </p:nvPicPr>
        <p:blipFill>
          <a:blip r:embed="rId2"/>
          <a:stretch>
            <a:fillRect/>
          </a:stretch>
        </p:blipFill>
        <p:spPr>
          <a:xfrm>
            <a:off x="457200" y="6601968"/>
            <a:ext cx="201168" cy="201168"/>
          </a:xfrm>
          <a:prstGeom prst="rect">
            <a:avLst/>
          </a:prstGeom>
        </p:spPr>
      </p:pic>
      <p:sp>
        <p:nvSpPr>
          <p:cNvPr id="8" name="Text 4"/>
          <p:cNvSpPr/>
          <p:nvPr/>
        </p:nvSpPr>
        <p:spPr>
          <a:xfrm>
            <a:off x="731520" y="6547104"/>
            <a:ext cx="5486400" cy="310896"/>
          </a:xfrm>
          <a:prstGeom prst="rect">
            <a:avLst/>
          </a:prstGeom>
          <a:noFill/>
          <a:ln/>
        </p:spPr>
        <p:txBody>
          <a:bodyPr wrap="square" lIns="0" tIns="0" rIns="0" bIns="0" rtlCol="0" anchor="ctr"/>
          <a:lstStyle/>
          <a:p>
            <a:pPr indent="0" marL="0">
              <a:buNone/>
            </a:pPr>
            <a:r>
              <a:rPr lang="en-US" sz="950" dirty="0">
                <a:solidFill>
                  <a:srgbClr val="F4E9E2"/>
                </a:solidFill>
                <a:latin typeface="Noto Sans CJK JP" pitchFamily="34" charset="0"/>
                <a:ea typeface="Noto Sans CJK JP" pitchFamily="34" charset="-122"/>
                <a:cs typeface="Noto Sans CJK JP" pitchFamily="34" charset="-120"/>
              </a:rPr>
              <a:t>面白きこともなき世を面白く 🐰</a:t>
            </a:r>
            <a:endParaRPr lang="en-US" sz="950" dirty="0"/>
          </a:p>
        </p:txBody>
      </p:sp>
      <p:sp>
        <p:nvSpPr>
          <p:cNvPr id="9" name="Text 5"/>
          <p:cNvSpPr/>
          <p:nvPr/>
        </p:nvSpPr>
        <p:spPr>
          <a:xfrm>
            <a:off x="11247120" y="6547104"/>
            <a:ext cx="4572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11</a:t>
            </a:r>
            <a:endParaRPr lang="en-US" sz="1000" dirty="0"/>
          </a:p>
        </p:txBody>
      </p:sp>
      <p:sp>
        <p:nvSpPr>
          <p:cNvPr id="10" name="Shape 6"/>
          <p:cNvSpPr/>
          <p:nvPr/>
        </p:nvSpPr>
        <p:spPr>
          <a:xfrm>
            <a:off x="502920" y="502920"/>
            <a:ext cx="749808" cy="749808"/>
          </a:xfrm>
          <a:prstGeom prst="ellipse">
            <a:avLst/>
          </a:prstGeom>
          <a:solidFill>
            <a:srgbClr val="B4587A"/>
          </a:solidFill>
          <a:ln/>
        </p:spPr>
      </p:sp>
      <p:pic>
        <p:nvPicPr>
          <p:cNvPr id="11" name="Image 2" descr="preencoded.png">    </p:cNvPr>
          <p:cNvPicPr>
            <a:picLocks noChangeAspect="1"/>
          </p:cNvPicPr>
          <p:nvPr/>
        </p:nvPicPr>
        <p:blipFill>
          <a:blip r:embed="rId3"/>
          <a:stretch>
            <a:fillRect/>
          </a:stretch>
        </p:blipFill>
        <p:spPr>
          <a:xfrm>
            <a:off x="705368" y="705368"/>
            <a:ext cx="344912" cy="344912"/>
          </a:xfrm>
          <a:prstGeom prst="rect">
            <a:avLst/>
          </a:prstGeom>
        </p:spPr>
      </p:pic>
      <p:sp>
        <p:nvSpPr>
          <p:cNvPr id="12" name="Text 7"/>
          <p:cNvSpPr/>
          <p:nvPr/>
        </p:nvSpPr>
        <p:spPr>
          <a:xfrm>
            <a:off x="1389888" y="502920"/>
            <a:ext cx="10332720" cy="749808"/>
          </a:xfrm>
          <a:prstGeom prst="rect">
            <a:avLst/>
          </a:prstGeom>
          <a:noFill/>
          <a:ln/>
        </p:spPr>
        <p:txBody>
          <a:bodyPr wrap="square" lIns="0" tIns="0" rIns="0" bIns="0" rtlCol="0" anchor="ctr"/>
          <a:lstStyle/>
          <a:p>
            <a:pPr indent="0" marL="0">
              <a:buNone/>
            </a:pPr>
            <a:r>
              <a:rPr lang="en-US" sz="2600" b="1" dirty="0">
                <a:solidFill>
                  <a:srgbClr val="CFA15C"/>
                </a:solidFill>
                <a:latin typeface="Noto Sans CJK JP" pitchFamily="34" charset="0"/>
                <a:ea typeface="Noto Sans CJK JP" pitchFamily="34" charset="-122"/>
                <a:cs typeface="Noto Sans CJK JP" pitchFamily="34" charset="-120"/>
              </a:rPr>
              <a:t>04  </a:t>
            </a:r>
            <a:pPr indent="0" marL="0">
              <a:buNone/>
            </a:pPr>
            <a:r>
              <a:rPr lang="en-US" sz="2600" b="1" dirty="0">
                <a:solidFill>
                  <a:srgbClr val="8E3556"/>
                </a:solidFill>
                <a:latin typeface="Noto Sans CJK JP" pitchFamily="34" charset="0"/>
                <a:ea typeface="Noto Sans CJK JP" pitchFamily="34" charset="-122"/>
                <a:cs typeface="Noto Sans CJK JP" pitchFamily="34" charset="-120"/>
              </a:rPr>
              <a:t>暗黙知 → 形式知（SECIのスパイラル）</a:t>
            </a:r>
            <a:endParaRPr lang="en-US" sz="2600" dirty="0"/>
          </a:p>
        </p:txBody>
      </p:sp>
      <p:sp>
        <p:nvSpPr>
          <p:cNvPr id="13" name="Text 8"/>
          <p:cNvSpPr/>
          <p:nvPr/>
        </p:nvSpPr>
        <p:spPr>
          <a:xfrm>
            <a:off x="521208" y="1371600"/>
            <a:ext cx="10972800" cy="320040"/>
          </a:xfrm>
          <a:prstGeom prst="rect">
            <a:avLst/>
          </a:prstGeom>
          <a:noFill/>
          <a:ln/>
        </p:spPr>
        <p:txBody>
          <a:bodyPr wrap="square" lIns="0" tIns="0" rIns="0" bIns="0" rtlCol="0" anchor="ctr"/>
          <a:lstStyle/>
          <a:p>
            <a:pPr indent="0" marL="0">
              <a:buNone/>
            </a:pPr>
            <a:r>
              <a:rPr lang="en-US" sz="1350" dirty="0">
                <a:solidFill>
                  <a:srgbClr val="9A8890"/>
                </a:solidFill>
                <a:latin typeface="Noto Sans CJK JP" pitchFamily="34" charset="0"/>
                <a:ea typeface="Noto Sans CJK JP" pitchFamily="34" charset="-122"/>
                <a:cs typeface="Noto Sans CJK JP" pitchFamily="34" charset="-120"/>
              </a:rPr>
              <a:t>判断軸はベテランの“暗黙知”。頭の中にある限り、共有も再現もできない。</a:t>
            </a:r>
            <a:endParaRPr lang="en-US" sz="1350" dirty="0"/>
          </a:p>
        </p:txBody>
      </p:sp>
      <p:sp>
        <p:nvSpPr>
          <p:cNvPr id="14" name="Shape 9"/>
          <p:cNvSpPr/>
          <p:nvPr/>
        </p:nvSpPr>
        <p:spPr>
          <a:xfrm>
            <a:off x="3200400" y="1828800"/>
            <a:ext cx="2834640" cy="1600200"/>
          </a:xfrm>
          <a:prstGeom prst="roundRect">
            <a:avLst>
              <a:gd name="adj" fmla="val 6857"/>
            </a:avLst>
          </a:prstGeom>
          <a:solidFill>
            <a:srgbClr val="FDF8FA"/>
          </a:solidFill>
          <a:ln w="19050">
            <a:solidFill>
              <a:srgbClr val="D98AA0"/>
            </a:solidFill>
            <a:prstDash val="solid"/>
          </a:ln>
          <a:effectLst>
            <a:outerShdw sx="100000" sy="100000" kx="0" ky="0" algn="bl" rotWithShape="0" blurRad="76200" dist="25400" dir="5400000">
              <a:srgbClr val="000000">
                <a:alpha val="10000"/>
              </a:srgbClr>
            </a:outerShdw>
          </a:effectLst>
        </p:spPr>
      </p:sp>
      <p:sp>
        <p:nvSpPr>
          <p:cNvPr id="15" name="Text 10"/>
          <p:cNvSpPr/>
          <p:nvPr/>
        </p:nvSpPr>
        <p:spPr>
          <a:xfrm>
            <a:off x="3383280" y="1965960"/>
            <a:ext cx="2468880" cy="457200"/>
          </a:xfrm>
          <a:prstGeom prst="rect">
            <a:avLst/>
          </a:prstGeom>
          <a:noFill/>
          <a:ln/>
        </p:spPr>
        <p:txBody>
          <a:bodyPr wrap="square" lIns="0" tIns="0" rIns="0" bIns="0" rtlCol="0" anchor="ctr"/>
          <a:lstStyle/>
          <a:p>
            <a:pPr indent="0" marL="0">
              <a:buNone/>
            </a:pPr>
            <a:r>
              <a:rPr lang="en-US" sz="1350" b="1" dirty="0">
                <a:solidFill>
                  <a:srgbClr val="D98AA0"/>
                </a:solidFill>
                <a:latin typeface="Noto Sans CJK JP" pitchFamily="34" charset="0"/>
                <a:ea typeface="Noto Sans CJK JP" pitchFamily="34" charset="-122"/>
                <a:cs typeface="Noto Sans CJK JP" pitchFamily="34" charset="-120"/>
              </a:rPr>
              <a:t>S 共同化  </a:t>
            </a:r>
            <a:pPr indent="0" marL="0">
              <a:buNone/>
            </a:pPr>
            <a:r>
              <a:rPr lang="en-US" sz="1050" dirty="0">
                <a:solidFill>
                  <a:srgbClr val="9A8890"/>
                </a:solidFill>
                <a:latin typeface="Noto Sans CJK JP" pitchFamily="34" charset="0"/>
                <a:ea typeface="Noto Sans CJK JP" pitchFamily="34" charset="-122"/>
                <a:cs typeface="Noto Sans CJK JP" pitchFamily="34" charset="-120"/>
              </a:rPr>
              <a:t>（暗黙→暗黙）</a:t>
            </a:r>
            <a:endParaRPr lang="en-US" sz="1350" dirty="0"/>
          </a:p>
        </p:txBody>
      </p:sp>
      <p:sp>
        <p:nvSpPr>
          <p:cNvPr id="16" name="Text 11"/>
          <p:cNvSpPr/>
          <p:nvPr/>
        </p:nvSpPr>
        <p:spPr>
          <a:xfrm>
            <a:off x="3383280" y="2450592"/>
            <a:ext cx="2468880" cy="868680"/>
          </a:xfrm>
          <a:prstGeom prst="rect">
            <a:avLst/>
          </a:prstGeom>
          <a:noFill/>
          <a:ln/>
        </p:spPr>
        <p:txBody>
          <a:bodyPr wrap="square" lIns="0" tIns="0" rIns="0" bIns="0" rtlCol="0" anchor="ctr"/>
          <a:lstStyle/>
          <a:p>
            <a:pPr indent="0" marL="0">
              <a:lnSpc>
                <a:spcPct val="110000"/>
              </a:lnSpc>
              <a:buNone/>
            </a:pPr>
            <a:r>
              <a:rPr lang="en-US" sz="1200" dirty="0">
                <a:solidFill>
                  <a:srgbClr val="3A2C31"/>
                </a:solidFill>
                <a:latin typeface="Noto Sans CJK JP" pitchFamily="34" charset="0"/>
                <a:ea typeface="Noto Sans CJK JP" pitchFamily="34" charset="-122"/>
                <a:cs typeface="Noto Sans CJK JP" pitchFamily="34" charset="-120"/>
              </a:rPr>
              <a:t>現場で“こう線を引く”を見て覚える</a:t>
            </a:r>
            <a:endParaRPr lang="en-US" sz="1200" dirty="0"/>
          </a:p>
        </p:txBody>
      </p:sp>
      <p:sp>
        <p:nvSpPr>
          <p:cNvPr id="17" name="Shape 12"/>
          <p:cNvSpPr/>
          <p:nvPr/>
        </p:nvSpPr>
        <p:spPr>
          <a:xfrm>
            <a:off x="6858000" y="1828800"/>
            <a:ext cx="2834640" cy="1600200"/>
          </a:xfrm>
          <a:prstGeom prst="roundRect">
            <a:avLst>
              <a:gd name="adj" fmla="val 6857"/>
            </a:avLst>
          </a:prstGeom>
          <a:solidFill>
            <a:srgbClr val="FDF8FA"/>
          </a:solidFill>
          <a:ln w="19050">
            <a:solidFill>
              <a:srgbClr val="B4587A"/>
            </a:solidFill>
            <a:prstDash val="solid"/>
          </a:ln>
          <a:effectLst>
            <a:outerShdw sx="100000" sy="100000" kx="0" ky="0" algn="bl" rotWithShape="0" blurRad="76200" dist="25400" dir="5400000">
              <a:srgbClr val="000000">
                <a:alpha val="10000"/>
              </a:srgbClr>
            </a:outerShdw>
          </a:effectLst>
        </p:spPr>
      </p:sp>
      <p:sp>
        <p:nvSpPr>
          <p:cNvPr id="18" name="Text 13"/>
          <p:cNvSpPr/>
          <p:nvPr/>
        </p:nvSpPr>
        <p:spPr>
          <a:xfrm>
            <a:off x="7040880" y="1965960"/>
            <a:ext cx="2468880" cy="457200"/>
          </a:xfrm>
          <a:prstGeom prst="rect">
            <a:avLst/>
          </a:prstGeom>
          <a:noFill/>
          <a:ln/>
        </p:spPr>
        <p:txBody>
          <a:bodyPr wrap="square" lIns="0" tIns="0" rIns="0" bIns="0" rtlCol="0" anchor="ctr"/>
          <a:lstStyle/>
          <a:p>
            <a:pPr indent="0" marL="0">
              <a:buNone/>
            </a:pPr>
            <a:r>
              <a:rPr lang="en-US" sz="1350" b="1" dirty="0">
                <a:solidFill>
                  <a:srgbClr val="B4587A"/>
                </a:solidFill>
                <a:latin typeface="Noto Sans CJK JP" pitchFamily="34" charset="0"/>
                <a:ea typeface="Noto Sans CJK JP" pitchFamily="34" charset="-122"/>
                <a:cs typeface="Noto Sans CJK JP" pitchFamily="34" charset="-120"/>
              </a:rPr>
              <a:t>E 表出化  </a:t>
            </a:r>
            <a:pPr indent="0" marL="0">
              <a:buNone/>
            </a:pPr>
            <a:r>
              <a:rPr lang="en-US" sz="1050" dirty="0">
                <a:solidFill>
                  <a:srgbClr val="9A8890"/>
                </a:solidFill>
                <a:latin typeface="Noto Sans CJK JP" pitchFamily="34" charset="0"/>
                <a:ea typeface="Noto Sans CJK JP" pitchFamily="34" charset="-122"/>
                <a:cs typeface="Noto Sans CJK JP" pitchFamily="34" charset="-120"/>
              </a:rPr>
              <a:t>（暗黙→形式）</a:t>
            </a:r>
            <a:endParaRPr lang="en-US" sz="1350" dirty="0"/>
          </a:p>
        </p:txBody>
      </p:sp>
      <p:sp>
        <p:nvSpPr>
          <p:cNvPr id="19" name="Text 14"/>
          <p:cNvSpPr/>
          <p:nvPr/>
        </p:nvSpPr>
        <p:spPr>
          <a:xfrm>
            <a:off x="7040880" y="2450592"/>
            <a:ext cx="2468880" cy="868680"/>
          </a:xfrm>
          <a:prstGeom prst="rect">
            <a:avLst/>
          </a:prstGeom>
          <a:noFill/>
          <a:ln/>
        </p:spPr>
        <p:txBody>
          <a:bodyPr wrap="square" lIns="0" tIns="0" rIns="0" bIns="0" rtlCol="0" anchor="ctr"/>
          <a:lstStyle/>
          <a:p>
            <a:pPr indent="0" marL="0">
              <a:lnSpc>
                <a:spcPct val="110000"/>
              </a:lnSpc>
              <a:buNone/>
            </a:pPr>
            <a:r>
              <a:rPr lang="en-US" sz="1200" dirty="0">
                <a:solidFill>
                  <a:srgbClr val="3A2C31"/>
                </a:solidFill>
                <a:latin typeface="Noto Sans CJK JP" pitchFamily="34" charset="0"/>
                <a:ea typeface="Noto Sans CJK JP" pitchFamily="34" charset="-122"/>
                <a:cs typeface="Noto Sans CJK JP" pitchFamily="34" charset="-120"/>
              </a:rPr>
              <a:t>判断軸メモ・役割表に言語化（外化）</a:t>
            </a:r>
            <a:endParaRPr lang="en-US" sz="1200" dirty="0"/>
          </a:p>
        </p:txBody>
      </p:sp>
      <p:sp>
        <p:nvSpPr>
          <p:cNvPr id="20" name="Shape 15"/>
          <p:cNvSpPr/>
          <p:nvPr/>
        </p:nvSpPr>
        <p:spPr>
          <a:xfrm>
            <a:off x="6858000" y="3657600"/>
            <a:ext cx="2834640" cy="1600200"/>
          </a:xfrm>
          <a:prstGeom prst="roundRect">
            <a:avLst>
              <a:gd name="adj" fmla="val 6857"/>
            </a:avLst>
          </a:prstGeom>
          <a:solidFill>
            <a:srgbClr val="FDF8FA"/>
          </a:solidFill>
          <a:ln w="19050">
            <a:solidFill>
              <a:srgbClr val="CFA15C"/>
            </a:solidFill>
            <a:prstDash val="solid"/>
          </a:ln>
          <a:effectLst>
            <a:outerShdw sx="100000" sy="100000" kx="0" ky="0" algn="bl" rotWithShape="0" blurRad="76200" dist="25400" dir="5400000">
              <a:srgbClr val="000000">
                <a:alpha val="10000"/>
              </a:srgbClr>
            </a:outerShdw>
          </a:effectLst>
        </p:spPr>
      </p:sp>
      <p:sp>
        <p:nvSpPr>
          <p:cNvPr id="21" name="Text 16"/>
          <p:cNvSpPr/>
          <p:nvPr/>
        </p:nvSpPr>
        <p:spPr>
          <a:xfrm>
            <a:off x="7040880" y="3794760"/>
            <a:ext cx="2468880" cy="457200"/>
          </a:xfrm>
          <a:prstGeom prst="rect">
            <a:avLst/>
          </a:prstGeom>
          <a:noFill/>
          <a:ln/>
        </p:spPr>
        <p:txBody>
          <a:bodyPr wrap="square" lIns="0" tIns="0" rIns="0" bIns="0" rtlCol="0" anchor="ctr"/>
          <a:lstStyle/>
          <a:p>
            <a:pPr indent="0" marL="0">
              <a:buNone/>
            </a:pPr>
            <a:r>
              <a:rPr lang="en-US" sz="1350" b="1" dirty="0">
                <a:solidFill>
                  <a:srgbClr val="CFA15C"/>
                </a:solidFill>
                <a:latin typeface="Noto Sans CJK JP" pitchFamily="34" charset="0"/>
                <a:ea typeface="Noto Sans CJK JP" pitchFamily="34" charset="-122"/>
                <a:cs typeface="Noto Sans CJK JP" pitchFamily="34" charset="-120"/>
              </a:rPr>
              <a:t>C 連結化  </a:t>
            </a:r>
            <a:pPr indent="0" marL="0">
              <a:buNone/>
            </a:pPr>
            <a:r>
              <a:rPr lang="en-US" sz="1050" dirty="0">
                <a:solidFill>
                  <a:srgbClr val="9A8890"/>
                </a:solidFill>
                <a:latin typeface="Noto Sans CJK JP" pitchFamily="34" charset="0"/>
                <a:ea typeface="Noto Sans CJK JP" pitchFamily="34" charset="-122"/>
                <a:cs typeface="Noto Sans CJK JP" pitchFamily="34" charset="-120"/>
              </a:rPr>
              <a:t>（形式→形式）</a:t>
            </a:r>
            <a:endParaRPr lang="en-US" sz="1350" dirty="0"/>
          </a:p>
        </p:txBody>
      </p:sp>
      <p:sp>
        <p:nvSpPr>
          <p:cNvPr id="22" name="Text 17"/>
          <p:cNvSpPr/>
          <p:nvPr/>
        </p:nvSpPr>
        <p:spPr>
          <a:xfrm>
            <a:off x="7040880" y="4279392"/>
            <a:ext cx="2468880" cy="868680"/>
          </a:xfrm>
          <a:prstGeom prst="rect">
            <a:avLst/>
          </a:prstGeom>
          <a:noFill/>
          <a:ln/>
        </p:spPr>
        <p:txBody>
          <a:bodyPr wrap="square" lIns="0" tIns="0" rIns="0" bIns="0" rtlCol="0" anchor="ctr"/>
          <a:lstStyle/>
          <a:p>
            <a:pPr indent="0" marL="0">
              <a:lnSpc>
                <a:spcPct val="110000"/>
              </a:lnSpc>
              <a:buNone/>
            </a:pPr>
            <a:r>
              <a:rPr lang="en-US" sz="1200" dirty="0">
                <a:solidFill>
                  <a:srgbClr val="3A2C31"/>
                </a:solidFill>
                <a:latin typeface="Noto Sans CJK JP" pitchFamily="34" charset="0"/>
                <a:ea typeface="Noto Sans CJK JP" pitchFamily="34" charset="-122"/>
                <a:cs typeface="Noto Sans CJK JP" pitchFamily="34" charset="-120"/>
              </a:rPr>
              <a:t>チェックリスト・テンプレに統合</a:t>
            </a:r>
            <a:endParaRPr lang="en-US" sz="1200" dirty="0"/>
          </a:p>
        </p:txBody>
      </p:sp>
      <p:sp>
        <p:nvSpPr>
          <p:cNvPr id="23" name="Shape 18"/>
          <p:cNvSpPr/>
          <p:nvPr/>
        </p:nvSpPr>
        <p:spPr>
          <a:xfrm>
            <a:off x="3200400" y="3657600"/>
            <a:ext cx="2834640" cy="1600200"/>
          </a:xfrm>
          <a:prstGeom prst="roundRect">
            <a:avLst>
              <a:gd name="adj" fmla="val 6857"/>
            </a:avLst>
          </a:prstGeom>
          <a:solidFill>
            <a:srgbClr val="FDF8FA"/>
          </a:solidFill>
          <a:ln w="19050">
            <a:solidFill>
              <a:srgbClr val="4E8568"/>
            </a:solidFill>
            <a:prstDash val="solid"/>
          </a:ln>
          <a:effectLst>
            <a:outerShdw sx="100000" sy="100000" kx="0" ky="0" algn="bl" rotWithShape="0" blurRad="76200" dist="25400" dir="5400000">
              <a:srgbClr val="000000">
                <a:alpha val="10000"/>
              </a:srgbClr>
            </a:outerShdw>
          </a:effectLst>
        </p:spPr>
      </p:sp>
      <p:sp>
        <p:nvSpPr>
          <p:cNvPr id="24" name="Text 19"/>
          <p:cNvSpPr/>
          <p:nvPr/>
        </p:nvSpPr>
        <p:spPr>
          <a:xfrm>
            <a:off x="3383280" y="3794760"/>
            <a:ext cx="2468880" cy="457200"/>
          </a:xfrm>
          <a:prstGeom prst="rect">
            <a:avLst/>
          </a:prstGeom>
          <a:noFill/>
          <a:ln/>
        </p:spPr>
        <p:txBody>
          <a:bodyPr wrap="square" lIns="0" tIns="0" rIns="0" bIns="0" rtlCol="0" anchor="ctr"/>
          <a:lstStyle/>
          <a:p>
            <a:pPr indent="0" marL="0">
              <a:buNone/>
            </a:pPr>
            <a:r>
              <a:rPr lang="en-US" sz="1350" b="1" dirty="0">
                <a:solidFill>
                  <a:srgbClr val="4E8568"/>
                </a:solidFill>
                <a:latin typeface="Noto Sans CJK JP" pitchFamily="34" charset="0"/>
                <a:ea typeface="Noto Sans CJK JP" pitchFamily="34" charset="-122"/>
                <a:cs typeface="Noto Sans CJK JP" pitchFamily="34" charset="-120"/>
              </a:rPr>
              <a:t>I 内面化  </a:t>
            </a:r>
            <a:pPr indent="0" marL="0">
              <a:buNone/>
            </a:pPr>
            <a:r>
              <a:rPr lang="en-US" sz="1050" dirty="0">
                <a:solidFill>
                  <a:srgbClr val="9A8890"/>
                </a:solidFill>
                <a:latin typeface="Noto Sans CJK JP" pitchFamily="34" charset="0"/>
                <a:ea typeface="Noto Sans CJK JP" pitchFamily="34" charset="-122"/>
                <a:cs typeface="Noto Sans CJK JP" pitchFamily="34" charset="-120"/>
              </a:rPr>
              <a:t>（形式→暗黙）</a:t>
            </a:r>
            <a:endParaRPr lang="en-US" sz="1350" dirty="0"/>
          </a:p>
        </p:txBody>
      </p:sp>
      <p:sp>
        <p:nvSpPr>
          <p:cNvPr id="25" name="Text 20"/>
          <p:cNvSpPr/>
          <p:nvPr/>
        </p:nvSpPr>
        <p:spPr>
          <a:xfrm>
            <a:off x="3383280" y="4279392"/>
            <a:ext cx="2468880" cy="868680"/>
          </a:xfrm>
          <a:prstGeom prst="rect">
            <a:avLst/>
          </a:prstGeom>
          <a:noFill/>
          <a:ln/>
        </p:spPr>
        <p:txBody>
          <a:bodyPr wrap="square" lIns="0" tIns="0" rIns="0" bIns="0" rtlCol="0" anchor="ctr"/>
          <a:lstStyle/>
          <a:p>
            <a:pPr indent="0" marL="0">
              <a:lnSpc>
                <a:spcPct val="110000"/>
              </a:lnSpc>
              <a:buNone/>
            </a:pPr>
            <a:r>
              <a:rPr lang="en-US" sz="1200" dirty="0">
                <a:solidFill>
                  <a:srgbClr val="3A2C31"/>
                </a:solidFill>
                <a:latin typeface="Noto Sans CJK JP" pitchFamily="34" charset="0"/>
                <a:ea typeface="Noto Sans CJK JP" pitchFamily="34" charset="-122"/>
                <a:cs typeface="Noto Sans CJK JP" pitchFamily="34" charset="-120"/>
              </a:rPr>
              <a:t>使ううちに身につき、また現場へ</a:t>
            </a:r>
            <a:endParaRPr lang="en-US" sz="1200" dirty="0"/>
          </a:p>
        </p:txBody>
      </p:sp>
      <p:sp>
        <p:nvSpPr>
          <p:cNvPr id="26" name="Text 21"/>
          <p:cNvSpPr/>
          <p:nvPr/>
        </p:nvSpPr>
        <p:spPr>
          <a:xfrm>
            <a:off x="6035040" y="2377440"/>
            <a:ext cx="822960" cy="502920"/>
          </a:xfrm>
          <a:prstGeom prst="rect">
            <a:avLst/>
          </a:prstGeom>
          <a:noFill/>
          <a:ln/>
        </p:spPr>
        <p:txBody>
          <a:bodyPr wrap="square" lIns="0" tIns="0" rIns="0" bIns="0" rtlCol="0" anchor="ctr"/>
          <a:lstStyle/>
          <a:p>
            <a:pPr algn="ctr" indent="0" marL="0">
              <a:buNone/>
            </a:pPr>
            <a:r>
              <a:rPr lang="en-US" sz="2400" b="1" dirty="0">
                <a:solidFill>
                  <a:srgbClr val="B4587A"/>
                </a:solidFill>
                <a:latin typeface="Noto Sans CJK JP" pitchFamily="34" charset="0"/>
                <a:ea typeface="Noto Sans CJK JP" pitchFamily="34" charset="-122"/>
                <a:cs typeface="Noto Sans CJK JP" pitchFamily="34" charset="-120"/>
              </a:rPr>
              <a:t>→</a:t>
            </a:r>
            <a:endParaRPr lang="en-US" sz="2400" dirty="0"/>
          </a:p>
        </p:txBody>
      </p:sp>
      <p:sp>
        <p:nvSpPr>
          <p:cNvPr id="27" name="Text 22"/>
          <p:cNvSpPr/>
          <p:nvPr/>
        </p:nvSpPr>
        <p:spPr>
          <a:xfrm>
            <a:off x="7863840" y="3383280"/>
            <a:ext cx="457200" cy="365760"/>
          </a:xfrm>
          <a:prstGeom prst="rect">
            <a:avLst/>
          </a:prstGeom>
          <a:noFill/>
          <a:ln/>
        </p:spPr>
        <p:txBody>
          <a:bodyPr wrap="square" lIns="0" tIns="0" rIns="0" bIns="0" rtlCol="0" anchor="ctr"/>
          <a:lstStyle/>
          <a:p>
            <a:pPr algn="ctr" indent="0" marL="0">
              <a:buNone/>
            </a:pPr>
            <a:r>
              <a:rPr lang="en-US" sz="2200" b="1" dirty="0">
                <a:solidFill>
                  <a:srgbClr val="B4587A"/>
                </a:solidFill>
                <a:latin typeface="Noto Sans CJK JP" pitchFamily="34" charset="0"/>
                <a:ea typeface="Noto Sans CJK JP" pitchFamily="34" charset="-122"/>
                <a:cs typeface="Noto Sans CJK JP" pitchFamily="34" charset="-120"/>
              </a:rPr>
              <a:t>↓</a:t>
            </a:r>
            <a:endParaRPr lang="en-US" sz="2200" dirty="0"/>
          </a:p>
        </p:txBody>
      </p:sp>
      <p:sp>
        <p:nvSpPr>
          <p:cNvPr id="28" name="Text 23"/>
          <p:cNvSpPr/>
          <p:nvPr/>
        </p:nvSpPr>
        <p:spPr>
          <a:xfrm>
            <a:off x="6035040" y="4160520"/>
            <a:ext cx="822960" cy="502920"/>
          </a:xfrm>
          <a:prstGeom prst="rect">
            <a:avLst/>
          </a:prstGeom>
          <a:noFill/>
          <a:ln/>
        </p:spPr>
        <p:txBody>
          <a:bodyPr wrap="square" lIns="0" tIns="0" rIns="0" bIns="0" rtlCol="0" anchor="ctr"/>
          <a:lstStyle/>
          <a:p>
            <a:pPr algn="ctr" indent="0" marL="0">
              <a:buNone/>
            </a:pPr>
            <a:r>
              <a:rPr lang="en-US" sz="2400" b="1" dirty="0">
                <a:solidFill>
                  <a:srgbClr val="B4587A"/>
                </a:solidFill>
                <a:latin typeface="Noto Sans CJK JP" pitchFamily="34" charset="0"/>
                <a:ea typeface="Noto Sans CJK JP" pitchFamily="34" charset="-122"/>
                <a:cs typeface="Noto Sans CJK JP" pitchFamily="34" charset="-120"/>
              </a:rPr>
              <a:t>←</a:t>
            </a:r>
            <a:endParaRPr lang="en-US" sz="2400" dirty="0"/>
          </a:p>
        </p:txBody>
      </p:sp>
      <p:sp>
        <p:nvSpPr>
          <p:cNvPr id="29" name="Text 24"/>
          <p:cNvSpPr/>
          <p:nvPr/>
        </p:nvSpPr>
        <p:spPr>
          <a:xfrm>
            <a:off x="4480560" y="3383280"/>
            <a:ext cx="457200" cy="365760"/>
          </a:xfrm>
          <a:prstGeom prst="rect">
            <a:avLst/>
          </a:prstGeom>
          <a:noFill/>
          <a:ln/>
        </p:spPr>
        <p:txBody>
          <a:bodyPr wrap="square" lIns="0" tIns="0" rIns="0" bIns="0" rtlCol="0" anchor="ctr"/>
          <a:lstStyle/>
          <a:p>
            <a:pPr algn="ctr" indent="0" marL="0">
              <a:buNone/>
            </a:pPr>
            <a:r>
              <a:rPr lang="en-US" sz="2200" b="1" dirty="0">
                <a:solidFill>
                  <a:srgbClr val="B4587A"/>
                </a:solidFill>
                <a:latin typeface="Noto Sans CJK JP" pitchFamily="34" charset="0"/>
                <a:ea typeface="Noto Sans CJK JP" pitchFamily="34" charset="-122"/>
                <a:cs typeface="Noto Sans CJK JP" pitchFamily="34" charset="-120"/>
              </a:rPr>
              <a:t>↑</a:t>
            </a:r>
            <a:endParaRPr lang="en-US" sz="2200" dirty="0"/>
          </a:p>
        </p:txBody>
      </p:sp>
      <p:pic>
        <p:nvPicPr>
          <p:cNvPr id="30" name="Image 3" descr="preencoded.png">    </p:cNvPr>
          <p:cNvPicPr>
            <a:picLocks noChangeAspect="1"/>
          </p:cNvPicPr>
          <p:nvPr/>
        </p:nvPicPr>
        <p:blipFill>
          <a:blip r:embed="rId4"/>
          <a:stretch>
            <a:fillRect/>
          </a:stretch>
        </p:blipFill>
        <p:spPr>
          <a:xfrm>
            <a:off x="5806440" y="3200400"/>
            <a:ext cx="502920" cy="502920"/>
          </a:xfrm>
          <a:prstGeom prst="rect">
            <a:avLst/>
          </a:prstGeom>
        </p:spPr>
      </p:pic>
      <p:sp>
        <p:nvSpPr>
          <p:cNvPr id="31" name="Shape 25"/>
          <p:cNvSpPr/>
          <p:nvPr/>
        </p:nvSpPr>
        <p:spPr>
          <a:xfrm>
            <a:off x="548640" y="5440680"/>
            <a:ext cx="11064240" cy="868680"/>
          </a:xfrm>
          <a:prstGeom prst="roundRect">
            <a:avLst>
              <a:gd name="adj" fmla="val 10526"/>
            </a:avLst>
          </a:prstGeom>
          <a:solidFill>
            <a:srgbClr val="FBF1F4"/>
          </a:solidFill>
          <a:ln w="12700">
            <a:solidFill>
              <a:srgbClr val="EBB4C4"/>
            </a:solidFill>
            <a:prstDash val="solid"/>
          </a:ln>
        </p:spPr>
      </p:sp>
      <p:pic>
        <p:nvPicPr>
          <p:cNvPr id="32" name="Image 4" descr="preencoded.png">    </p:cNvPr>
          <p:cNvPicPr>
            <a:picLocks noChangeAspect="1"/>
          </p:cNvPicPr>
          <p:nvPr/>
        </p:nvPicPr>
        <p:blipFill>
          <a:blip r:embed="rId5"/>
          <a:stretch>
            <a:fillRect/>
          </a:stretch>
        </p:blipFill>
        <p:spPr>
          <a:xfrm>
            <a:off x="749808" y="5591556"/>
            <a:ext cx="566928" cy="566928"/>
          </a:xfrm>
          <a:prstGeom prst="rect">
            <a:avLst/>
          </a:prstGeom>
        </p:spPr>
      </p:pic>
      <p:sp>
        <p:nvSpPr>
          <p:cNvPr id="33" name="Text 26"/>
          <p:cNvSpPr/>
          <p:nvPr/>
        </p:nvSpPr>
        <p:spPr>
          <a:xfrm>
            <a:off x="1508760" y="5440680"/>
            <a:ext cx="9875520" cy="868680"/>
          </a:xfrm>
          <a:prstGeom prst="rect">
            <a:avLst/>
          </a:prstGeom>
          <a:noFill/>
          <a:ln/>
        </p:spPr>
        <p:txBody>
          <a:bodyPr wrap="square" lIns="0" tIns="0" rIns="0" bIns="0" rtlCol="0" anchor="ctr"/>
          <a:lstStyle/>
          <a:p>
            <a:pPr indent="0" marL="0">
              <a:lnSpc>
                <a:spcPct val="114000"/>
              </a:lnSpc>
              <a:buNone/>
            </a:pPr>
            <a:r>
              <a:rPr lang="en-US" sz="1350" b="1" dirty="0">
                <a:solidFill>
                  <a:srgbClr val="8E3556"/>
                </a:solidFill>
                <a:latin typeface="Noto Sans CJK JP" pitchFamily="34" charset="0"/>
                <a:ea typeface="Noto Sans CJK JP" pitchFamily="34" charset="-122"/>
                <a:cs typeface="Noto Sans CJK JP" pitchFamily="34" charset="-120"/>
              </a:rPr>
              <a:t>気づき　</a:t>
            </a:r>
            <a:pPr indent="0" marL="0">
              <a:lnSpc>
                <a:spcPct val="114000"/>
              </a:lnSpc>
              <a:buNone/>
            </a:pPr>
            <a:r>
              <a:rPr lang="en-US" sz="1350" dirty="0">
                <a:solidFill>
                  <a:srgbClr val="3A2C31"/>
                </a:solidFill>
                <a:latin typeface="Noto Sans CJK JP" pitchFamily="34" charset="0"/>
                <a:ea typeface="Noto Sans CJK JP" pitchFamily="34" charset="-122"/>
                <a:cs typeface="Noto Sans CJK JP" pitchFamily="34" charset="-120"/>
              </a:rPr>
              <a:t>仕組み①〜③は、あなたの判断軸を“外化（E）”する作業そのもの。研修講師の本業＝暗黙知を形式知に変える仕事と同じスキルです（Nonaka, 1994）。</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10896"/>
          </a:xfrm>
          <a:prstGeom prst="rect">
            <a:avLst/>
          </a:prstGeom>
          <a:solidFill>
            <a:srgbClr val="574039"/>
          </a:solidFill>
          <a:ln/>
        </p:spPr>
      </p:sp>
      <p:pic>
        <p:nvPicPr>
          <p:cNvPr id="3" name="Image 0" descr="preencoded.png">    </p:cNvPr>
          <p:cNvPicPr>
            <a:picLocks noChangeAspect="1"/>
          </p:cNvPicPr>
          <p:nvPr/>
        </p:nvPicPr>
        <p:blipFill>
          <a:blip r:embed="rId1"/>
          <a:stretch>
            <a:fillRect/>
          </a:stretch>
        </p:blipFill>
        <p:spPr>
          <a:xfrm>
            <a:off x="457200" y="54864"/>
            <a:ext cx="201168" cy="201168"/>
          </a:xfrm>
          <a:prstGeom prst="rect">
            <a:avLst/>
          </a:prstGeom>
        </p:spPr>
      </p:pic>
      <p:sp>
        <p:nvSpPr>
          <p:cNvPr id="4" name="Text 1"/>
          <p:cNvSpPr/>
          <p:nvPr/>
        </p:nvSpPr>
        <p:spPr>
          <a:xfrm>
            <a:off x="731520" y="0"/>
            <a:ext cx="4572000" cy="310896"/>
          </a:xfrm>
          <a:prstGeom prst="rect">
            <a:avLst/>
          </a:prstGeom>
          <a:noFill/>
          <a:ln/>
        </p:spPr>
        <p:txBody>
          <a:bodyPr wrap="square" lIns="0" tIns="0" rIns="0" bIns="0" rtlCol="0" anchor="ctr"/>
          <a:lstStyle/>
          <a:p>
            <a:pPr indent="0" marL="0">
              <a:buNone/>
            </a:pPr>
            <a:r>
              <a:rPr lang="en-US" sz="1000" dirty="0">
                <a:solidFill>
                  <a:srgbClr val="F4E9E2"/>
                </a:solidFill>
                <a:latin typeface="Noto Sans CJK JP" pitchFamily="34" charset="0"/>
                <a:ea typeface="Noto Sans CJK JP" pitchFamily="34" charset="-122"/>
                <a:cs typeface="Noto Sans CJK JP" pitchFamily="34" charset="-120"/>
              </a:rPr>
              <a:t>うさうさ研修工房</a:t>
            </a:r>
            <a:endParaRPr lang="en-US" sz="1000" dirty="0"/>
          </a:p>
        </p:txBody>
      </p:sp>
      <p:sp>
        <p:nvSpPr>
          <p:cNvPr id="5" name="Text 2"/>
          <p:cNvSpPr/>
          <p:nvPr/>
        </p:nvSpPr>
        <p:spPr>
          <a:xfrm>
            <a:off x="7132320" y="0"/>
            <a:ext cx="45720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合意設計 ・ 考えさせる編</a:t>
            </a:r>
            <a:endParaRPr lang="en-US" sz="1000" dirty="0"/>
          </a:p>
        </p:txBody>
      </p:sp>
      <p:sp>
        <p:nvSpPr>
          <p:cNvPr id="6" name="Shape 3"/>
          <p:cNvSpPr/>
          <p:nvPr/>
        </p:nvSpPr>
        <p:spPr>
          <a:xfrm>
            <a:off x="0" y="6547104"/>
            <a:ext cx="12161520" cy="310896"/>
          </a:xfrm>
          <a:prstGeom prst="rect">
            <a:avLst/>
          </a:prstGeom>
          <a:solidFill>
            <a:srgbClr val="574039"/>
          </a:solidFill>
          <a:ln/>
        </p:spPr>
      </p:sp>
      <p:pic>
        <p:nvPicPr>
          <p:cNvPr id="7" name="Image 1" descr="preencoded.png">    </p:cNvPr>
          <p:cNvPicPr>
            <a:picLocks noChangeAspect="1"/>
          </p:cNvPicPr>
          <p:nvPr/>
        </p:nvPicPr>
        <p:blipFill>
          <a:blip r:embed="rId2"/>
          <a:stretch>
            <a:fillRect/>
          </a:stretch>
        </p:blipFill>
        <p:spPr>
          <a:xfrm>
            <a:off x="457200" y="6601968"/>
            <a:ext cx="201168" cy="201168"/>
          </a:xfrm>
          <a:prstGeom prst="rect">
            <a:avLst/>
          </a:prstGeom>
        </p:spPr>
      </p:pic>
      <p:sp>
        <p:nvSpPr>
          <p:cNvPr id="8" name="Text 4"/>
          <p:cNvSpPr/>
          <p:nvPr/>
        </p:nvSpPr>
        <p:spPr>
          <a:xfrm>
            <a:off x="731520" y="6547104"/>
            <a:ext cx="5486400" cy="310896"/>
          </a:xfrm>
          <a:prstGeom prst="rect">
            <a:avLst/>
          </a:prstGeom>
          <a:noFill/>
          <a:ln/>
        </p:spPr>
        <p:txBody>
          <a:bodyPr wrap="square" lIns="0" tIns="0" rIns="0" bIns="0" rtlCol="0" anchor="ctr"/>
          <a:lstStyle/>
          <a:p>
            <a:pPr indent="0" marL="0">
              <a:buNone/>
            </a:pPr>
            <a:r>
              <a:rPr lang="en-US" sz="950" dirty="0">
                <a:solidFill>
                  <a:srgbClr val="F4E9E2"/>
                </a:solidFill>
                <a:latin typeface="Noto Sans CJK JP" pitchFamily="34" charset="0"/>
                <a:ea typeface="Noto Sans CJK JP" pitchFamily="34" charset="-122"/>
                <a:cs typeface="Noto Sans CJK JP" pitchFamily="34" charset="-120"/>
              </a:rPr>
              <a:t>面白きこともなき世を面白く 🐰</a:t>
            </a:r>
            <a:endParaRPr lang="en-US" sz="950" dirty="0"/>
          </a:p>
        </p:txBody>
      </p:sp>
      <p:sp>
        <p:nvSpPr>
          <p:cNvPr id="9" name="Text 5"/>
          <p:cNvSpPr/>
          <p:nvPr/>
        </p:nvSpPr>
        <p:spPr>
          <a:xfrm>
            <a:off x="11247120" y="6547104"/>
            <a:ext cx="4572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12</a:t>
            </a:r>
            <a:endParaRPr lang="en-US" sz="1000" dirty="0"/>
          </a:p>
        </p:txBody>
      </p:sp>
      <p:sp>
        <p:nvSpPr>
          <p:cNvPr id="10" name="Shape 6"/>
          <p:cNvSpPr/>
          <p:nvPr/>
        </p:nvSpPr>
        <p:spPr>
          <a:xfrm>
            <a:off x="502920" y="502920"/>
            <a:ext cx="749808" cy="749808"/>
          </a:xfrm>
          <a:prstGeom prst="ellipse">
            <a:avLst/>
          </a:prstGeom>
          <a:solidFill>
            <a:srgbClr val="B4587A"/>
          </a:solidFill>
          <a:ln/>
        </p:spPr>
      </p:sp>
      <p:pic>
        <p:nvPicPr>
          <p:cNvPr id="11" name="Image 2" descr="preencoded.png">    </p:cNvPr>
          <p:cNvPicPr>
            <a:picLocks noChangeAspect="1"/>
          </p:cNvPicPr>
          <p:nvPr/>
        </p:nvPicPr>
        <p:blipFill>
          <a:blip r:embed="rId3"/>
          <a:stretch>
            <a:fillRect/>
          </a:stretch>
        </p:blipFill>
        <p:spPr>
          <a:xfrm>
            <a:off x="705368" y="705368"/>
            <a:ext cx="344912" cy="344912"/>
          </a:xfrm>
          <a:prstGeom prst="rect">
            <a:avLst/>
          </a:prstGeom>
        </p:spPr>
      </p:pic>
      <p:sp>
        <p:nvSpPr>
          <p:cNvPr id="12" name="Text 7"/>
          <p:cNvSpPr/>
          <p:nvPr/>
        </p:nvSpPr>
        <p:spPr>
          <a:xfrm>
            <a:off x="1389888" y="502920"/>
            <a:ext cx="10332720" cy="749808"/>
          </a:xfrm>
          <a:prstGeom prst="rect">
            <a:avLst/>
          </a:prstGeom>
          <a:noFill/>
          <a:ln/>
        </p:spPr>
        <p:txBody>
          <a:bodyPr wrap="square" lIns="0" tIns="0" rIns="0" bIns="0" rtlCol="0" anchor="ctr"/>
          <a:lstStyle/>
          <a:p>
            <a:pPr indent="0" marL="0">
              <a:buNone/>
            </a:pPr>
            <a:r>
              <a:rPr lang="en-US" sz="2600" b="1" dirty="0">
                <a:solidFill>
                  <a:srgbClr val="CFA15C"/>
                </a:solidFill>
                <a:latin typeface="Noto Sans CJK JP" pitchFamily="34" charset="0"/>
                <a:ea typeface="Noto Sans CJK JP" pitchFamily="34" charset="-122"/>
                <a:cs typeface="Noto Sans CJK JP" pitchFamily="34" charset="-120"/>
              </a:rPr>
              <a:t>05  </a:t>
            </a:r>
            <a:pPr indent="0" marL="0">
              <a:buNone/>
            </a:pPr>
            <a:r>
              <a:rPr lang="en-US" sz="2600" b="1" dirty="0">
                <a:solidFill>
                  <a:srgbClr val="8E3556"/>
                </a:solidFill>
                <a:latin typeface="Noto Sans CJK JP" pitchFamily="34" charset="0"/>
                <a:ea typeface="Noto Sans CJK JP" pitchFamily="34" charset="-122"/>
                <a:cs typeface="Noto Sans CJK JP" pitchFamily="34" charset="-120"/>
              </a:rPr>
              <a:t>チェックリストは効く ── 実証されている</a:t>
            </a:r>
            <a:endParaRPr lang="en-US" sz="2600" dirty="0"/>
          </a:p>
        </p:txBody>
      </p:sp>
      <p:sp>
        <p:nvSpPr>
          <p:cNvPr id="13" name="Text 8"/>
          <p:cNvSpPr/>
          <p:nvPr/>
        </p:nvSpPr>
        <p:spPr>
          <a:xfrm>
            <a:off x="521208" y="1371600"/>
            <a:ext cx="10972800" cy="320040"/>
          </a:xfrm>
          <a:prstGeom prst="rect">
            <a:avLst/>
          </a:prstGeom>
          <a:noFill/>
          <a:ln/>
        </p:spPr>
        <p:txBody>
          <a:bodyPr wrap="square" lIns="0" tIns="0" rIns="0" bIns="0" rtlCol="0" anchor="ctr"/>
          <a:lstStyle/>
          <a:p>
            <a:pPr indent="0" marL="0">
              <a:buNone/>
            </a:pPr>
            <a:r>
              <a:rPr lang="en-US" sz="1350" dirty="0">
                <a:solidFill>
                  <a:srgbClr val="9A8890"/>
                </a:solidFill>
                <a:latin typeface="Noto Sans CJK JP" pitchFamily="34" charset="0"/>
                <a:ea typeface="Noto Sans CJK JP" pitchFamily="34" charset="-122"/>
                <a:cs typeface="Noto Sans CJK JP" pitchFamily="34" charset="-120"/>
              </a:rPr>
              <a:t>「ベテランに補助輪は不要」は誤解。熟練者ですら見落とす“当たり前”を確実に拾う仕組み。</a:t>
            </a:r>
            <a:endParaRPr lang="en-US" sz="1350" dirty="0"/>
          </a:p>
        </p:txBody>
      </p:sp>
      <p:sp>
        <p:nvSpPr>
          <p:cNvPr id="14" name="Shape 9"/>
          <p:cNvSpPr/>
          <p:nvPr/>
        </p:nvSpPr>
        <p:spPr>
          <a:xfrm>
            <a:off x="640080" y="1965960"/>
            <a:ext cx="3566160" cy="2331720"/>
          </a:xfrm>
          <a:prstGeom prst="roundRect">
            <a:avLst>
              <a:gd name="adj" fmla="val 4706"/>
            </a:avLst>
          </a:prstGeom>
          <a:solidFill>
            <a:srgbClr val="FBF1F4"/>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15" name="Text 10"/>
          <p:cNvSpPr/>
          <p:nvPr/>
        </p:nvSpPr>
        <p:spPr>
          <a:xfrm>
            <a:off x="822960" y="2240280"/>
            <a:ext cx="3200400" cy="914400"/>
          </a:xfrm>
          <a:prstGeom prst="rect">
            <a:avLst/>
          </a:prstGeom>
          <a:noFill/>
          <a:ln/>
        </p:spPr>
        <p:txBody>
          <a:bodyPr wrap="square" lIns="0" tIns="0" rIns="0" bIns="0" rtlCol="0" anchor="ctr"/>
          <a:lstStyle/>
          <a:p>
            <a:pPr algn="ctr" indent="0" marL="0">
              <a:buNone/>
            </a:pPr>
            <a:r>
              <a:rPr lang="en-US" sz="3400" b="1" dirty="0">
                <a:solidFill>
                  <a:srgbClr val="8E3556"/>
                </a:solidFill>
                <a:latin typeface="Noto Sans CJK JP" pitchFamily="34" charset="0"/>
                <a:ea typeface="Noto Sans CJK JP" pitchFamily="34" charset="-122"/>
                <a:cs typeface="Noto Sans CJK JP" pitchFamily="34" charset="-120"/>
              </a:rPr>
              <a:t>11% → 7%</a:t>
            </a:r>
            <a:endParaRPr lang="en-US" sz="3400" dirty="0"/>
          </a:p>
        </p:txBody>
      </p:sp>
      <p:sp>
        <p:nvSpPr>
          <p:cNvPr id="16" name="Text 11"/>
          <p:cNvSpPr/>
          <p:nvPr/>
        </p:nvSpPr>
        <p:spPr>
          <a:xfrm>
            <a:off x="822960" y="3200400"/>
            <a:ext cx="3200400" cy="457200"/>
          </a:xfrm>
          <a:prstGeom prst="rect">
            <a:avLst/>
          </a:prstGeom>
          <a:noFill/>
          <a:ln/>
        </p:spPr>
        <p:txBody>
          <a:bodyPr wrap="square" lIns="0" tIns="0" rIns="0" bIns="0" rtlCol="0" anchor="ctr"/>
          <a:lstStyle/>
          <a:p>
            <a:pPr algn="ctr" indent="0" marL="0">
              <a:buNone/>
            </a:pPr>
            <a:r>
              <a:rPr lang="en-US" sz="1700" b="1" dirty="0">
                <a:solidFill>
                  <a:srgbClr val="8E3556"/>
                </a:solidFill>
                <a:latin typeface="Noto Sans CJK JP" pitchFamily="34" charset="0"/>
                <a:ea typeface="Noto Sans CJK JP" pitchFamily="34" charset="-122"/>
                <a:cs typeface="Noto Sans CJK JP" pitchFamily="34" charset="-120"/>
              </a:rPr>
              <a:t>主要合併症</a:t>
            </a:r>
            <a:endParaRPr lang="en-US" sz="1700" dirty="0"/>
          </a:p>
        </p:txBody>
      </p:sp>
      <p:sp>
        <p:nvSpPr>
          <p:cNvPr id="17" name="Text 12"/>
          <p:cNvSpPr/>
          <p:nvPr/>
        </p:nvSpPr>
        <p:spPr>
          <a:xfrm>
            <a:off x="868680" y="3703320"/>
            <a:ext cx="3108960" cy="502920"/>
          </a:xfrm>
          <a:prstGeom prst="rect">
            <a:avLst/>
          </a:prstGeom>
          <a:noFill/>
          <a:ln/>
        </p:spPr>
        <p:txBody>
          <a:bodyPr wrap="square" lIns="0" tIns="0" rIns="0" bIns="0" rtlCol="0" anchor="ctr"/>
          <a:lstStyle/>
          <a:p>
            <a:pPr algn="ctr" indent="0" marL="0">
              <a:buNone/>
            </a:pPr>
            <a:r>
              <a:rPr lang="en-US" sz="1200" dirty="0">
                <a:solidFill>
                  <a:srgbClr val="9A8890"/>
                </a:solidFill>
                <a:latin typeface="Noto Sans CJK JP" pitchFamily="34" charset="0"/>
                <a:ea typeface="Noto Sans CJK JP" pitchFamily="34" charset="-122"/>
                <a:cs typeface="Noto Sans CJK JP" pitchFamily="34" charset="-120"/>
              </a:rPr>
              <a:t>世界8都市の病院で低下</a:t>
            </a:r>
            <a:endParaRPr lang="en-US" sz="1200" dirty="0"/>
          </a:p>
        </p:txBody>
      </p:sp>
      <p:sp>
        <p:nvSpPr>
          <p:cNvPr id="18" name="Shape 13"/>
          <p:cNvSpPr/>
          <p:nvPr/>
        </p:nvSpPr>
        <p:spPr>
          <a:xfrm>
            <a:off x="4480560" y="1965960"/>
            <a:ext cx="3566160" cy="2331720"/>
          </a:xfrm>
          <a:prstGeom prst="roundRect">
            <a:avLst>
              <a:gd name="adj" fmla="val 4706"/>
            </a:avLst>
          </a:prstGeom>
          <a:solidFill>
            <a:srgbClr val="B4587A"/>
          </a:solidFill>
          <a:ln w="12700">
            <a:solidFill>
              <a:srgbClr val="B4587A"/>
            </a:solidFill>
            <a:prstDash val="solid"/>
          </a:ln>
          <a:effectLst>
            <a:outerShdw sx="100000" sy="100000" kx="0" ky="0" algn="bl" rotWithShape="0" blurRad="76200" dist="25400" dir="5400000">
              <a:srgbClr val="000000">
                <a:alpha val="10000"/>
              </a:srgbClr>
            </a:outerShdw>
          </a:effectLst>
        </p:spPr>
      </p:sp>
      <p:sp>
        <p:nvSpPr>
          <p:cNvPr id="19" name="Text 14"/>
          <p:cNvSpPr/>
          <p:nvPr/>
        </p:nvSpPr>
        <p:spPr>
          <a:xfrm>
            <a:off x="4663440" y="2240280"/>
            <a:ext cx="3200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Noto Sans CJK JP" pitchFamily="34" charset="0"/>
                <a:ea typeface="Noto Sans CJK JP" pitchFamily="34" charset="-122"/>
                <a:cs typeface="Noto Sans CJK JP" pitchFamily="34" charset="-120"/>
              </a:rPr>
              <a:t>1.5% → 0.8%</a:t>
            </a:r>
            <a:endParaRPr lang="en-US" sz="3400" dirty="0"/>
          </a:p>
        </p:txBody>
      </p:sp>
      <p:sp>
        <p:nvSpPr>
          <p:cNvPr id="20" name="Text 15"/>
          <p:cNvSpPr/>
          <p:nvPr/>
        </p:nvSpPr>
        <p:spPr>
          <a:xfrm>
            <a:off x="4663440" y="3200400"/>
            <a:ext cx="32004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Noto Sans CJK JP" pitchFamily="34" charset="0"/>
                <a:ea typeface="Noto Sans CJK JP" pitchFamily="34" charset="-122"/>
                <a:cs typeface="Noto Sans CJK JP" pitchFamily="34" charset="-120"/>
              </a:rPr>
              <a:t>院内死亡</a:t>
            </a:r>
            <a:endParaRPr lang="en-US" sz="1700" dirty="0"/>
          </a:p>
        </p:txBody>
      </p:sp>
      <p:sp>
        <p:nvSpPr>
          <p:cNvPr id="21" name="Text 16"/>
          <p:cNvSpPr/>
          <p:nvPr/>
        </p:nvSpPr>
        <p:spPr>
          <a:xfrm>
            <a:off x="4709160" y="3703320"/>
            <a:ext cx="3108960" cy="502920"/>
          </a:xfrm>
          <a:prstGeom prst="rect">
            <a:avLst/>
          </a:prstGeom>
          <a:noFill/>
          <a:ln/>
        </p:spPr>
        <p:txBody>
          <a:bodyPr wrap="square" lIns="0" tIns="0" rIns="0" bIns="0" rtlCol="0" anchor="ctr"/>
          <a:lstStyle/>
          <a:p>
            <a:pPr algn="ctr" indent="0" marL="0">
              <a:buNone/>
            </a:pPr>
            <a:r>
              <a:rPr lang="en-US" sz="1200" dirty="0">
                <a:solidFill>
                  <a:srgbClr val="FBEFF3"/>
                </a:solidFill>
                <a:latin typeface="Noto Sans CJK JP" pitchFamily="34" charset="0"/>
                <a:ea typeface="Noto Sans CJK JP" pitchFamily="34" charset="-122"/>
                <a:cs typeface="Noto Sans CJK JP" pitchFamily="34" charset="-120"/>
              </a:rPr>
              <a:t>40%超の減少</a:t>
            </a:r>
            <a:endParaRPr lang="en-US" sz="1200" dirty="0"/>
          </a:p>
        </p:txBody>
      </p:sp>
      <p:sp>
        <p:nvSpPr>
          <p:cNvPr id="22" name="Shape 17"/>
          <p:cNvSpPr/>
          <p:nvPr/>
        </p:nvSpPr>
        <p:spPr>
          <a:xfrm>
            <a:off x="8321040" y="1965960"/>
            <a:ext cx="3566160" cy="2331720"/>
          </a:xfrm>
          <a:prstGeom prst="roundRect">
            <a:avLst>
              <a:gd name="adj" fmla="val 4706"/>
            </a:avLst>
          </a:prstGeom>
          <a:solidFill>
            <a:srgbClr val="FBF1F4"/>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23" name="Text 18"/>
          <p:cNvSpPr/>
          <p:nvPr/>
        </p:nvSpPr>
        <p:spPr>
          <a:xfrm>
            <a:off x="8503920" y="2240280"/>
            <a:ext cx="3200400" cy="914400"/>
          </a:xfrm>
          <a:prstGeom prst="rect">
            <a:avLst/>
          </a:prstGeom>
          <a:noFill/>
          <a:ln/>
        </p:spPr>
        <p:txBody>
          <a:bodyPr wrap="square" lIns="0" tIns="0" rIns="0" bIns="0" rtlCol="0" anchor="ctr"/>
          <a:lstStyle/>
          <a:p>
            <a:pPr algn="ctr" indent="0" marL="0">
              <a:buNone/>
            </a:pPr>
            <a:r>
              <a:rPr lang="en-US" sz="3400" b="1" dirty="0">
                <a:solidFill>
                  <a:srgbClr val="8E3556"/>
                </a:solidFill>
                <a:latin typeface="Noto Sans CJK JP" pitchFamily="34" charset="0"/>
                <a:ea typeface="Noto Sans CJK JP" pitchFamily="34" charset="-122"/>
                <a:cs typeface="Noto Sans CJK JP" pitchFamily="34" charset="-120"/>
              </a:rPr>
              <a:t>19項目</a:t>
            </a:r>
            <a:endParaRPr lang="en-US" sz="3400" dirty="0"/>
          </a:p>
        </p:txBody>
      </p:sp>
      <p:sp>
        <p:nvSpPr>
          <p:cNvPr id="24" name="Text 19"/>
          <p:cNvSpPr/>
          <p:nvPr/>
        </p:nvSpPr>
        <p:spPr>
          <a:xfrm>
            <a:off x="8503920" y="3200400"/>
            <a:ext cx="3200400" cy="457200"/>
          </a:xfrm>
          <a:prstGeom prst="rect">
            <a:avLst/>
          </a:prstGeom>
          <a:noFill/>
          <a:ln/>
        </p:spPr>
        <p:txBody>
          <a:bodyPr wrap="square" lIns="0" tIns="0" rIns="0" bIns="0" rtlCol="0" anchor="ctr"/>
          <a:lstStyle/>
          <a:p>
            <a:pPr algn="ctr" indent="0" marL="0">
              <a:buNone/>
            </a:pPr>
            <a:r>
              <a:rPr lang="en-US" sz="1700" b="1" dirty="0">
                <a:solidFill>
                  <a:srgbClr val="8E3556"/>
                </a:solidFill>
                <a:latin typeface="Noto Sans CJK JP" pitchFamily="34" charset="0"/>
                <a:ea typeface="Noto Sans CJK JP" pitchFamily="34" charset="-122"/>
                <a:cs typeface="Noto Sans CJK JP" pitchFamily="34" charset="-120"/>
              </a:rPr>
              <a:t>チェックリスト</a:t>
            </a:r>
            <a:endParaRPr lang="en-US" sz="1700" dirty="0"/>
          </a:p>
        </p:txBody>
      </p:sp>
      <p:sp>
        <p:nvSpPr>
          <p:cNvPr id="25" name="Text 20"/>
          <p:cNvSpPr/>
          <p:nvPr/>
        </p:nvSpPr>
        <p:spPr>
          <a:xfrm>
            <a:off x="8549640" y="3703320"/>
            <a:ext cx="3108960" cy="502920"/>
          </a:xfrm>
          <a:prstGeom prst="rect">
            <a:avLst/>
          </a:prstGeom>
          <a:noFill/>
          <a:ln/>
        </p:spPr>
        <p:txBody>
          <a:bodyPr wrap="square" lIns="0" tIns="0" rIns="0" bIns="0" rtlCol="0" anchor="ctr"/>
          <a:lstStyle/>
          <a:p>
            <a:pPr algn="ctr" indent="0" marL="0">
              <a:buNone/>
            </a:pPr>
            <a:r>
              <a:rPr lang="en-US" sz="1200" dirty="0">
                <a:solidFill>
                  <a:srgbClr val="9A8890"/>
                </a:solidFill>
                <a:latin typeface="Noto Sans CJK JP" pitchFamily="34" charset="0"/>
                <a:ea typeface="Noto Sans CJK JP" pitchFamily="34" charset="-122"/>
                <a:cs typeface="Noto Sans CJK JP" pitchFamily="34" charset="-120"/>
              </a:rPr>
              <a:t>サインイン/タイムアウト/サインアウト</a:t>
            </a:r>
            <a:endParaRPr lang="en-US" sz="1200" dirty="0"/>
          </a:p>
        </p:txBody>
      </p:sp>
      <p:sp>
        <p:nvSpPr>
          <p:cNvPr id="26" name="Shape 21"/>
          <p:cNvSpPr/>
          <p:nvPr/>
        </p:nvSpPr>
        <p:spPr>
          <a:xfrm>
            <a:off x="640080" y="4709160"/>
            <a:ext cx="10972800" cy="1280160"/>
          </a:xfrm>
          <a:prstGeom prst="roundRect">
            <a:avLst>
              <a:gd name="adj" fmla="val 7143"/>
            </a:avLst>
          </a:prstGeom>
          <a:solidFill>
            <a:srgbClr val="FBF1F4"/>
          </a:solidFill>
          <a:ln w="12700">
            <a:solidFill>
              <a:srgbClr val="EBB4C4"/>
            </a:solidFill>
            <a:prstDash val="solid"/>
          </a:ln>
        </p:spPr>
      </p:sp>
      <p:pic>
        <p:nvPicPr>
          <p:cNvPr id="27" name="Image 3" descr="preencoded.png">    </p:cNvPr>
          <p:cNvPicPr>
            <a:picLocks noChangeAspect="1"/>
          </p:cNvPicPr>
          <p:nvPr/>
        </p:nvPicPr>
        <p:blipFill>
          <a:blip r:embed="rId4"/>
          <a:stretch>
            <a:fillRect/>
          </a:stretch>
        </p:blipFill>
        <p:spPr>
          <a:xfrm>
            <a:off x="841248" y="5065776"/>
            <a:ext cx="566928" cy="566928"/>
          </a:xfrm>
          <a:prstGeom prst="rect">
            <a:avLst/>
          </a:prstGeom>
        </p:spPr>
      </p:pic>
      <p:sp>
        <p:nvSpPr>
          <p:cNvPr id="28" name="Text 22"/>
          <p:cNvSpPr/>
          <p:nvPr/>
        </p:nvSpPr>
        <p:spPr>
          <a:xfrm>
            <a:off x="1600200" y="4709160"/>
            <a:ext cx="9784080" cy="1280160"/>
          </a:xfrm>
          <a:prstGeom prst="rect">
            <a:avLst/>
          </a:prstGeom>
          <a:noFill/>
          <a:ln/>
        </p:spPr>
        <p:txBody>
          <a:bodyPr wrap="square" lIns="0" tIns="0" rIns="0" bIns="0" rtlCol="0" anchor="ctr"/>
          <a:lstStyle/>
          <a:p>
            <a:pPr indent="0" marL="0">
              <a:lnSpc>
                <a:spcPct val="114000"/>
              </a:lnSpc>
              <a:buNone/>
            </a:pPr>
            <a:r>
              <a:rPr lang="en-US" sz="1350" b="1" dirty="0">
                <a:solidFill>
                  <a:srgbClr val="8E3556"/>
                </a:solidFill>
                <a:latin typeface="Noto Sans CJK JP" pitchFamily="34" charset="0"/>
                <a:ea typeface="Noto Sans CJK JP" pitchFamily="34" charset="-122"/>
                <a:cs typeface="Noto Sans CJK JP" pitchFamily="34" charset="-120"/>
              </a:rPr>
              <a:t>出典　</a:t>
            </a:r>
            <a:pPr indent="0" marL="0">
              <a:lnSpc>
                <a:spcPct val="114000"/>
              </a:lnSpc>
              <a:buNone/>
            </a:pPr>
            <a:r>
              <a:rPr lang="en-US" sz="1350" dirty="0">
                <a:solidFill>
                  <a:srgbClr val="3A2C31"/>
                </a:solidFill>
                <a:latin typeface="Noto Sans CJK JP" pitchFamily="34" charset="0"/>
                <a:ea typeface="Noto Sans CJK JP" pitchFamily="34" charset="-122"/>
                <a:cs typeface="Noto Sans CJK JP" pitchFamily="34" charset="-120"/>
              </a:rPr>
              <a:t>世界トップクラスの外科医がいる現場でもチェックリストは効いた（Haynes et al., 2009, NEJM）。「どこまでやるか」の合意も“当たり前なのに毎回抜ける系”の代表格。だからリスト化する価値があります。</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10896"/>
          </a:xfrm>
          <a:prstGeom prst="rect">
            <a:avLst/>
          </a:prstGeom>
          <a:solidFill>
            <a:srgbClr val="574039"/>
          </a:solidFill>
          <a:ln/>
        </p:spPr>
      </p:sp>
      <p:pic>
        <p:nvPicPr>
          <p:cNvPr id="3" name="Image 0" descr="preencoded.png">    </p:cNvPr>
          <p:cNvPicPr>
            <a:picLocks noChangeAspect="1"/>
          </p:cNvPicPr>
          <p:nvPr/>
        </p:nvPicPr>
        <p:blipFill>
          <a:blip r:embed="rId1"/>
          <a:stretch>
            <a:fillRect/>
          </a:stretch>
        </p:blipFill>
        <p:spPr>
          <a:xfrm>
            <a:off x="457200" y="54864"/>
            <a:ext cx="201168" cy="201168"/>
          </a:xfrm>
          <a:prstGeom prst="rect">
            <a:avLst/>
          </a:prstGeom>
        </p:spPr>
      </p:pic>
      <p:sp>
        <p:nvSpPr>
          <p:cNvPr id="4" name="Text 1"/>
          <p:cNvSpPr/>
          <p:nvPr/>
        </p:nvSpPr>
        <p:spPr>
          <a:xfrm>
            <a:off x="731520" y="0"/>
            <a:ext cx="4572000" cy="310896"/>
          </a:xfrm>
          <a:prstGeom prst="rect">
            <a:avLst/>
          </a:prstGeom>
          <a:noFill/>
          <a:ln/>
        </p:spPr>
        <p:txBody>
          <a:bodyPr wrap="square" lIns="0" tIns="0" rIns="0" bIns="0" rtlCol="0" anchor="ctr"/>
          <a:lstStyle/>
          <a:p>
            <a:pPr indent="0" marL="0">
              <a:buNone/>
            </a:pPr>
            <a:r>
              <a:rPr lang="en-US" sz="1000" dirty="0">
                <a:solidFill>
                  <a:srgbClr val="F4E9E2"/>
                </a:solidFill>
                <a:latin typeface="Noto Sans CJK JP" pitchFamily="34" charset="0"/>
                <a:ea typeface="Noto Sans CJK JP" pitchFamily="34" charset="-122"/>
                <a:cs typeface="Noto Sans CJK JP" pitchFamily="34" charset="-120"/>
              </a:rPr>
              <a:t>うさうさ研修工房</a:t>
            </a:r>
            <a:endParaRPr lang="en-US" sz="1000" dirty="0"/>
          </a:p>
        </p:txBody>
      </p:sp>
      <p:sp>
        <p:nvSpPr>
          <p:cNvPr id="5" name="Text 2"/>
          <p:cNvSpPr/>
          <p:nvPr/>
        </p:nvSpPr>
        <p:spPr>
          <a:xfrm>
            <a:off x="7132320" y="0"/>
            <a:ext cx="45720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合意設計 ・ 考えさせる編</a:t>
            </a:r>
            <a:endParaRPr lang="en-US" sz="1000" dirty="0"/>
          </a:p>
        </p:txBody>
      </p:sp>
      <p:sp>
        <p:nvSpPr>
          <p:cNvPr id="6" name="Shape 3"/>
          <p:cNvSpPr/>
          <p:nvPr/>
        </p:nvSpPr>
        <p:spPr>
          <a:xfrm>
            <a:off x="0" y="6547104"/>
            <a:ext cx="12161520" cy="310896"/>
          </a:xfrm>
          <a:prstGeom prst="rect">
            <a:avLst/>
          </a:prstGeom>
          <a:solidFill>
            <a:srgbClr val="574039"/>
          </a:solidFill>
          <a:ln/>
        </p:spPr>
      </p:sp>
      <p:pic>
        <p:nvPicPr>
          <p:cNvPr id="7" name="Image 1" descr="preencoded.png">    </p:cNvPr>
          <p:cNvPicPr>
            <a:picLocks noChangeAspect="1"/>
          </p:cNvPicPr>
          <p:nvPr/>
        </p:nvPicPr>
        <p:blipFill>
          <a:blip r:embed="rId2"/>
          <a:stretch>
            <a:fillRect/>
          </a:stretch>
        </p:blipFill>
        <p:spPr>
          <a:xfrm>
            <a:off x="457200" y="6601968"/>
            <a:ext cx="201168" cy="201168"/>
          </a:xfrm>
          <a:prstGeom prst="rect">
            <a:avLst/>
          </a:prstGeom>
        </p:spPr>
      </p:pic>
      <p:sp>
        <p:nvSpPr>
          <p:cNvPr id="8" name="Text 4"/>
          <p:cNvSpPr/>
          <p:nvPr/>
        </p:nvSpPr>
        <p:spPr>
          <a:xfrm>
            <a:off x="731520" y="6547104"/>
            <a:ext cx="5486400" cy="310896"/>
          </a:xfrm>
          <a:prstGeom prst="rect">
            <a:avLst/>
          </a:prstGeom>
          <a:noFill/>
          <a:ln/>
        </p:spPr>
        <p:txBody>
          <a:bodyPr wrap="square" lIns="0" tIns="0" rIns="0" bIns="0" rtlCol="0" anchor="ctr"/>
          <a:lstStyle/>
          <a:p>
            <a:pPr indent="0" marL="0">
              <a:buNone/>
            </a:pPr>
            <a:r>
              <a:rPr lang="en-US" sz="950" dirty="0">
                <a:solidFill>
                  <a:srgbClr val="F4E9E2"/>
                </a:solidFill>
                <a:latin typeface="Noto Sans CJK JP" pitchFamily="34" charset="0"/>
                <a:ea typeface="Noto Sans CJK JP" pitchFamily="34" charset="-122"/>
                <a:cs typeface="Noto Sans CJK JP" pitchFamily="34" charset="-120"/>
              </a:rPr>
              <a:t>面白きこともなき世を面白く 🐰</a:t>
            </a:r>
            <a:endParaRPr lang="en-US" sz="950" dirty="0"/>
          </a:p>
        </p:txBody>
      </p:sp>
      <p:sp>
        <p:nvSpPr>
          <p:cNvPr id="9" name="Text 5"/>
          <p:cNvSpPr/>
          <p:nvPr/>
        </p:nvSpPr>
        <p:spPr>
          <a:xfrm>
            <a:off x="11247120" y="6547104"/>
            <a:ext cx="457200" cy="310896"/>
          </a:xfrm>
          <a:prstGeom prst="rect">
            <a:avLst/>
          </a:prstGeom>
          <a:noFill/>
          <a:ln/>
        </p:spPr>
        <p:txBody>
          <a:bodyPr wrap="square" lIns="0" tIns="0" rIns="0" bIns="0" rtlCol="0" anchor="ctr"/>
          <a:lstStyle/>
          <a:p>
            <a:pPr algn="r" indent="0" marL="0">
              <a:buNone/>
            </a:pPr>
            <a:r>
              <a:rPr lang="en-US" sz="1000" dirty="0">
                <a:solidFill>
                  <a:srgbClr val="F4E9E2"/>
                </a:solidFill>
                <a:latin typeface="Noto Sans CJK JP" pitchFamily="34" charset="0"/>
                <a:ea typeface="Noto Sans CJK JP" pitchFamily="34" charset="-122"/>
                <a:cs typeface="Noto Sans CJK JP" pitchFamily="34" charset="-120"/>
              </a:rPr>
              <a:t>13</a:t>
            </a:r>
            <a:endParaRPr lang="en-US" sz="1000" dirty="0"/>
          </a:p>
        </p:txBody>
      </p:sp>
      <p:sp>
        <p:nvSpPr>
          <p:cNvPr id="10" name="Text 6"/>
          <p:cNvSpPr/>
          <p:nvPr/>
        </p:nvSpPr>
        <p:spPr>
          <a:xfrm>
            <a:off x="502920" y="457200"/>
            <a:ext cx="10972800" cy="594360"/>
          </a:xfrm>
          <a:prstGeom prst="rect">
            <a:avLst/>
          </a:prstGeom>
          <a:noFill/>
          <a:ln/>
        </p:spPr>
        <p:txBody>
          <a:bodyPr wrap="square" lIns="0" tIns="0" rIns="0" bIns="0" rtlCol="0" anchor="ctr"/>
          <a:lstStyle/>
          <a:p>
            <a:pPr indent="0" marL="0">
              <a:buNone/>
            </a:pPr>
            <a:r>
              <a:rPr lang="en-US" sz="2600" b="1" dirty="0">
                <a:solidFill>
                  <a:srgbClr val="8E3556"/>
                </a:solidFill>
                <a:latin typeface="Noto Sans CJK JP" pitchFamily="34" charset="0"/>
                <a:ea typeface="Noto Sans CJK JP" pitchFamily="34" charset="-122"/>
                <a:cs typeface="Noto Sans CJK JP" pitchFamily="34" charset="-120"/>
              </a:rPr>
              <a:t>1枚で使える「合意設計チェックリスト」🐰</a:t>
            </a:r>
            <a:endParaRPr lang="en-US" sz="2600" dirty="0"/>
          </a:p>
        </p:txBody>
      </p:sp>
      <p:sp>
        <p:nvSpPr>
          <p:cNvPr id="11" name="Text 7"/>
          <p:cNvSpPr/>
          <p:nvPr/>
        </p:nvSpPr>
        <p:spPr>
          <a:xfrm>
            <a:off x="521208" y="1078992"/>
            <a:ext cx="10972800" cy="320040"/>
          </a:xfrm>
          <a:prstGeom prst="rect">
            <a:avLst/>
          </a:prstGeom>
          <a:noFill/>
          <a:ln/>
        </p:spPr>
        <p:txBody>
          <a:bodyPr wrap="square" lIns="0" tIns="0" rIns="0" bIns="0" rtlCol="0" anchor="ctr"/>
          <a:lstStyle/>
          <a:p>
            <a:pPr indent="0" marL="0">
              <a:buNone/>
            </a:pPr>
            <a:r>
              <a:rPr lang="en-US" sz="1350" dirty="0">
                <a:solidFill>
                  <a:srgbClr val="9A8890"/>
                </a:solidFill>
                <a:latin typeface="Noto Sans CJK JP" pitchFamily="34" charset="0"/>
                <a:ea typeface="Noto Sans CJK JP" pitchFamily="34" charset="-122"/>
                <a:cs typeface="Noto Sans CJK JP" pitchFamily="34" charset="-120"/>
              </a:rPr>
              <a:t>着手前に上から確認するだけ。案件メモに貼って使ってください。</a:t>
            </a:r>
            <a:endParaRPr lang="en-US" sz="1350" dirty="0"/>
          </a:p>
        </p:txBody>
      </p:sp>
      <p:sp>
        <p:nvSpPr>
          <p:cNvPr id="12" name="Shape 8"/>
          <p:cNvSpPr/>
          <p:nvPr/>
        </p:nvSpPr>
        <p:spPr>
          <a:xfrm>
            <a:off x="502920" y="1645920"/>
            <a:ext cx="2743200" cy="4114800"/>
          </a:xfrm>
          <a:prstGeom prst="roundRect">
            <a:avLst>
              <a:gd name="adj" fmla="val 3333"/>
            </a:avLst>
          </a:prstGeom>
          <a:solidFill>
            <a:srgbClr val="FBF1F4"/>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13" name="Shape 9"/>
          <p:cNvSpPr/>
          <p:nvPr/>
        </p:nvSpPr>
        <p:spPr>
          <a:xfrm>
            <a:off x="704088" y="1810512"/>
            <a:ext cx="548640" cy="548640"/>
          </a:xfrm>
          <a:prstGeom prst="ellipse">
            <a:avLst/>
          </a:prstGeom>
          <a:solidFill>
            <a:srgbClr val="B4587A"/>
          </a:solidFill>
          <a:ln/>
        </p:spPr>
      </p:sp>
      <p:pic>
        <p:nvPicPr>
          <p:cNvPr id="14" name="Image 2" descr="preencoded.png">    </p:cNvPr>
          <p:cNvPicPr>
            <a:picLocks noChangeAspect="1"/>
          </p:cNvPicPr>
          <p:nvPr/>
        </p:nvPicPr>
        <p:blipFill>
          <a:blip r:embed="rId3"/>
          <a:stretch>
            <a:fillRect/>
          </a:stretch>
        </p:blipFill>
        <p:spPr>
          <a:xfrm>
            <a:off x="852221" y="1958645"/>
            <a:ext cx="252374" cy="252374"/>
          </a:xfrm>
          <a:prstGeom prst="rect">
            <a:avLst/>
          </a:prstGeom>
        </p:spPr>
      </p:pic>
      <p:sp>
        <p:nvSpPr>
          <p:cNvPr id="15" name="Text 10"/>
          <p:cNvSpPr/>
          <p:nvPr/>
        </p:nvSpPr>
        <p:spPr>
          <a:xfrm>
            <a:off x="1325880" y="1810512"/>
            <a:ext cx="1828800" cy="548640"/>
          </a:xfrm>
          <a:prstGeom prst="rect">
            <a:avLst/>
          </a:prstGeom>
          <a:noFill/>
          <a:ln/>
        </p:spPr>
        <p:txBody>
          <a:bodyPr wrap="square" lIns="0" tIns="0" rIns="0" bIns="0" rtlCol="0" anchor="ctr"/>
          <a:lstStyle/>
          <a:p>
            <a:pPr indent="0" marL="0">
              <a:buNone/>
            </a:pPr>
            <a:r>
              <a:rPr lang="en-US" sz="1400" b="1" dirty="0">
                <a:solidFill>
                  <a:srgbClr val="8E3556"/>
                </a:solidFill>
                <a:latin typeface="Noto Sans CJK JP" pitchFamily="34" charset="0"/>
                <a:ea typeface="Noto Sans CJK JP" pitchFamily="34" charset="-122"/>
                <a:cs typeface="Noto Sans CJK JP" pitchFamily="34" charset="-120"/>
              </a:rPr>
              <a:t>ゴールと範囲</a:t>
            </a:r>
            <a:endParaRPr lang="en-US" sz="1400" dirty="0"/>
          </a:p>
        </p:txBody>
      </p:sp>
      <p:pic>
        <p:nvPicPr>
          <p:cNvPr id="16" name="Image 3" descr="preencoded.png">    </p:cNvPr>
          <p:cNvPicPr>
            <a:picLocks noChangeAspect="1"/>
          </p:cNvPicPr>
          <p:nvPr/>
        </p:nvPicPr>
        <p:blipFill>
          <a:blip r:embed="rId4"/>
          <a:stretch>
            <a:fillRect/>
          </a:stretch>
        </p:blipFill>
        <p:spPr>
          <a:xfrm>
            <a:off x="731520" y="2578608"/>
            <a:ext cx="228600" cy="228600"/>
          </a:xfrm>
          <a:prstGeom prst="rect">
            <a:avLst/>
          </a:prstGeom>
        </p:spPr>
      </p:pic>
      <p:sp>
        <p:nvSpPr>
          <p:cNvPr id="17" name="Text 11"/>
          <p:cNvSpPr/>
          <p:nvPr/>
        </p:nvSpPr>
        <p:spPr>
          <a:xfrm>
            <a:off x="1033272" y="2514600"/>
            <a:ext cx="2048256" cy="685800"/>
          </a:xfrm>
          <a:prstGeom prst="rect">
            <a:avLst/>
          </a:prstGeom>
          <a:noFill/>
          <a:ln/>
        </p:spPr>
        <p:txBody>
          <a:bodyPr wrap="square" lIns="0" tIns="0" rIns="0" bIns="0" rtlCol="0" anchor="t"/>
          <a:lstStyle/>
          <a:p>
            <a:pPr indent="0" marL="0">
              <a:lnSpc>
                <a:spcPct val="108000"/>
              </a:lnSpc>
              <a:buNone/>
            </a:pPr>
            <a:r>
              <a:rPr lang="en-US" sz="1200" dirty="0">
                <a:solidFill>
                  <a:srgbClr val="3A2C31"/>
                </a:solidFill>
                <a:latin typeface="Noto Sans CJK JP" pitchFamily="34" charset="0"/>
                <a:ea typeface="Noto Sans CJK JP" pitchFamily="34" charset="-122"/>
                <a:cs typeface="Noto Sans CJK JP" pitchFamily="34" charset="-120"/>
              </a:rPr>
              <a:t>“できた”状態を一文で</a:t>
            </a:r>
            <a:endParaRPr lang="en-US" sz="1200" dirty="0"/>
          </a:p>
        </p:txBody>
      </p:sp>
      <p:pic>
        <p:nvPicPr>
          <p:cNvPr id="18" name="Image 4" descr="preencoded.png">    </p:cNvPr>
          <p:cNvPicPr>
            <a:picLocks noChangeAspect="1"/>
          </p:cNvPicPr>
          <p:nvPr/>
        </p:nvPicPr>
        <p:blipFill>
          <a:blip r:embed="rId5"/>
          <a:stretch>
            <a:fillRect/>
          </a:stretch>
        </p:blipFill>
        <p:spPr>
          <a:xfrm>
            <a:off x="731520" y="3337560"/>
            <a:ext cx="228600" cy="228600"/>
          </a:xfrm>
          <a:prstGeom prst="rect">
            <a:avLst/>
          </a:prstGeom>
        </p:spPr>
      </p:pic>
      <p:sp>
        <p:nvSpPr>
          <p:cNvPr id="19" name="Text 12"/>
          <p:cNvSpPr/>
          <p:nvPr/>
        </p:nvSpPr>
        <p:spPr>
          <a:xfrm>
            <a:off x="1033272" y="3273552"/>
            <a:ext cx="2048256" cy="685800"/>
          </a:xfrm>
          <a:prstGeom prst="rect">
            <a:avLst/>
          </a:prstGeom>
          <a:noFill/>
          <a:ln/>
        </p:spPr>
        <p:txBody>
          <a:bodyPr wrap="square" lIns="0" tIns="0" rIns="0" bIns="0" rtlCol="0" anchor="t"/>
          <a:lstStyle/>
          <a:p>
            <a:pPr indent="0" marL="0">
              <a:lnSpc>
                <a:spcPct val="108000"/>
              </a:lnSpc>
              <a:buNone/>
            </a:pPr>
            <a:r>
              <a:rPr lang="en-US" sz="1200" dirty="0">
                <a:solidFill>
                  <a:srgbClr val="3A2C31"/>
                </a:solidFill>
                <a:latin typeface="Noto Sans CJK JP" pitchFamily="34" charset="0"/>
                <a:ea typeface="Noto Sans CJK JP" pitchFamily="34" charset="-122"/>
                <a:cs typeface="Noto Sans CJK JP" pitchFamily="34" charset="-120"/>
              </a:rPr>
              <a:t>やること（IN）</a:t>
            </a:r>
            <a:endParaRPr lang="en-US" sz="1200" dirty="0"/>
          </a:p>
        </p:txBody>
      </p:sp>
      <p:pic>
        <p:nvPicPr>
          <p:cNvPr id="20" name="Image 5" descr="preencoded.png">    </p:cNvPr>
          <p:cNvPicPr>
            <a:picLocks noChangeAspect="1"/>
          </p:cNvPicPr>
          <p:nvPr/>
        </p:nvPicPr>
        <p:blipFill>
          <a:blip r:embed="rId6"/>
          <a:stretch>
            <a:fillRect/>
          </a:stretch>
        </p:blipFill>
        <p:spPr>
          <a:xfrm>
            <a:off x="731520" y="4096512"/>
            <a:ext cx="228600" cy="228600"/>
          </a:xfrm>
          <a:prstGeom prst="rect">
            <a:avLst/>
          </a:prstGeom>
        </p:spPr>
      </p:pic>
      <p:sp>
        <p:nvSpPr>
          <p:cNvPr id="21" name="Text 13"/>
          <p:cNvSpPr/>
          <p:nvPr/>
        </p:nvSpPr>
        <p:spPr>
          <a:xfrm>
            <a:off x="1033272" y="4032504"/>
            <a:ext cx="2048256" cy="685800"/>
          </a:xfrm>
          <a:prstGeom prst="rect">
            <a:avLst/>
          </a:prstGeom>
          <a:noFill/>
          <a:ln/>
        </p:spPr>
        <p:txBody>
          <a:bodyPr wrap="square" lIns="0" tIns="0" rIns="0" bIns="0" rtlCol="0" anchor="t"/>
          <a:lstStyle/>
          <a:p>
            <a:pPr indent="0" marL="0">
              <a:lnSpc>
                <a:spcPct val="108000"/>
              </a:lnSpc>
              <a:buNone/>
            </a:pPr>
            <a:r>
              <a:rPr lang="en-US" sz="1200" dirty="0">
                <a:solidFill>
                  <a:srgbClr val="3A2C31"/>
                </a:solidFill>
                <a:latin typeface="Noto Sans CJK JP" pitchFamily="34" charset="0"/>
                <a:ea typeface="Noto Sans CJK JP" pitchFamily="34" charset="-122"/>
                <a:cs typeface="Noto Sans CJK JP" pitchFamily="34" charset="-120"/>
              </a:rPr>
              <a:t>やらないこと（OUT）★</a:t>
            </a:r>
            <a:endParaRPr lang="en-US" sz="1200" dirty="0"/>
          </a:p>
        </p:txBody>
      </p:sp>
      <p:pic>
        <p:nvPicPr>
          <p:cNvPr id="22" name="Image 6" descr="preencoded.png">    </p:cNvPr>
          <p:cNvPicPr>
            <a:picLocks noChangeAspect="1"/>
          </p:cNvPicPr>
          <p:nvPr/>
        </p:nvPicPr>
        <p:blipFill>
          <a:blip r:embed="rId7"/>
          <a:stretch>
            <a:fillRect/>
          </a:stretch>
        </p:blipFill>
        <p:spPr>
          <a:xfrm>
            <a:off x="731520" y="4855464"/>
            <a:ext cx="228600" cy="228600"/>
          </a:xfrm>
          <a:prstGeom prst="rect">
            <a:avLst/>
          </a:prstGeom>
        </p:spPr>
      </p:pic>
      <p:sp>
        <p:nvSpPr>
          <p:cNvPr id="23" name="Text 14"/>
          <p:cNvSpPr/>
          <p:nvPr/>
        </p:nvSpPr>
        <p:spPr>
          <a:xfrm>
            <a:off x="1033272" y="4791456"/>
            <a:ext cx="2048256" cy="685800"/>
          </a:xfrm>
          <a:prstGeom prst="rect">
            <a:avLst/>
          </a:prstGeom>
          <a:noFill/>
          <a:ln/>
        </p:spPr>
        <p:txBody>
          <a:bodyPr wrap="square" lIns="0" tIns="0" rIns="0" bIns="0" rtlCol="0" anchor="t"/>
          <a:lstStyle/>
          <a:p>
            <a:pPr indent="0" marL="0">
              <a:lnSpc>
                <a:spcPct val="108000"/>
              </a:lnSpc>
              <a:buNone/>
            </a:pPr>
            <a:r>
              <a:rPr lang="en-US" sz="1200" dirty="0">
                <a:solidFill>
                  <a:srgbClr val="3A2C31"/>
                </a:solidFill>
                <a:latin typeface="Noto Sans CJK JP" pitchFamily="34" charset="0"/>
                <a:ea typeface="Noto Sans CJK JP" pitchFamily="34" charset="-122"/>
                <a:cs typeface="Noto Sans CJK JP" pitchFamily="34" charset="-120"/>
              </a:rPr>
              <a:t>迷ったら優先：品質/納期/コスト</a:t>
            </a:r>
            <a:endParaRPr lang="en-US" sz="1200" dirty="0"/>
          </a:p>
        </p:txBody>
      </p:sp>
      <p:sp>
        <p:nvSpPr>
          <p:cNvPr id="24" name="Shape 15"/>
          <p:cNvSpPr/>
          <p:nvPr/>
        </p:nvSpPr>
        <p:spPr>
          <a:xfrm>
            <a:off x="3410712" y="1645920"/>
            <a:ext cx="2743200" cy="4114800"/>
          </a:xfrm>
          <a:prstGeom prst="roundRect">
            <a:avLst>
              <a:gd name="adj" fmla="val 3333"/>
            </a:avLst>
          </a:prstGeom>
          <a:solidFill>
            <a:srgbClr val="FBF1F4"/>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25" name="Shape 16"/>
          <p:cNvSpPr/>
          <p:nvPr/>
        </p:nvSpPr>
        <p:spPr>
          <a:xfrm>
            <a:off x="3611880" y="1810512"/>
            <a:ext cx="548640" cy="548640"/>
          </a:xfrm>
          <a:prstGeom prst="ellipse">
            <a:avLst/>
          </a:prstGeom>
          <a:solidFill>
            <a:srgbClr val="B4587A"/>
          </a:solidFill>
          <a:ln/>
        </p:spPr>
      </p:sp>
      <p:pic>
        <p:nvPicPr>
          <p:cNvPr id="26" name="Image 7" descr="preencoded.png">    </p:cNvPr>
          <p:cNvPicPr>
            <a:picLocks noChangeAspect="1"/>
          </p:cNvPicPr>
          <p:nvPr/>
        </p:nvPicPr>
        <p:blipFill>
          <a:blip r:embed="rId8"/>
          <a:stretch>
            <a:fillRect/>
          </a:stretch>
        </p:blipFill>
        <p:spPr>
          <a:xfrm>
            <a:off x="3760013" y="1958645"/>
            <a:ext cx="252374" cy="252374"/>
          </a:xfrm>
          <a:prstGeom prst="rect">
            <a:avLst/>
          </a:prstGeom>
        </p:spPr>
      </p:pic>
      <p:sp>
        <p:nvSpPr>
          <p:cNvPr id="27" name="Text 17"/>
          <p:cNvSpPr/>
          <p:nvPr/>
        </p:nvSpPr>
        <p:spPr>
          <a:xfrm>
            <a:off x="4233672" y="1810512"/>
            <a:ext cx="1828800" cy="548640"/>
          </a:xfrm>
          <a:prstGeom prst="rect">
            <a:avLst/>
          </a:prstGeom>
          <a:noFill/>
          <a:ln/>
        </p:spPr>
        <p:txBody>
          <a:bodyPr wrap="square" lIns="0" tIns="0" rIns="0" bIns="0" rtlCol="0" anchor="ctr"/>
          <a:lstStyle/>
          <a:p>
            <a:pPr indent="0" marL="0">
              <a:buNone/>
            </a:pPr>
            <a:r>
              <a:rPr lang="en-US" sz="1400" b="1" dirty="0">
                <a:solidFill>
                  <a:srgbClr val="8E3556"/>
                </a:solidFill>
                <a:latin typeface="Noto Sans CJK JP" pitchFamily="34" charset="0"/>
                <a:ea typeface="Noto Sans CJK JP" pitchFamily="34" charset="-122"/>
                <a:cs typeface="Noto Sans CJK JP" pitchFamily="34" charset="-120"/>
              </a:rPr>
              <a:t>役割</a:t>
            </a:r>
            <a:endParaRPr lang="en-US" sz="1400" dirty="0"/>
          </a:p>
        </p:txBody>
      </p:sp>
      <p:pic>
        <p:nvPicPr>
          <p:cNvPr id="28" name="Image 8" descr="preencoded.png">    </p:cNvPr>
          <p:cNvPicPr>
            <a:picLocks noChangeAspect="1"/>
          </p:cNvPicPr>
          <p:nvPr/>
        </p:nvPicPr>
        <p:blipFill>
          <a:blip r:embed="rId9"/>
          <a:stretch>
            <a:fillRect/>
          </a:stretch>
        </p:blipFill>
        <p:spPr>
          <a:xfrm>
            <a:off x="3639312" y="2578608"/>
            <a:ext cx="228600" cy="228600"/>
          </a:xfrm>
          <a:prstGeom prst="rect">
            <a:avLst/>
          </a:prstGeom>
        </p:spPr>
      </p:pic>
      <p:sp>
        <p:nvSpPr>
          <p:cNvPr id="29" name="Text 18"/>
          <p:cNvSpPr/>
          <p:nvPr/>
        </p:nvSpPr>
        <p:spPr>
          <a:xfrm>
            <a:off x="3941064" y="2514600"/>
            <a:ext cx="2048256" cy="685800"/>
          </a:xfrm>
          <a:prstGeom prst="rect">
            <a:avLst/>
          </a:prstGeom>
          <a:noFill/>
          <a:ln/>
        </p:spPr>
        <p:txBody>
          <a:bodyPr wrap="square" lIns="0" tIns="0" rIns="0" bIns="0" rtlCol="0" anchor="t"/>
          <a:lstStyle/>
          <a:p>
            <a:pPr indent="0" marL="0">
              <a:lnSpc>
                <a:spcPct val="108000"/>
              </a:lnSpc>
              <a:buNone/>
            </a:pPr>
            <a:r>
              <a:rPr lang="en-US" sz="1200" dirty="0">
                <a:solidFill>
                  <a:srgbClr val="3A2C31"/>
                </a:solidFill>
                <a:latin typeface="Noto Sans CJK JP" pitchFamily="34" charset="0"/>
                <a:ea typeface="Noto Sans CJK JP" pitchFamily="34" charset="-122"/>
                <a:cs typeface="Noto Sans CJK JP" pitchFamily="34" charset="-120"/>
              </a:rPr>
              <a:t>各作業を誰が・いつ・何を</a:t>
            </a:r>
            <a:endParaRPr lang="en-US" sz="1200" dirty="0"/>
          </a:p>
        </p:txBody>
      </p:sp>
      <p:pic>
        <p:nvPicPr>
          <p:cNvPr id="30" name="Image 9" descr="preencoded.png">    </p:cNvPr>
          <p:cNvPicPr>
            <a:picLocks noChangeAspect="1"/>
          </p:cNvPicPr>
          <p:nvPr/>
        </p:nvPicPr>
        <p:blipFill>
          <a:blip r:embed="rId10"/>
          <a:stretch>
            <a:fillRect/>
          </a:stretch>
        </p:blipFill>
        <p:spPr>
          <a:xfrm>
            <a:off x="3639312" y="3337560"/>
            <a:ext cx="228600" cy="228600"/>
          </a:xfrm>
          <a:prstGeom prst="rect">
            <a:avLst/>
          </a:prstGeom>
        </p:spPr>
      </p:pic>
      <p:sp>
        <p:nvSpPr>
          <p:cNvPr id="31" name="Text 19"/>
          <p:cNvSpPr/>
          <p:nvPr/>
        </p:nvSpPr>
        <p:spPr>
          <a:xfrm>
            <a:off x="3941064" y="3273552"/>
            <a:ext cx="2048256" cy="685800"/>
          </a:xfrm>
          <a:prstGeom prst="rect">
            <a:avLst/>
          </a:prstGeom>
          <a:noFill/>
          <a:ln/>
        </p:spPr>
        <p:txBody>
          <a:bodyPr wrap="square" lIns="0" tIns="0" rIns="0" bIns="0" rtlCol="0" anchor="t"/>
          <a:lstStyle/>
          <a:p>
            <a:pPr indent="0" marL="0">
              <a:lnSpc>
                <a:spcPct val="108000"/>
              </a:lnSpc>
              <a:buNone/>
            </a:pPr>
            <a:r>
              <a:rPr lang="en-US" sz="1200" dirty="0">
                <a:solidFill>
                  <a:srgbClr val="3A2C31"/>
                </a:solidFill>
                <a:latin typeface="Noto Sans CJK JP" pitchFamily="34" charset="0"/>
                <a:ea typeface="Noto Sans CJK JP" pitchFamily="34" charset="-122"/>
                <a:cs typeface="Noto Sans CJK JP" pitchFamily="34" charset="-120"/>
              </a:rPr>
              <a:t>各作業に「完了の判定」</a:t>
            </a:r>
            <a:endParaRPr lang="en-US" sz="1200" dirty="0"/>
          </a:p>
        </p:txBody>
      </p:sp>
      <p:pic>
        <p:nvPicPr>
          <p:cNvPr id="32" name="Image 10" descr="preencoded.png">    </p:cNvPr>
          <p:cNvPicPr>
            <a:picLocks noChangeAspect="1"/>
          </p:cNvPicPr>
          <p:nvPr/>
        </p:nvPicPr>
        <p:blipFill>
          <a:blip r:embed="rId11"/>
          <a:stretch>
            <a:fillRect/>
          </a:stretch>
        </p:blipFill>
        <p:spPr>
          <a:xfrm>
            <a:off x="3639312" y="4096512"/>
            <a:ext cx="228600" cy="228600"/>
          </a:xfrm>
          <a:prstGeom prst="rect">
            <a:avLst/>
          </a:prstGeom>
        </p:spPr>
      </p:pic>
      <p:sp>
        <p:nvSpPr>
          <p:cNvPr id="33" name="Text 20"/>
          <p:cNvSpPr/>
          <p:nvPr/>
        </p:nvSpPr>
        <p:spPr>
          <a:xfrm>
            <a:off x="3941064" y="4032504"/>
            <a:ext cx="2048256" cy="685800"/>
          </a:xfrm>
          <a:prstGeom prst="rect">
            <a:avLst/>
          </a:prstGeom>
          <a:noFill/>
          <a:ln/>
        </p:spPr>
        <p:txBody>
          <a:bodyPr wrap="square" lIns="0" tIns="0" rIns="0" bIns="0" rtlCol="0" anchor="t"/>
          <a:lstStyle/>
          <a:p>
            <a:pPr indent="0" marL="0">
              <a:lnSpc>
                <a:spcPct val="108000"/>
              </a:lnSpc>
              <a:buNone/>
            </a:pPr>
            <a:r>
              <a:rPr lang="en-US" sz="1200" dirty="0">
                <a:solidFill>
                  <a:srgbClr val="3A2C31"/>
                </a:solidFill>
                <a:latin typeface="Noto Sans CJK JP" pitchFamily="34" charset="0"/>
                <a:ea typeface="Noto Sans CJK JP" pitchFamily="34" charset="-122"/>
                <a:cs typeface="Noto Sans CJK JP" pitchFamily="34" charset="-120"/>
              </a:rPr>
              <a:t>技術判断／ビジネス判断の担当</a:t>
            </a:r>
            <a:endParaRPr lang="en-US" sz="1200" dirty="0"/>
          </a:p>
        </p:txBody>
      </p:sp>
      <p:sp>
        <p:nvSpPr>
          <p:cNvPr id="34" name="Shape 21"/>
          <p:cNvSpPr/>
          <p:nvPr/>
        </p:nvSpPr>
        <p:spPr>
          <a:xfrm>
            <a:off x="6318504" y="1645920"/>
            <a:ext cx="2743200" cy="4114800"/>
          </a:xfrm>
          <a:prstGeom prst="roundRect">
            <a:avLst>
              <a:gd name="adj" fmla="val 3333"/>
            </a:avLst>
          </a:prstGeom>
          <a:solidFill>
            <a:srgbClr val="FBF1F4"/>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35" name="Shape 22"/>
          <p:cNvSpPr/>
          <p:nvPr/>
        </p:nvSpPr>
        <p:spPr>
          <a:xfrm>
            <a:off x="6519672" y="1810512"/>
            <a:ext cx="548640" cy="548640"/>
          </a:xfrm>
          <a:prstGeom prst="ellipse">
            <a:avLst/>
          </a:prstGeom>
          <a:solidFill>
            <a:srgbClr val="B4587A"/>
          </a:solidFill>
          <a:ln/>
        </p:spPr>
      </p:sp>
      <p:pic>
        <p:nvPicPr>
          <p:cNvPr id="36" name="Image 11" descr="preencoded.png">    </p:cNvPr>
          <p:cNvPicPr>
            <a:picLocks noChangeAspect="1"/>
          </p:cNvPicPr>
          <p:nvPr/>
        </p:nvPicPr>
        <p:blipFill>
          <a:blip r:embed="rId12"/>
          <a:stretch>
            <a:fillRect/>
          </a:stretch>
        </p:blipFill>
        <p:spPr>
          <a:xfrm>
            <a:off x="6667805" y="1958645"/>
            <a:ext cx="252374" cy="252374"/>
          </a:xfrm>
          <a:prstGeom prst="rect">
            <a:avLst/>
          </a:prstGeom>
        </p:spPr>
      </p:pic>
      <p:sp>
        <p:nvSpPr>
          <p:cNvPr id="37" name="Text 23"/>
          <p:cNvSpPr/>
          <p:nvPr/>
        </p:nvSpPr>
        <p:spPr>
          <a:xfrm>
            <a:off x="7141464" y="1810512"/>
            <a:ext cx="1828800" cy="548640"/>
          </a:xfrm>
          <a:prstGeom prst="rect">
            <a:avLst/>
          </a:prstGeom>
          <a:noFill/>
          <a:ln/>
        </p:spPr>
        <p:txBody>
          <a:bodyPr wrap="square" lIns="0" tIns="0" rIns="0" bIns="0" rtlCol="0" anchor="ctr"/>
          <a:lstStyle/>
          <a:p>
            <a:pPr indent="0" marL="0">
              <a:buNone/>
            </a:pPr>
            <a:r>
              <a:rPr lang="en-US" sz="1400" b="1" dirty="0">
                <a:solidFill>
                  <a:srgbClr val="8E3556"/>
                </a:solidFill>
                <a:latin typeface="Noto Sans CJK JP" pitchFamily="34" charset="0"/>
                <a:ea typeface="Noto Sans CJK JP" pitchFamily="34" charset="-122"/>
                <a:cs typeface="Noto Sans CJK JP" pitchFamily="34" charset="-120"/>
              </a:rPr>
              <a:t>やり直しと変更</a:t>
            </a:r>
            <a:endParaRPr lang="en-US" sz="1400" dirty="0"/>
          </a:p>
        </p:txBody>
      </p:sp>
      <p:pic>
        <p:nvPicPr>
          <p:cNvPr id="38" name="Image 12" descr="preencoded.png">    </p:cNvPr>
          <p:cNvPicPr>
            <a:picLocks noChangeAspect="1"/>
          </p:cNvPicPr>
          <p:nvPr/>
        </p:nvPicPr>
        <p:blipFill>
          <a:blip r:embed="rId13"/>
          <a:stretch>
            <a:fillRect/>
          </a:stretch>
        </p:blipFill>
        <p:spPr>
          <a:xfrm>
            <a:off x="6547104" y="2578608"/>
            <a:ext cx="228600" cy="228600"/>
          </a:xfrm>
          <a:prstGeom prst="rect">
            <a:avLst/>
          </a:prstGeom>
        </p:spPr>
      </p:pic>
      <p:sp>
        <p:nvSpPr>
          <p:cNvPr id="39" name="Text 24"/>
          <p:cNvSpPr/>
          <p:nvPr/>
        </p:nvSpPr>
        <p:spPr>
          <a:xfrm>
            <a:off x="6848856" y="2514600"/>
            <a:ext cx="2048256" cy="685800"/>
          </a:xfrm>
          <a:prstGeom prst="rect">
            <a:avLst/>
          </a:prstGeom>
          <a:noFill/>
          <a:ln/>
        </p:spPr>
        <p:txBody>
          <a:bodyPr wrap="square" lIns="0" tIns="0" rIns="0" bIns="0" rtlCol="0" anchor="t"/>
          <a:lstStyle/>
          <a:p>
            <a:pPr indent="0" marL="0">
              <a:lnSpc>
                <a:spcPct val="108000"/>
              </a:lnSpc>
              <a:buNone/>
            </a:pPr>
            <a:r>
              <a:rPr lang="en-US" sz="1200" dirty="0">
                <a:solidFill>
                  <a:srgbClr val="3A2C31"/>
                </a:solidFill>
                <a:latin typeface="Noto Sans CJK JP" pitchFamily="34" charset="0"/>
                <a:ea typeface="Noto Sans CJK JP" pitchFamily="34" charset="-122"/>
                <a:cs typeface="Noto Sans CJK JP" pitchFamily="34" charset="-120"/>
              </a:rPr>
              <a:t>往復の上限回数（推奨2〜3）</a:t>
            </a:r>
            <a:endParaRPr lang="en-US" sz="1200" dirty="0"/>
          </a:p>
        </p:txBody>
      </p:sp>
      <p:pic>
        <p:nvPicPr>
          <p:cNvPr id="40" name="Image 13" descr="preencoded.png">    </p:cNvPr>
          <p:cNvPicPr>
            <a:picLocks noChangeAspect="1"/>
          </p:cNvPicPr>
          <p:nvPr/>
        </p:nvPicPr>
        <p:blipFill>
          <a:blip r:embed="rId14"/>
          <a:stretch>
            <a:fillRect/>
          </a:stretch>
        </p:blipFill>
        <p:spPr>
          <a:xfrm>
            <a:off x="6547104" y="3337560"/>
            <a:ext cx="228600" cy="228600"/>
          </a:xfrm>
          <a:prstGeom prst="rect">
            <a:avLst/>
          </a:prstGeom>
        </p:spPr>
      </p:pic>
      <p:sp>
        <p:nvSpPr>
          <p:cNvPr id="41" name="Text 25"/>
          <p:cNvSpPr/>
          <p:nvPr/>
        </p:nvSpPr>
        <p:spPr>
          <a:xfrm>
            <a:off x="6848856" y="3273552"/>
            <a:ext cx="2048256" cy="685800"/>
          </a:xfrm>
          <a:prstGeom prst="rect">
            <a:avLst/>
          </a:prstGeom>
          <a:noFill/>
          <a:ln/>
        </p:spPr>
        <p:txBody>
          <a:bodyPr wrap="square" lIns="0" tIns="0" rIns="0" bIns="0" rtlCol="0" anchor="t"/>
          <a:lstStyle/>
          <a:p>
            <a:pPr indent="0" marL="0">
              <a:lnSpc>
                <a:spcPct val="108000"/>
              </a:lnSpc>
              <a:buNone/>
            </a:pPr>
            <a:r>
              <a:rPr lang="en-US" sz="1200" dirty="0">
                <a:solidFill>
                  <a:srgbClr val="3A2C31"/>
                </a:solidFill>
                <a:latin typeface="Noto Sans CJK JP" pitchFamily="34" charset="0"/>
                <a:ea typeface="Noto Sans CJK JP" pitchFamily="34" charset="-122"/>
                <a:cs typeface="Noto Sans CJK JP" pitchFamily="34" charset="-120"/>
              </a:rPr>
              <a:t>上限超え＝仕様変更で扱う</a:t>
            </a:r>
            <a:endParaRPr lang="en-US" sz="1200" dirty="0"/>
          </a:p>
        </p:txBody>
      </p:sp>
      <p:pic>
        <p:nvPicPr>
          <p:cNvPr id="42" name="Image 14" descr="preencoded.png">    </p:cNvPr>
          <p:cNvPicPr>
            <a:picLocks noChangeAspect="1"/>
          </p:cNvPicPr>
          <p:nvPr/>
        </p:nvPicPr>
        <p:blipFill>
          <a:blip r:embed="rId15"/>
          <a:stretch>
            <a:fillRect/>
          </a:stretch>
        </p:blipFill>
        <p:spPr>
          <a:xfrm>
            <a:off x="6547104" y="4096512"/>
            <a:ext cx="228600" cy="228600"/>
          </a:xfrm>
          <a:prstGeom prst="rect">
            <a:avLst/>
          </a:prstGeom>
        </p:spPr>
      </p:pic>
      <p:sp>
        <p:nvSpPr>
          <p:cNvPr id="43" name="Text 26"/>
          <p:cNvSpPr/>
          <p:nvPr/>
        </p:nvSpPr>
        <p:spPr>
          <a:xfrm>
            <a:off x="6848856" y="4032504"/>
            <a:ext cx="2048256" cy="685800"/>
          </a:xfrm>
          <a:prstGeom prst="rect">
            <a:avLst/>
          </a:prstGeom>
          <a:noFill/>
          <a:ln/>
        </p:spPr>
        <p:txBody>
          <a:bodyPr wrap="square" lIns="0" tIns="0" rIns="0" bIns="0" rtlCol="0" anchor="t"/>
          <a:lstStyle/>
          <a:p>
            <a:pPr indent="0" marL="0">
              <a:lnSpc>
                <a:spcPct val="108000"/>
              </a:lnSpc>
              <a:buNone/>
            </a:pPr>
            <a:r>
              <a:rPr lang="en-US" sz="1200" dirty="0">
                <a:solidFill>
                  <a:srgbClr val="3A2C31"/>
                </a:solidFill>
                <a:latin typeface="Noto Sans CJK JP" pitchFamily="34" charset="0"/>
                <a:ea typeface="Noto Sans CJK JP" pitchFamily="34" charset="-122"/>
                <a:cs typeface="Noto Sans CJK JP" pitchFamily="34" charset="-120"/>
              </a:rPr>
              <a:t>バグ・誤字は回数に含めない</a:t>
            </a:r>
            <a:endParaRPr lang="en-US" sz="1200" dirty="0"/>
          </a:p>
        </p:txBody>
      </p:sp>
      <p:sp>
        <p:nvSpPr>
          <p:cNvPr id="44" name="Shape 27"/>
          <p:cNvSpPr/>
          <p:nvPr/>
        </p:nvSpPr>
        <p:spPr>
          <a:xfrm>
            <a:off x="9226296" y="1645920"/>
            <a:ext cx="2743200" cy="4114800"/>
          </a:xfrm>
          <a:prstGeom prst="roundRect">
            <a:avLst>
              <a:gd name="adj" fmla="val 3333"/>
            </a:avLst>
          </a:prstGeom>
          <a:solidFill>
            <a:srgbClr val="FBF1F4"/>
          </a:solidFill>
          <a:ln w="12700">
            <a:solidFill>
              <a:srgbClr val="EBB4C4"/>
            </a:solidFill>
            <a:prstDash val="solid"/>
          </a:ln>
          <a:effectLst>
            <a:outerShdw sx="100000" sy="100000" kx="0" ky="0" algn="bl" rotWithShape="0" blurRad="76200" dist="25400" dir="5400000">
              <a:srgbClr val="000000">
                <a:alpha val="10000"/>
              </a:srgbClr>
            </a:outerShdw>
          </a:effectLst>
        </p:spPr>
      </p:sp>
      <p:sp>
        <p:nvSpPr>
          <p:cNvPr id="45" name="Shape 28"/>
          <p:cNvSpPr/>
          <p:nvPr/>
        </p:nvSpPr>
        <p:spPr>
          <a:xfrm>
            <a:off x="9427464" y="1810512"/>
            <a:ext cx="548640" cy="548640"/>
          </a:xfrm>
          <a:prstGeom prst="ellipse">
            <a:avLst/>
          </a:prstGeom>
          <a:solidFill>
            <a:srgbClr val="B4587A"/>
          </a:solidFill>
          <a:ln/>
        </p:spPr>
      </p:sp>
      <p:pic>
        <p:nvPicPr>
          <p:cNvPr id="46" name="Image 15" descr="preencoded.png">    </p:cNvPr>
          <p:cNvPicPr>
            <a:picLocks noChangeAspect="1"/>
          </p:cNvPicPr>
          <p:nvPr/>
        </p:nvPicPr>
        <p:blipFill>
          <a:blip r:embed="rId16"/>
          <a:stretch>
            <a:fillRect/>
          </a:stretch>
        </p:blipFill>
        <p:spPr>
          <a:xfrm>
            <a:off x="9575597" y="1958645"/>
            <a:ext cx="252374" cy="252374"/>
          </a:xfrm>
          <a:prstGeom prst="rect">
            <a:avLst/>
          </a:prstGeom>
        </p:spPr>
      </p:pic>
      <p:sp>
        <p:nvSpPr>
          <p:cNvPr id="47" name="Text 29"/>
          <p:cNvSpPr/>
          <p:nvPr/>
        </p:nvSpPr>
        <p:spPr>
          <a:xfrm>
            <a:off x="10049256" y="1810512"/>
            <a:ext cx="1828800" cy="548640"/>
          </a:xfrm>
          <a:prstGeom prst="rect">
            <a:avLst/>
          </a:prstGeom>
          <a:noFill/>
          <a:ln/>
        </p:spPr>
        <p:txBody>
          <a:bodyPr wrap="square" lIns="0" tIns="0" rIns="0" bIns="0" rtlCol="0" anchor="ctr"/>
          <a:lstStyle/>
          <a:p>
            <a:pPr indent="0" marL="0">
              <a:buNone/>
            </a:pPr>
            <a:r>
              <a:rPr lang="en-US" sz="1400" b="1" dirty="0">
                <a:solidFill>
                  <a:srgbClr val="8E3556"/>
                </a:solidFill>
                <a:latin typeface="Noto Sans CJK JP" pitchFamily="34" charset="0"/>
                <a:ea typeface="Noto Sans CJK JP" pitchFamily="34" charset="-122"/>
                <a:cs typeface="Noto Sans CJK JP" pitchFamily="34" charset="-120"/>
              </a:rPr>
              <a:t>伝え方と外化</a:t>
            </a:r>
            <a:endParaRPr lang="en-US" sz="1400" dirty="0"/>
          </a:p>
        </p:txBody>
      </p:sp>
      <p:pic>
        <p:nvPicPr>
          <p:cNvPr id="48" name="Image 16" descr="preencoded.png">    </p:cNvPr>
          <p:cNvPicPr>
            <a:picLocks noChangeAspect="1"/>
          </p:cNvPicPr>
          <p:nvPr/>
        </p:nvPicPr>
        <p:blipFill>
          <a:blip r:embed="rId17"/>
          <a:stretch>
            <a:fillRect/>
          </a:stretch>
        </p:blipFill>
        <p:spPr>
          <a:xfrm>
            <a:off x="9454896" y="2578608"/>
            <a:ext cx="228600" cy="228600"/>
          </a:xfrm>
          <a:prstGeom prst="rect">
            <a:avLst/>
          </a:prstGeom>
        </p:spPr>
      </p:pic>
      <p:sp>
        <p:nvSpPr>
          <p:cNvPr id="49" name="Text 30"/>
          <p:cNvSpPr/>
          <p:nvPr/>
        </p:nvSpPr>
        <p:spPr>
          <a:xfrm>
            <a:off x="9756648" y="2514600"/>
            <a:ext cx="2048256" cy="685800"/>
          </a:xfrm>
          <a:prstGeom prst="rect">
            <a:avLst/>
          </a:prstGeom>
          <a:noFill/>
          <a:ln/>
        </p:spPr>
        <p:txBody>
          <a:bodyPr wrap="square" lIns="0" tIns="0" rIns="0" bIns="0" rtlCol="0" anchor="t"/>
          <a:lstStyle/>
          <a:p>
            <a:pPr indent="0" marL="0">
              <a:lnSpc>
                <a:spcPct val="108000"/>
              </a:lnSpc>
              <a:buNone/>
            </a:pPr>
            <a:r>
              <a:rPr lang="en-US" sz="1200" dirty="0">
                <a:solidFill>
                  <a:srgbClr val="3A2C31"/>
                </a:solidFill>
                <a:latin typeface="Noto Sans CJK JP" pitchFamily="34" charset="0"/>
                <a:ea typeface="Noto Sans CJK JP" pitchFamily="34" charset="-122"/>
                <a:cs typeface="Noto Sans CJK JP" pitchFamily="34" charset="-120"/>
              </a:rPr>
              <a:t>こちらから叩き台を出す</a:t>
            </a:r>
            <a:endParaRPr lang="en-US" sz="1200" dirty="0"/>
          </a:p>
        </p:txBody>
      </p:sp>
      <p:pic>
        <p:nvPicPr>
          <p:cNvPr id="50" name="Image 17" descr="preencoded.png">    </p:cNvPr>
          <p:cNvPicPr>
            <a:picLocks noChangeAspect="1"/>
          </p:cNvPicPr>
          <p:nvPr/>
        </p:nvPicPr>
        <p:blipFill>
          <a:blip r:embed="rId18"/>
          <a:stretch>
            <a:fillRect/>
          </a:stretch>
        </p:blipFill>
        <p:spPr>
          <a:xfrm>
            <a:off x="9454896" y="3337560"/>
            <a:ext cx="228600" cy="228600"/>
          </a:xfrm>
          <a:prstGeom prst="rect">
            <a:avLst/>
          </a:prstGeom>
        </p:spPr>
      </p:pic>
      <p:sp>
        <p:nvSpPr>
          <p:cNvPr id="51" name="Text 31"/>
          <p:cNvSpPr/>
          <p:nvPr/>
        </p:nvSpPr>
        <p:spPr>
          <a:xfrm>
            <a:off x="9756648" y="3273552"/>
            <a:ext cx="2048256" cy="685800"/>
          </a:xfrm>
          <a:prstGeom prst="rect">
            <a:avLst/>
          </a:prstGeom>
          <a:noFill/>
          <a:ln/>
        </p:spPr>
        <p:txBody>
          <a:bodyPr wrap="square" lIns="0" tIns="0" rIns="0" bIns="0" rtlCol="0" anchor="t"/>
          <a:lstStyle/>
          <a:p>
            <a:pPr indent="0" marL="0">
              <a:lnSpc>
                <a:spcPct val="108000"/>
              </a:lnSpc>
              <a:buNone/>
            </a:pPr>
            <a:r>
              <a:rPr lang="en-US" sz="1200" dirty="0">
                <a:solidFill>
                  <a:srgbClr val="3A2C31"/>
                </a:solidFill>
                <a:latin typeface="Noto Sans CJK JP" pitchFamily="34" charset="0"/>
                <a:ea typeface="Noto Sans CJK JP" pitchFamily="34" charset="-122"/>
                <a:cs typeface="Noto Sans CJK JP" pitchFamily="34" charset="-120"/>
              </a:rPr>
              <a:t>口約束を1枚の表に見える化</a:t>
            </a:r>
            <a:endParaRPr lang="en-US" sz="1200" dirty="0"/>
          </a:p>
        </p:txBody>
      </p:sp>
      <p:pic>
        <p:nvPicPr>
          <p:cNvPr id="52" name="Image 18" descr="preencoded.png">    </p:cNvPr>
          <p:cNvPicPr>
            <a:picLocks noChangeAspect="1"/>
          </p:cNvPicPr>
          <p:nvPr/>
        </p:nvPicPr>
        <p:blipFill>
          <a:blip r:embed="rId19"/>
          <a:stretch>
            <a:fillRect/>
          </a:stretch>
        </p:blipFill>
        <p:spPr>
          <a:xfrm>
            <a:off x="9454896" y="4096512"/>
            <a:ext cx="228600" cy="228600"/>
          </a:xfrm>
          <a:prstGeom prst="rect">
            <a:avLst/>
          </a:prstGeom>
        </p:spPr>
      </p:pic>
      <p:sp>
        <p:nvSpPr>
          <p:cNvPr id="53" name="Text 32"/>
          <p:cNvSpPr/>
          <p:nvPr/>
        </p:nvSpPr>
        <p:spPr>
          <a:xfrm>
            <a:off x="9756648" y="4032504"/>
            <a:ext cx="2048256" cy="685800"/>
          </a:xfrm>
          <a:prstGeom prst="rect">
            <a:avLst/>
          </a:prstGeom>
          <a:noFill/>
          <a:ln/>
        </p:spPr>
        <p:txBody>
          <a:bodyPr wrap="square" lIns="0" tIns="0" rIns="0" bIns="0" rtlCol="0" anchor="t"/>
          <a:lstStyle/>
          <a:p>
            <a:pPr indent="0" marL="0">
              <a:lnSpc>
                <a:spcPct val="108000"/>
              </a:lnSpc>
              <a:buNone/>
            </a:pPr>
            <a:r>
              <a:rPr lang="en-US" sz="1200" dirty="0">
                <a:solidFill>
                  <a:srgbClr val="3A2C31"/>
                </a:solidFill>
                <a:latin typeface="Noto Sans CJK JP" pitchFamily="34" charset="0"/>
                <a:ea typeface="Noto Sans CJK JP" pitchFamily="34" charset="-122"/>
                <a:cs typeface="Noto Sans CJK JP" pitchFamily="34" charset="-120"/>
              </a:rPr>
              <a:t>「断る」でなく「正しく扱う」</a:t>
            </a:r>
            <a:endParaRPr lang="en-US" sz="1200" dirty="0"/>
          </a:p>
        </p:txBody>
      </p:sp>
      <p:sp>
        <p:nvSpPr>
          <p:cNvPr id="54" name="Text 33"/>
          <p:cNvSpPr/>
          <p:nvPr/>
        </p:nvSpPr>
        <p:spPr>
          <a:xfrm>
            <a:off x="502920" y="5897880"/>
            <a:ext cx="10972800" cy="274320"/>
          </a:xfrm>
          <a:prstGeom prst="rect">
            <a:avLst/>
          </a:prstGeom>
          <a:noFill/>
          <a:ln/>
        </p:spPr>
        <p:txBody>
          <a:bodyPr wrap="square" lIns="0" tIns="0" rIns="0" bIns="0" rtlCol="0" anchor="ctr"/>
          <a:lstStyle/>
          <a:p>
            <a:pPr indent="0" marL="0">
              <a:buNone/>
            </a:pPr>
            <a:r>
              <a:rPr lang="en-US" sz="1050" i="1" dirty="0">
                <a:solidFill>
                  <a:srgbClr val="9A8890"/>
                </a:solidFill>
                <a:latin typeface="Noto Sans CJK JP" pitchFamily="34" charset="0"/>
                <a:ea typeface="Noto Sans CJK JP" pitchFamily="34" charset="-122"/>
                <a:cs typeface="Noto Sans CJK JP" pitchFamily="34" charset="-120"/>
              </a:rPr>
              <a:t>v3.0 ・ うさうさ研修工房 ・ 2026-06-22</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EDF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65000"/>
          </a:blip>
          <a:stretch>
            <a:fillRect/>
          </a:stretch>
        </p:blipFill>
        <p:spPr>
          <a:xfrm rot="1500000">
            <a:off x="10424160" y="640080"/>
            <a:ext cx="914400" cy="914400"/>
          </a:xfrm>
          <a:prstGeom prst="rect">
            <a:avLst/>
          </a:prstGeom>
        </p:spPr>
      </p:pic>
      <p:pic>
        <p:nvPicPr>
          <p:cNvPr id="3" name="Image 1" descr="preencoded.png">    </p:cNvPr>
          <p:cNvPicPr>
            <a:picLocks noChangeAspect="1"/>
          </p:cNvPicPr>
          <p:nvPr/>
        </p:nvPicPr>
        <p:blipFill>
          <a:blip r:embed="rId2">
            <a:alphaModFix amt="55000"/>
          </a:blip>
          <a:stretch>
            <a:fillRect/>
          </a:stretch>
        </p:blipFill>
        <p:spPr>
          <a:xfrm rot="6600000">
            <a:off x="11247120" y="2743200"/>
            <a:ext cx="640080" cy="640080"/>
          </a:xfrm>
          <a:prstGeom prst="rect">
            <a:avLst/>
          </a:prstGeom>
        </p:spPr>
      </p:pic>
      <p:pic>
        <p:nvPicPr>
          <p:cNvPr id="4" name="Image 2" descr="preencoded.png">    </p:cNvPr>
          <p:cNvPicPr>
            <a:picLocks noChangeAspect="1"/>
          </p:cNvPicPr>
          <p:nvPr/>
        </p:nvPicPr>
        <p:blipFill>
          <a:blip r:embed="rId3">
            <a:alphaModFix amt="55000"/>
          </a:blip>
          <a:stretch>
            <a:fillRect/>
          </a:stretch>
        </p:blipFill>
        <p:spPr>
          <a:xfrm rot="12600000">
            <a:off x="548640" y="5120640"/>
            <a:ext cx="822960" cy="822960"/>
          </a:xfrm>
          <a:prstGeom prst="rect">
            <a:avLst/>
          </a:prstGeom>
        </p:spPr>
      </p:pic>
      <p:pic>
        <p:nvPicPr>
          <p:cNvPr id="5" name="Image 3" descr="preencoded.png">    </p:cNvPr>
          <p:cNvPicPr>
            <a:picLocks noChangeAspect="1"/>
          </p:cNvPicPr>
          <p:nvPr/>
        </p:nvPicPr>
        <p:blipFill>
          <a:blip r:embed="rId4">
            <a:alphaModFix amt="45000"/>
          </a:blip>
          <a:stretch>
            <a:fillRect/>
          </a:stretch>
        </p:blipFill>
        <p:spPr>
          <a:xfrm rot="19200000">
            <a:off x="822960" y="914400"/>
            <a:ext cx="548640" cy="548640"/>
          </a:xfrm>
          <a:prstGeom prst="rect">
            <a:avLst/>
          </a:prstGeom>
        </p:spPr>
      </p:pic>
      <p:sp>
        <p:nvSpPr>
          <p:cNvPr id="6" name="Shape 0"/>
          <p:cNvSpPr/>
          <p:nvPr/>
        </p:nvSpPr>
        <p:spPr>
          <a:xfrm>
            <a:off x="0" y="0"/>
            <a:ext cx="12161520" cy="310896"/>
          </a:xfrm>
          <a:prstGeom prst="rect">
            <a:avLst/>
          </a:prstGeom>
          <a:solidFill>
            <a:srgbClr val="574039"/>
          </a:solidFill>
          <a:ln/>
        </p:spPr>
      </p:sp>
      <p:sp>
        <p:nvSpPr>
          <p:cNvPr id="7" name="Text 1"/>
          <p:cNvSpPr/>
          <p:nvPr/>
        </p:nvSpPr>
        <p:spPr>
          <a:xfrm>
            <a:off x="822960" y="914400"/>
            <a:ext cx="5486400" cy="457200"/>
          </a:xfrm>
          <a:prstGeom prst="rect">
            <a:avLst/>
          </a:prstGeom>
          <a:noFill/>
          <a:ln/>
        </p:spPr>
        <p:txBody>
          <a:bodyPr wrap="square" lIns="0" tIns="0" rIns="0" bIns="0" rtlCol="0" anchor="ctr"/>
          <a:lstStyle/>
          <a:p>
            <a:pPr indent="0" marL="0">
              <a:buNone/>
            </a:pPr>
            <a:r>
              <a:rPr lang="en-US" sz="1800" b="1" dirty="0">
                <a:solidFill>
                  <a:srgbClr val="B4587A"/>
                </a:solidFill>
                <a:latin typeface="Noto Sans CJK JP" pitchFamily="34" charset="0"/>
                <a:ea typeface="Noto Sans CJK JP" pitchFamily="34" charset="-122"/>
                <a:cs typeface="Noto Sans CJK JP" pitchFamily="34" charset="-120"/>
              </a:rPr>
              <a:t>🌸 最後の問い</a:t>
            </a:r>
            <a:endParaRPr lang="en-US" sz="1800" dirty="0"/>
          </a:p>
        </p:txBody>
      </p:sp>
      <p:sp>
        <p:nvSpPr>
          <p:cNvPr id="8" name="Text 2"/>
          <p:cNvSpPr/>
          <p:nvPr/>
        </p:nvSpPr>
        <p:spPr>
          <a:xfrm>
            <a:off x="822960" y="1463040"/>
            <a:ext cx="10424160" cy="1554480"/>
          </a:xfrm>
          <a:prstGeom prst="rect">
            <a:avLst/>
          </a:prstGeom>
          <a:noFill/>
          <a:ln/>
        </p:spPr>
        <p:txBody>
          <a:bodyPr wrap="square" lIns="0" tIns="0" rIns="0" bIns="0" rtlCol="0" anchor="ctr"/>
          <a:lstStyle/>
          <a:p>
            <a:pPr indent="0" marL="0">
              <a:lnSpc>
                <a:spcPct val="110000"/>
              </a:lnSpc>
              <a:buNone/>
            </a:pPr>
            <a:r>
              <a:rPr lang="en-US" sz="3200" b="1" dirty="0">
                <a:solidFill>
                  <a:srgbClr val="8E3556"/>
                </a:solidFill>
                <a:latin typeface="Noto Sans CJK JP" pitchFamily="34" charset="0"/>
                <a:ea typeface="Noto Sans CJK JP" pitchFamily="34" charset="-122"/>
                <a:cs typeface="Noto Sans CJK JP" pitchFamily="34" charset="-120"/>
              </a:rPr>
              <a:t>明日のキックオフで、最初に握る</a:t>
            </a:r>
            <a:endParaRPr lang="en-US" sz="3200" dirty="0"/>
          </a:p>
          <a:p>
            <a:pPr indent="0" marL="0">
              <a:lnSpc>
                <a:spcPct val="110000"/>
              </a:lnSpc>
              <a:buNone/>
            </a:pPr>
            <a:r>
              <a:rPr lang="en-US" sz="3200" b="1" dirty="0">
                <a:solidFill>
                  <a:srgbClr val="8E3556"/>
                </a:solidFill>
                <a:latin typeface="Noto Sans CJK JP" pitchFamily="34" charset="0"/>
                <a:ea typeface="Noto Sans CJK JP" pitchFamily="34" charset="-122"/>
                <a:cs typeface="Noto Sans CJK JP" pitchFamily="34" charset="-120"/>
              </a:rPr>
              <a:t>“判断軸”は何にしますか？</a:t>
            </a:r>
            <a:endParaRPr lang="en-US" sz="3200" dirty="0"/>
          </a:p>
        </p:txBody>
      </p:sp>
      <p:sp>
        <p:nvSpPr>
          <p:cNvPr id="9" name="Text 3"/>
          <p:cNvSpPr/>
          <p:nvPr/>
        </p:nvSpPr>
        <p:spPr>
          <a:xfrm>
            <a:off x="841248" y="3200400"/>
            <a:ext cx="10058400" cy="914400"/>
          </a:xfrm>
          <a:prstGeom prst="rect">
            <a:avLst/>
          </a:prstGeom>
          <a:noFill/>
          <a:ln/>
        </p:spPr>
        <p:txBody>
          <a:bodyPr wrap="square" lIns="0" tIns="0" rIns="0" bIns="0" rtlCol="0" anchor="ctr"/>
          <a:lstStyle/>
          <a:p>
            <a:pPr indent="0" marL="0">
              <a:lnSpc>
                <a:spcPct val="130000"/>
              </a:lnSpc>
              <a:buNone/>
            </a:pPr>
            <a:r>
              <a:rPr lang="en-US" sz="1500" dirty="0">
                <a:solidFill>
                  <a:srgbClr val="3A2C31"/>
                </a:solidFill>
                <a:latin typeface="Noto Sans CJK JP" pitchFamily="34" charset="0"/>
                <a:ea typeface="Noto Sans CJK JP" pitchFamily="34" charset="-122"/>
                <a:cs typeface="Noto Sans CJK JP" pitchFamily="34" charset="-120"/>
              </a:rPr>
              <a:t>判断を、意志でがんばらず、仕組みに逃がす。それは相手を疑うことではなく、</a:t>
            </a:r>
            <a:endParaRPr lang="en-US" sz="1500" dirty="0"/>
          </a:p>
          <a:p>
            <a:pPr indent="0" marL="0">
              <a:lnSpc>
                <a:spcPct val="130000"/>
              </a:lnSpc>
              <a:buNone/>
            </a:pPr>
            <a:r>
              <a:rPr lang="en-US" sz="1500" dirty="0">
                <a:solidFill>
                  <a:srgbClr val="3A2C31"/>
                </a:solidFill>
                <a:latin typeface="Noto Sans CJK JP" pitchFamily="34" charset="0"/>
                <a:ea typeface="Noto Sans CJK JP" pitchFamily="34" charset="-122"/>
                <a:cs typeface="Noto Sans CJK JP" pitchFamily="34" charset="-120"/>
              </a:rPr>
              <a:t>お互いを「言った言わない」から守ること。まずは5分、OUTを一行から。</a:t>
            </a:r>
            <a:endParaRPr lang="en-US" sz="1500" dirty="0"/>
          </a:p>
        </p:txBody>
      </p:sp>
      <p:sp>
        <p:nvSpPr>
          <p:cNvPr id="10" name="Shape 4"/>
          <p:cNvSpPr/>
          <p:nvPr/>
        </p:nvSpPr>
        <p:spPr>
          <a:xfrm>
            <a:off x="10332720" y="4800600"/>
            <a:ext cx="960120" cy="960120"/>
          </a:xfrm>
          <a:prstGeom prst="ellipse">
            <a:avLst/>
          </a:prstGeom>
          <a:solidFill>
            <a:srgbClr val="B4587A"/>
          </a:solidFill>
          <a:ln/>
        </p:spPr>
      </p:sp>
      <p:pic>
        <p:nvPicPr>
          <p:cNvPr id="11" name="Image 4" descr="preencoded.png">    </p:cNvPr>
          <p:cNvPicPr>
            <a:picLocks noChangeAspect="1"/>
          </p:cNvPicPr>
          <p:nvPr/>
        </p:nvPicPr>
        <p:blipFill>
          <a:blip r:embed="rId5"/>
          <a:stretch>
            <a:fillRect/>
          </a:stretch>
        </p:blipFill>
        <p:spPr>
          <a:xfrm>
            <a:off x="10591952" y="5059832"/>
            <a:ext cx="441655" cy="441655"/>
          </a:xfrm>
          <a:prstGeom prst="rect">
            <a:avLst/>
          </a:prstGeom>
        </p:spPr>
      </p:pic>
      <p:sp>
        <p:nvSpPr>
          <p:cNvPr id="12" name="Shape 5"/>
          <p:cNvSpPr/>
          <p:nvPr/>
        </p:nvSpPr>
        <p:spPr>
          <a:xfrm>
            <a:off x="822960" y="4206240"/>
            <a:ext cx="9052560" cy="2057400"/>
          </a:xfrm>
          <a:prstGeom prst="roundRect">
            <a:avLst>
              <a:gd name="adj" fmla="val 3556"/>
            </a:avLst>
          </a:prstGeom>
          <a:solidFill>
            <a:srgbClr val="FFFFFF"/>
          </a:solidFill>
          <a:ln w="12700">
            <a:solidFill>
              <a:srgbClr val="EBB4C4"/>
            </a:solidFill>
            <a:prstDash val="solid"/>
          </a:ln>
        </p:spPr>
      </p:sp>
      <p:pic>
        <p:nvPicPr>
          <p:cNvPr id="13" name="Image 5" descr="preencoded.png">    </p:cNvPr>
          <p:cNvPicPr>
            <a:picLocks noChangeAspect="1"/>
          </p:cNvPicPr>
          <p:nvPr/>
        </p:nvPicPr>
        <p:blipFill>
          <a:blip r:embed="rId6"/>
          <a:stretch>
            <a:fillRect/>
          </a:stretch>
        </p:blipFill>
        <p:spPr>
          <a:xfrm>
            <a:off x="1005840" y="4370832"/>
            <a:ext cx="411480" cy="411480"/>
          </a:xfrm>
          <a:prstGeom prst="rect">
            <a:avLst/>
          </a:prstGeom>
        </p:spPr>
      </p:pic>
      <p:sp>
        <p:nvSpPr>
          <p:cNvPr id="14" name="Text 6"/>
          <p:cNvSpPr/>
          <p:nvPr/>
        </p:nvSpPr>
        <p:spPr>
          <a:xfrm>
            <a:off x="1554480" y="4343400"/>
            <a:ext cx="8046720" cy="411480"/>
          </a:xfrm>
          <a:prstGeom prst="rect">
            <a:avLst/>
          </a:prstGeom>
          <a:noFill/>
          <a:ln/>
        </p:spPr>
        <p:txBody>
          <a:bodyPr wrap="square" lIns="0" tIns="0" rIns="0" bIns="0" rtlCol="0" anchor="ctr"/>
          <a:lstStyle/>
          <a:p>
            <a:pPr indent="0" marL="0">
              <a:buNone/>
            </a:pPr>
            <a:r>
              <a:rPr lang="en-US" sz="1300" b="1" dirty="0">
                <a:solidFill>
                  <a:srgbClr val="8E3556"/>
                </a:solidFill>
                <a:latin typeface="Noto Sans CJK JP" pitchFamily="34" charset="0"/>
                <a:ea typeface="Noto Sans CJK JP" pitchFamily="34" charset="-122"/>
                <a:cs typeface="Noto Sans CJK JP" pitchFamily="34" charset="-120"/>
              </a:rPr>
              <a:t>参考文献（すべて実在の査読論文・標準資料）</a:t>
            </a:r>
            <a:endParaRPr lang="en-US" sz="1300" dirty="0"/>
          </a:p>
        </p:txBody>
      </p:sp>
      <p:sp>
        <p:nvSpPr>
          <p:cNvPr id="15" name="Text 7"/>
          <p:cNvSpPr/>
          <p:nvPr/>
        </p:nvSpPr>
        <p:spPr>
          <a:xfrm>
            <a:off x="1051560" y="4846320"/>
            <a:ext cx="8595360" cy="1325880"/>
          </a:xfrm>
          <a:prstGeom prst="rect">
            <a:avLst/>
          </a:prstGeom>
          <a:noFill/>
          <a:ln/>
        </p:spPr>
        <p:txBody>
          <a:bodyPr wrap="square" lIns="0" tIns="0" rIns="0" bIns="0" rtlCol="0" anchor="ctr"/>
          <a:lstStyle/>
          <a:p>
            <a:pPr indent="0" marL="0">
              <a:lnSpc>
                <a:spcPct val="130000"/>
              </a:lnSpc>
              <a:buNone/>
            </a:pPr>
            <a:r>
              <a:rPr lang="en-US" sz="1050" dirty="0">
                <a:solidFill>
                  <a:srgbClr val="3A2C31"/>
                </a:solidFill>
                <a:latin typeface="Noto Sans CJK JP" pitchFamily="34" charset="0"/>
                <a:ea typeface="Noto Sans CJK JP" pitchFamily="34" charset="-122"/>
                <a:cs typeface="Noto Sans CJK JP" pitchFamily="34" charset="-120"/>
              </a:rPr>
              <a:t>Buehler, Griffin &amp; Ross (1994). Exploring the “planning fallacy”. J. Personality &amp; Social Psychology, 67(3), 366–381.</a:t>
            </a:r>
            <a:endParaRPr lang="en-US" sz="1050" dirty="0"/>
          </a:p>
          <a:p>
            <a:pPr indent="0" marL="0">
              <a:lnSpc>
                <a:spcPct val="130000"/>
              </a:lnSpc>
              <a:buNone/>
            </a:pPr>
            <a:r>
              <a:rPr lang="en-US" sz="1050" dirty="0">
                <a:solidFill>
                  <a:srgbClr val="3A2C31"/>
                </a:solidFill>
                <a:latin typeface="Noto Sans CJK JP" pitchFamily="34" charset="0"/>
                <a:ea typeface="Noto Sans CJK JP" pitchFamily="34" charset="-122"/>
                <a:cs typeface="Noto Sans CJK JP" pitchFamily="34" charset="-120"/>
              </a:rPr>
              <a:t>Staw (1976). Knee-deep in the Big Muddy. Organizational Behavior and Human Performance, 16(1), 27–44.</a:t>
            </a:r>
            <a:endParaRPr lang="en-US" sz="1050" dirty="0"/>
          </a:p>
          <a:p>
            <a:pPr indent="0" marL="0">
              <a:lnSpc>
                <a:spcPct val="130000"/>
              </a:lnSpc>
              <a:buNone/>
            </a:pPr>
            <a:r>
              <a:rPr lang="en-US" sz="1050" dirty="0">
                <a:solidFill>
                  <a:srgbClr val="3A2C31"/>
                </a:solidFill>
                <a:latin typeface="Noto Sans CJK JP" pitchFamily="34" charset="0"/>
                <a:ea typeface="Noto Sans CJK JP" pitchFamily="34" charset="-122"/>
                <a:cs typeface="Noto Sans CJK JP" pitchFamily="34" charset="-120"/>
              </a:rPr>
              <a:t>Nonaka (1994). A Dynamic Theory of Organizational Knowledge Creation. Organization Science, 5(1), 14–37.</a:t>
            </a:r>
            <a:endParaRPr lang="en-US" sz="1050" dirty="0"/>
          </a:p>
          <a:p>
            <a:pPr indent="0" marL="0">
              <a:lnSpc>
                <a:spcPct val="130000"/>
              </a:lnSpc>
              <a:buNone/>
            </a:pPr>
            <a:r>
              <a:rPr lang="en-US" sz="1050" dirty="0">
                <a:solidFill>
                  <a:srgbClr val="3A2C31"/>
                </a:solidFill>
                <a:latin typeface="Noto Sans CJK JP" pitchFamily="34" charset="0"/>
                <a:ea typeface="Noto Sans CJK JP" pitchFamily="34" charset="-122"/>
                <a:cs typeface="Noto Sans CJK JP" pitchFamily="34" charset="-120"/>
              </a:rPr>
              <a:t>Haynes et al. (2009). A Surgical Safety Checklist… New England Journal of Medicine, 360(5), 491–499.</a:t>
            </a:r>
            <a:endParaRPr lang="en-US" sz="1050" dirty="0"/>
          </a:p>
          <a:p>
            <a:pPr indent="0" marL="0">
              <a:lnSpc>
                <a:spcPct val="130000"/>
              </a:lnSpc>
              <a:buNone/>
            </a:pPr>
            <a:r>
              <a:rPr lang="en-US" sz="1050" dirty="0">
                <a:solidFill>
                  <a:srgbClr val="3A2C31"/>
                </a:solidFill>
                <a:latin typeface="Noto Sans CJK JP" pitchFamily="34" charset="0"/>
                <a:ea typeface="Noto Sans CJK JP" pitchFamily="34" charset="-122"/>
                <a:cs typeface="Noto Sans CJK JP" pitchFamily="34" charset="-120"/>
              </a:rPr>
              <a:t>PMI. A Guide to the Project Management Body of Knowledge (PMBOK Guide). ※“scope creep”の定義として参照</a:t>
            </a:r>
            <a:endParaRPr lang="en-US" sz="1050" dirty="0"/>
          </a:p>
        </p:txBody>
      </p:sp>
      <p:sp>
        <p:nvSpPr>
          <p:cNvPr id="16" name="Shape 8"/>
          <p:cNvSpPr/>
          <p:nvPr/>
        </p:nvSpPr>
        <p:spPr>
          <a:xfrm>
            <a:off x="0" y="6547104"/>
            <a:ext cx="12161520" cy="310896"/>
          </a:xfrm>
          <a:prstGeom prst="rect">
            <a:avLst/>
          </a:prstGeom>
          <a:solidFill>
            <a:srgbClr val="574039"/>
          </a:solidFill>
          <a:ln/>
        </p:spPr>
      </p:sp>
      <p:sp>
        <p:nvSpPr>
          <p:cNvPr id="17" name="Text 9"/>
          <p:cNvSpPr/>
          <p:nvPr/>
        </p:nvSpPr>
        <p:spPr>
          <a:xfrm>
            <a:off x="731520" y="6547104"/>
            <a:ext cx="10972800" cy="310896"/>
          </a:xfrm>
          <a:prstGeom prst="rect">
            <a:avLst/>
          </a:prstGeom>
          <a:noFill/>
          <a:ln/>
        </p:spPr>
        <p:txBody>
          <a:bodyPr wrap="square" lIns="0" tIns="0" rIns="0" bIns="0" rtlCol="0" anchor="ctr"/>
          <a:lstStyle/>
          <a:p>
            <a:pPr indent="0" marL="0">
              <a:buNone/>
            </a:pPr>
            <a:r>
              <a:rPr lang="en-US" sz="1000" dirty="0">
                <a:solidFill>
                  <a:srgbClr val="F4E9E2"/>
                </a:solidFill>
                <a:latin typeface="Noto Sans CJK JP" pitchFamily="34" charset="0"/>
                <a:ea typeface="Noto Sans CJK JP" pitchFamily="34" charset="-122"/>
                <a:cs typeface="Noto Sans CJK JP" pitchFamily="34" charset="-120"/>
              </a:rPr>
              <a:t>面白きこともなき世を面白く 🐰  — うさうさ先生 / うさうさ研修工房</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どこまでやるか問題を仕組みで解く（淡ローズ・問いかけ版）</dc:title>
  <dc:subject>PptxGenJS Presentation</dc:subject>
  <dc:creator>うさうさ研修工房</dc:creator>
  <cp:lastModifiedBy>うさうさ研修工房</cp:lastModifiedBy>
  <cp:revision>1</cp:revision>
  <dcterms:created xsi:type="dcterms:W3CDTF">2026-06-22T10:58:59Z</dcterms:created>
  <dcterms:modified xsi:type="dcterms:W3CDTF">2026-06-22T10:58:59Z</dcterms:modified>
</cp:coreProperties>
</file>